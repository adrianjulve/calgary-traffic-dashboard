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Lst>
  <p:notesMasterIdLst>
    <p:notesMasterId r:id="rId12"/>
  </p:notesMasterIdLst>
  <p:sldIdLst>
    <p:sldId id="256" r:id="rId3"/>
    <p:sldId id="257" r:id="rId4"/>
    <p:sldId id="258" r:id="rId5"/>
    <p:sldId id="259" r:id="rId6"/>
    <p:sldId id="260" r:id="rId7"/>
    <p:sldId id="269" r:id="rId8"/>
    <p:sldId id="270" r:id="rId9"/>
    <p:sldId id="263" r:id="rId10"/>
    <p:sldId id="26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A111DE-5A97-016E-4180-84C9191D941C}">
          <p14:sldIdLst>
            <p14:sldId id="256"/>
            <p14:sldId id="257"/>
          </p14:sldIdLst>
        </p14:section>
        <p14:section name="Questions and data" id="{AE4E459D-EADA-7974-ACA4-CF3212ADD30D}">
          <p14:sldIdLst>
            <p14:sldId id="258"/>
            <p14:sldId id="259"/>
          </p14:sldIdLst>
        </p14:section>
        <p14:section name="Wrangling" id="{3AE2D310-56C6-B243-413B-9658E54EA91D}">
          <p14:sldIdLst>
            <p14:sldId id="260"/>
          </p14:sldIdLst>
        </p14:section>
        <p14:section name="Visualizations and findings" id="{FA1E9DF6-5D12-0988-0309-B8E845309660}">
          <p14:sldIdLst>
            <p14:sldId id="269"/>
            <p14:sldId id="270"/>
            <p14:sldId id="263"/>
            <p14:sldId id="268"/>
          </p14:sldIdLst>
        </p14:section>
        <p14:section name="Next steps" id="{75CB5C99-DBEE-01FC-6830-C56481DFBFE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648FC-B5DA-4ABF-A5C3-560713661624}" v="10" dt="2026-10-20T02:50:19.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varScale="1">
        <p:scale>
          <a:sx n="120" d="100"/>
          <a:sy n="120"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58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Adrian. My project looks at traffic incidents in Calgary and asks whether they follow neighbourhood income and other socioeconomic conditions. The grid on the right is the colour key from my main map, which I’ll come back to. In the next five minutes I’ll cover the project, my questions, the data, how I cleaned it, and what the dashboard shows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incidents aren’t random. They cluster on certain roads, at certain times, and in certain parts of the city. My project uses City of Calgary open data to ask whether neighbourhood income and related conditions, like renting, low income and how people commute, line up with where incidents happen. The study area is the whole city, split into 113 community service areas. I use nine complete years, 2017 to 2025, and the result is an interactive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three questions. First, where: once we account for how many people live in an area, where do incidents concentrate, and does that match neighbourhood income? Second, who: beyond income, which neighbourhood traits, like renting, low income or commuting by car, go along with higher incident rates? Third, when: what times of day, days of the week and months of the year see the most incidents? Each question maps to a part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datasets come from the City of Calgary’s open data portal, and all are obtained. Traffic Incidents is the core: 65,138 records, each with a location, description and timestamp. The Equity Index file covers 113 community service areas with population, median income and 16 other census measures, plus their boundaries. Community District Boundaries adds 313 communities with their land-use class, which lets me separate residential areas from industrial 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what the data looked like before and after one step. First, I kept only full years: the raw file has 65,138 incidents from December 2016 to 2026, and keeping 2017 to 2025 leaves 58,536. Second, each incident only had a map point, so I used GeoPandas in Python to check which area outline each point falls inside. 639 fall outside every area, and the same outlines became the Shape Map. Third, I turned the free-text description into five incident types using keywords, which powers the incident type filter, and flagged highways like Deerfoot and Glenmore by street name, so the map’s rates only count local roads. Fourth, the census file had one row for every area and trait, 2,091 rows, so I reshaped it to one row per area, 113 rows, with each trait as its own column. Fifth, every incident carries both its community and its area, which links the 307 communities to the 113 areas, and I then rated each area by incidents per 1,000 residents a year. Finally, DAX measures turn those rows into the numbers on the dashboard, like rate versus the city average and the busiest hour, and they update with every click.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live demo, about 2 minutes. Left: the default view, with all 113 areas coloured by income and incident rate, and every chart showing the whole city. Right: the same dashboard after one click on the legend square for lower-income, high incident-rate areas. The map highlights those 16 areas, mostly in the east. The details panel summarises the group: about 14% of Calgary’s population, a median income range of roughly $29,000 to $42,000, and a local incident rate about 2.5 times the city average. The KPIs, heatmap and month chart all filter to those areas, so you can see their busiest hour moves to 4 to 5 PM. If there’s time, open the live report from the link and click an individual area.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map itself shows. Each area is coloured by two things at once: its median income and its local incident rate. Two groups stand out, both with 16 areas each. Sixteen lower-income areas have high incident rates, shown in pink, and sixteen higher-income areas have low incident rates, shown in blue. They’re the two largest groups on the map, and mirror images of each other. Geographically, the pink areas line the east side of the city, while the blue areas fill the west and south. The exception is the city centre: 11 higher-income areas still have high rates, shown in dark purple, mostly downtown and in the inner city, where commuters and through-traffic add incidents that resident-based rates don’t account for.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patterns are clear. The heatmap shows incidents concentrate on weekday afternoons: about a quarter of all incidents happen between 3 and 6 PM, and 5 to 6 PM is the single busiest hour, which lines up with the evening commute. Weekends are much quieter; Sunday has about half as many incidents as Wednesday. By month, the rate climbs through fall and peaks in November and December, at about 1.6 times April’s rate, which points to winter driving conditions and shorter daylight.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 – 10:00] Thanks for listening. I’m happy to take questions, or to go back into the dashboard to look at any area you’re curious about.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2B2B3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rgbClr val="EDE8E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2B2B3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B2B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F6F4F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2B2B3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body">
    <p:bg>
      <p:bgPr>
        <a:solidFill>
          <a:srgbClr val="F6F4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742836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and body">
    <p:bg>
      <p:bgPr>
        <a:solidFill>
          <a:srgbClr val="F4EE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141250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EE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284996219"/>
      </p:ext>
    </p:extLst>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ata.calgary.ca/Transportation-Transit/Traffic-Incidents/35ra-9556/about_data"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data.calgary.ca/Base-Maps/Community-District-Boundaries/surr-xmvs/about_data" TargetMode="External"/><Relationship Id="rId4" Type="http://schemas.openxmlformats.org/officeDocument/2006/relationships/hyperlink" Target="https://data.calgary.ca/Demographics/Calgary-Equity-Index-Overlay-Statistics/7g5f-dkmi/about_data"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app.powerbi.com/groups/me/reports/bede7dcd-4f5b-44c9-94b6-36f36234f2e8/78d1047301e06e809bec?experience=power-bi"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gend_cell_0"/>
          <p:cNvSpPr/>
          <p:nvPr/>
        </p:nvSpPr>
        <p:spPr>
          <a:xfrm>
            <a:off x="8732520" y="1828800"/>
            <a:ext cx="950976" cy="950976"/>
          </a:xfrm>
          <a:prstGeom prst="rect">
            <a:avLst/>
          </a:prstGeom>
          <a:solidFill>
            <a:srgbClr val="D47BA3"/>
          </a:solidFill>
          <a:ln w="12700">
            <a:solidFill>
              <a:srgbClr val="D47BA3"/>
            </a:solidFill>
            <a:prstDash val="solid"/>
          </a:ln>
        </p:spPr>
        <p:txBody>
          <a:bodyPr/>
          <a:lstStyle/>
          <a:p>
            <a:endParaRPr lang="en-CA"/>
          </a:p>
        </p:txBody>
      </p:sp>
      <p:sp>
        <p:nvSpPr>
          <p:cNvPr id="3" name="legend_cell_1"/>
          <p:cNvSpPr/>
          <p:nvPr/>
        </p:nvSpPr>
        <p:spPr>
          <a:xfrm>
            <a:off x="9738360" y="1828800"/>
            <a:ext cx="950976" cy="950976"/>
          </a:xfrm>
          <a:prstGeom prst="rect">
            <a:avLst/>
          </a:prstGeom>
          <a:solidFill>
            <a:srgbClr val="9E6B92"/>
          </a:solidFill>
          <a:ln w="12700">
            <a:solidFill>
              <a:srgbClr val="9E6B92"/>
            </a:solidFill>
            <a:prstDash val="solid"/>
          </a:ln>
        </p:spPr>
        <p:txBody>
          <a:bodyPr/>
          <a:lstStyle/>
          <a:p>
            <a:endParaRPr lang="en-CA"/>
          </a:p>
        </p:txBody>
      </p:sp>
      <p:sp>
        <p:nvSpPr>
          <p:cNvPr id="4" name="legend_cell_2"/>
          <p:cNvSpPr/>
          <p:nvPr/>
        </p:nvSpPr>
        <p:spPr>
          <a:xfrm>
            <a:off x="10744200" y="1828800"/>
            <a:ext cx="950976" cy="950976"/>
          </a:xfrm>
          <a:prstGeom prst="rect">
            <a:avLst/>
          </a:prstGeom>
          <a:solidFill>
            <a:srgbClr val="4A4A78"/>
          </a:solidFill>
          <a:ln w="12700">
            <a:solidFill>
              <a:srgbClr val="4A4A78"/>
            </a:solidFill>
            <a:prstDash val="solid"/>
          </a:ln>
        </p:spPr>
        <p:txBody>
          <a:bodyPr/>
          <a:lstStyle/>
          <a:p>
            <a:endParaRPr lang="en-CA"/>
          </a:p>
        </p:txBody>
      </p:sp>
      <p:sp>
        <p:nvSpPr>
          <p:cNvPr id="5" name="legend_cell_3"/>
          <p:cNvSpPr/>
          <p:nvPr/>
        </p:nvSpPr>
        <p:spPr>
          <a:xfrm>
            <a:off x="8732520" y="2834640"/>
            <a:ext cx="950976" cy="950976"/>
          </a:xfrm>
          <a:prstGeom prst="rect">
            <a:avLst/>
          </a:prstGeom>
          <a:solidFill>
            <a:srgbClr val="DBB7CF"/>
          </a:solidFill>
          <a:ln w="12700">
            <a:solidFill>
              <a:srgbClr val="DBB7CF"/>
            </a:solidFill>
            <a:prstDash val="solid"/>
          </a:ln>
        </p:spPr>
        <p:txBody>
          <a:bodyPr/>
          <a:lstStyle/>
          <a:p>
            <a:endParaRPr lang="en-CA"/>
          </a:p>
        </p:txBody>
      </p:sp>
      <p:sp>
        <p:nvSpPr>
          <p:cNvPr id="6" name="legend_cell_4"/>
          <p:cNvSpPr/>
          <p:nvPr/>
        </p:nvSpPr>
        <p:spPr>
          <a:xfrm>
            <a:off x="9738360" y="2834640"/>
            <a:ext cx="950976" cy="950976"/>
          </a:xfrm>
          <a:prstGeom prst="rect">
            <a:avLst/>
          </a:prstGeom>
          <a:solidFill>
            <a:srgbClr val="A3A3C8"/>
          </a:solidFill>
          <a:ln w="12700">
            <a:solidFill>
              <a:srgbClr val="A3A3C8"/>
            </a:solidFill>
            <a:prstDash val="solid"/>
          </a:ln>
        </p:spPr>
        <p:txBody>
          <a:bodyPr/>
          <a:lstStyle/>
          <a:p>
            <a:endParaRPr lang="en-CA"/>
          </a:p>
        </p:txBody>
      </p:sp>
      <p:sp>
        <p:nvSpPr>
          <p:cNvPr id="7" name="legend_cell_5"/>
          <p:cNvSpPr/>
          <p:nvPr/>
        </p:nvSpPr>
        <p:spPr>
          <a:xfrm>
            <a:off x="10744200" y="2834640"/>
            <a:ext cx="950976" cy="950976"/>
          </a:xfrm>
          <a:prstGeom prst="rect">
            <a:avLst/>
          </a:prstGeom>
          <a:solidFill>
            <a:srgbClr val="56709E"/>
          </a:solidFill>
          <a:ln w="12700">
            <a:solidFill>
              <a:srgbClr val="56709E"/>
            </a:solidFill>
            <a:prstDash val="solid"/>
          </a:ln>
        </p:spPr>
        <p:txBody>
          <a:bodyPr/>
          <a:lstStyle/>
          <a:p>
            <a:endParaRPr lang="en-CA"/>
          </a:p>
        </p:txBody>
      </p:sp>
      <p:sp>
        <p:nvSpPr>
          <p:cNvPr id="8" name="legend_cell_6"/>
          <p:cNvSpPr/>
          <p:nvPr/>
        </p:nvSpPr>
        <p:spPr>
          <a:xfrm>
            <a:off x="8732520" y="3840480"/>
            <a:ext cx="950976" cy="950976"/>
          </a:xfrm>
          <a:prstGeom prst="rect">
            <a:avLst/>
          </a:prstGeom>
          <a:solidFill>
            <a:srgbClr val="E8E8E8"/>
          </a:solidFill>
          <a:ln w="12700">
            <a:solidFill>
              <a:srgbClr val="E8E8E8"/>
            </a:solidFill>
            <a:prstDash val="solid"/>
          </a:ln>
        </p:spPr>
        <p:txBody>
          <a:bodyPr/>
          <a:lstStyle/>
          <a:p>
            <a:endParaRPr lang="en-CA"/>
          </a:p>
        </p:txBody>
      </p:sp>
      <p:sp>
        <p:nvSpPr>
          <p:cNvPr id="9" name="legend_cell_7"/>
          <p:cNvSpPr/>
          <p:nvPr/>
        </p:nvSpPr>
        <p:spPr>
          <a:xfrm>
            <a:off x="9738360" y="3840480"/>
            <a:ext cx="950976" cy="950976"/>
          </a:xfrm>
          <a:prstGeom prst="rect">
            <a:avLst/>
          </a:prstGeom>
          <a:solidFill>
            <a:srgbClr val="B5C0DA"/>
          </a:solidFill>
          <a:ln w="12700">
            <a:solidFill>
              <a:srgbClr val="B5C0DA"/>
            </a:solidFill>
            <a:prstDash val="solid"/>
          </a:ln>
        </p:spPr>
        <p:txBody>
          <a:bodyPr/>
          <a:lstStyle/>
          <a:p>
            <a:endParaRPr lang="en-CA"/>
          </a:p>
        </p:txBody>
      </p:sp>
      <p:sp>
        <p:nvSpPr>
          <p:cNvPr id="10" name="legend_cell_8"/>
          <p:cNvSpPr/>
          <p:nvPr/>
        </p:nvSpPr>
        <p:spPr>
          <a:xfrm>
            <a:off x="10744200" y="3840480"/>
            <a:ext cx="950976" cy="950976"/>
          </a:xfrm>
          <a:prstGeom prst="rect">
            <a:avLst/>
          </a:prstGeom>
          <a:solidFill>
            <a:srgbClr val="6C83B5"/>
          </a:solidFill>
          <a:ln w="12700">
            <a:solidFill>
              <a:srgbClr val="6C83B5"/>
            </a:solidFill>
            <a:prstDash val="solid"/>
          </a:ln>
        </p:spPr>
        <p:txBody>
          <a:bodyPr/>
          <a:lstStyle/>
          <a:p>
            <a:endParaRPr lang="en-CA"/>
          </a:p>
        </p:txBody>
      </p:sp>
      <p:sp>
        <p:nvSpPr>
          <p:cNvPr id="11" name="Text 9"/>
          <p:cNvSpPr txBox="1"/>
          <p:nvPr/>
        </p:nvSpPr>
        <p:spPr>
          <a:xfrm>
            <a:off x="548640" y="1600200"/>
            <a:ext cx="7680960" cy="365760"/>
          </a:xfrm>
          <a:prstGeom prst="rect">
            <a:avLst/>
          </a:prstGeom>
          <a:noFill/>
          <a:ln/>
        </p:spPr>
        <p:txBody>
          <a:bodyPr wrap="square" lIns="0" tIns="0" rIns="0" bIns="0" rtlCol="0" anchor="t"/>
          <a:lstStyle/>
          <a:p>
            <a:pPr marL="0" indent="0">
              <a:buNone/>
            </a:pPr>
            <a:r>
              <a:rPr lang="en-US" sz="1400" b="1" kern="0" spc="300" dirty="0">
                <a:solidFill>
                  <a:srgbClr val="E39BBE"/>
                </a:solidFill>
                <a:latin typeface="Public Sans" pitchFamily="34" charset="0"/>
                <a:ea typeface="Public Sans" pitchFamily="34" charset="-122"/>
                <a:cs typeface="Public Sans" pitchFamily="34" charset="-120"/>
              </a:rPr>
              <a:t>DATA 201 · MIDPOINT REPORT</a:t>
            </a:r>
            <a:endParaRPr lang="en-US" sz="1400" dirty="0"/>
          </a:p>
        </p:txBody>
      </p:sp>
      <p:sp>
        <p:nvSpPr>
          <p:cNvPr id="12" name="Text 10"/>
          <p:cNvSpPr txBox="1"/>
          <p:nvPr/>
        </p:nvSpPr>
        <p:spPr>
          <a:xfrm>
            <a:off x="548640" y="2103120"/>
            <a:ext cx="7680960" cy="1828800"/>
          </a:xfrm>
          <a:prstGeom prst="rect">
            <a:avLst/>
          </a:prstGeom>
          <a:noFill/>
          <a:ln/>
        </p:spPr>
        <p:txBody>
          <a:bodyPr wrap="square" lIns="0" tIns="0" rIns="0" bIns="0" rtlCol="0" anchor="t"/>
          <a:lstStyle/>
          <a:p>
            <a:pPr marL="0" indent="0">
              <a:buNone/>
            </a:pPr>
            <a:r>
              <a:rPr lang="en-US" sz="4000" b="1" dirty="0">
                <a:solidFill>
                  <a:srgbClr val="F6F4F0"/>
                </a:solidFill>
                <a:latin typeface="Libre Baskerville" pitchFamily="34" charset="0"/>
                <a:ea typeface="Libre Baskerville" pitchFamily="34" charset="-122"/>
                <a:cs typeface="Libre Baskerville" pitchFamily="34" charset="-120"/>
              </a:rPr>
              <a:t>Traffic Incidents Across Calgary’s Neighbourhoods</a:t>
            </a:r>
            <a:endParaRPr lang="en-US" sz="4000" dirty="0"/>
          </a:p>
        </p:txBody>
      </p:sp>
      <p:sp>
        <p:nvSpPr>
          <p:cNvPr id="13" name="Text 11"/>
          <p:cNvSpPr txBox="1"/>
          <p:nvPr/>
        </p:nvSpPr>
        <p:spPr>
          <a:xfrm>
            <a:off x="548640" y="4069080"/>
            <a:ext cx="7315200" cy="822960"/>
          </a:xfrm>
          <a:prstGeom prst="rect">
            <a:avLst/>
          </a:prstGeom>
          <a:noFill/>
          <a:ln/>
        </p:spPr>
        <p:txBody>
          <a:bodyPr wrap="square" lIns="0" tIns="0" rIns="0" bIns="0" rtlCol="0" anchor="t"/>
          <a:lstStyle/>
          <a:p>
            <a:pPr marL="0" indent="0">
              <a:buNone/>
            </a:pPr>
            <a:r>
              <a:rPr lang="en-US" sz="1800" dirty="0">
                <a:solidFill>
                  <a:srgbClr val="C9C7CF"/>
                </a:solidFill>
                <a:latin typeface="Public Sans" pitchFamily="34" charset="0"/>
                <a:ea typeface="Public Sans" pitchFamily="34" charset="-122"/>
                <a:cs typeface="Public Sans" pitchFamily="34" charset="-120"/>
              </a:rPr>
              <a:t>Where, when and who: the socioeconomic patterns behind 58,536 incidents, 2017–2025</a:t>
            </a:r>
            <a:endParaRPr lang="en-US" sz="1800" dirty="0"/>
          </a:p>
        </p:txBody>
      </p:sp>
      <p:sp>
        <p:nvSpPr>
          <p:cNvPr id="14" name="Text 12"/>
          <p:cNvSpPr txBox="1"/>
          <p:nvPr/>
        </p:nvSpPr>
        <p:spPr>
          <a:xfrm>
            <a:off x="548640" y="5897880"/>
            <a:ext cx="7315200" cy="365760"/>
          </a:xfrm>
          <a:prstGeom prst="rect">
            <a:avLst/>
          </a:prstGeom>
          <a:noFill/>
          <a:ln/>
        </p:spPr>
        <p:txBody>
          <a:bodyPr wrap="square" lIns="0" tIns="0" rIns="0" bIns="0" rtlCol="0" anchor="t"/>
          <a:lstStyle/>
          <a:p>
            <a:r>
              <a:rPr lang="en-US" sz="1400" dirty="0">
                <a:solidFill>
                  <a:srgbClr val="C9C7CF"/>
                </a:solidFill>
                <a:latin typeface="Public Sans" pitchFamily="34" charset="0"/>
                <a:ea typeface="Public Sans" pitchFamily="34" charset="-122"/>
                <a:cs typeface="Public Sans" pitchFamily="34" charset="-120"/>
              </a:rPr>
              <a:t>Adrian </a:t>
            </a:r>
            <a:r>
              <a:rPr lang="en-US" sz="1400">
                <a:solidFill>
                  <a:srgbClr val="C9C7CF"/>
                </a:solidFill>
                <a:latin typeface="Public Sans" pitchFamily="34" charset="0"/>
                <a:ea typeface="Public Sans" pitchFamily="34" charset="-122"/>
                <a:cs typeface="Public Sans" pitchFamily="34" charset="-120"/>
              </a:rPr>
              <a:t>Julve, Kein </a:t>
            </a:r>
            <a:r>
              <a:rPr lang="en-US" sz="1400" dirty="0" err="1">
                <a:solidFill>
                  <a:srgbClr val="C9C7CF"/>
                </a:solidFill>
                <a:latin typeface="Public Sans" pitchFamily="34" charset="0"/>
                <a:ea typeface="Public Sans" pitchFamily="34" charset="-122"/>
                <a:cs typeface="Public Sans" pitchFamily="34" charset="-120"/>
              </a:rPr>
              <a:t>Ritarita, Xinqi Zha</a:t>
            </a:r>
            <a:r>
              <a:rPr lang="en-US" sz="1400" dirty="0">
                <a:solidFill>
                  <a:srgbClr val="C9C7CF"/>
                </a:solidFill>
                <a:latin typeface="Public Sans" pitchFamily="34" charset="0"/>
                <a:ea typeface="Public Sans" pitchFamily="34" charset="-122"/>
                <a:cs typeface="Public Sans" pitchFamily="34" charset="-120"/>
              </a:rPr>
              <a:t> · Data 201 · Oct 20</a:t>
            </a:r>
            <a:r>
              <a:rPr lang="en-US" sz="1400" baseline="30000" dirty="0">
                <a:solidFill>
                  <a:srgbClr val="C9C7CF"/>
                </a:solidFill>
                <a:latin typeface="Public Sans" pitchFamily="34" charset="0"/>
                <a:ea typeface="Public Sans" pitchFamily="34" charset="-122"/>
                <a:cs typeface="Public Sans" pitchFamily="34" charset="-120"/>
              </a:rPr>
              <a:t>th</a:t>
            </a:r>
            <a:r>
              <a:rPr lang="en-US" sz="1400" dirty="0">
                <a:solidFill>
                  <a:srgbClr val="C9C7CF"/>
                </a:solidFill>
                <a:latin typeface="Public Sans" pitchFamily="34" charset="0"/>
                <a:ea typeface="Public Sans" pitchFamily="34" charset="-122"/>
                <a:cs typeface="Public Sans" pitchFamily="34" charset="-120"/>
              </a:rPr>
              <a: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Project overview</a:t>
            </a:r>
            <a:endParaRPr lang="en-US" sz="3200" dirty="0"/>
          </a:p>
        </p:txBody>
      </p:sp>
      <p:sp>
        <p:nvSpPr>
          <p:cNvPr id="3" name="Text 1"/>
          <p:cNvSpPr txBox="1"/>
          <p:nvPr/>
        </p:nvSpPr>
        <p:spPr>
          <a:xfrm>
            <a:off x="548640" y="1463040"/>
            <a:ext cx="10424160" cy="1554480"/>
          </a:xfrm>
          <a:prstGeom prst="rect">
            <a:avLst/>
          </a:prstGeom>
          <a:noFill/>
          <a:ln/>
        </p:spPr>
        <p:txBody>
          <a:bodyPr wrap="square" lIns="0" tIns="0" rIns="0" bIns="0" rtlCol="0" anchor="t"/>
          <a:lstStyle/>
          <a:p>
            <a:pPr marL="0" indent="0">
              <a:lnSpc>
                <a:spcPct val="115000"/>
              </a:lnSpc>
              <a:buNone/>
            </a:pPr>
            <a:r>
              <a:rPr lang="en-US" sz="2400" dirty="0">
                <a:solidFill>
                  <a:srgbClr val="2B2B30"/>
                </a:solidFill>
                <a:latin typeface="Public Sans" pitchFamily="34" charset="0"/>
                <a:ea typeface="Public Sans" pitchFamily="34" charset="-122"/>
                <a:cs typeface="Public Sans" pitchFamily="34" charset="-120"/>
              </a:rPr>
              <a:t>Traffic incidents aren’t spread evenly across Calgary. This project asks whether </a:t>
            </a:r>
            <a:r>
              <a:rPr lang="en-US" sz="2400" b="1" dirty="0">
                <a:solidFill>
                  <a:srgbClr val="B4467E"/>
                </a:solidFill>
                <a:latin typeface="Public Sans" pitchFamily="34" charset="0"/>
                <a:ea typeface="Public Sans" pitchFamily="34" charset="-122"/>
                <a:cs typeface="Public Sans" pitchFamily="34" charset="-120"/>
              </a:rPr>
              <a:t>neighbourhood income and other socioeconomic conditions</a:t>
            </a:r>
            <a:r>
              <a:rPr lang="en-US" sz="2400" dirty="0">
                <a:solidFill>
                  <a:srgbClr val="2B2B30"/>
                </a:solidFill>
                <a:latin typeface="Public Sans" pitchFamily="34" charset="0"/>
                <a:ea typeface="Public Sans" pitchFamily="34" charset="-122"/>
                <a:cs typeface="Public Sans" pitchFamily="34" charset="-120"/>
              </a:rPr>
              <a:t> help explain where, and when, they happen.</a:t>
            </a:r>
            <a:endParaRPr lang="en-US" sz="2400" dirty="0"/>
          </a:p>
        </p:txBody>
      </p:sp>
      <p:sp>
        <p:nvSpPr>
          <p:cNvPr id="4" name="card_0"/>
          <p:cNvSpPr/>
          <p:nvPr/>
        </p:nvSpPr>
        <p:spPr>
          <a:xfrm>
            <a:off x="548640"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5" name="Text 3"/>
          <p:cNvSpPr txBox="1"/>
          <p:nvPr/>
        </p:nvSpPr>
        <p:spPr>
          <a:xfrm>
            <a:off x="822960"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AREA</a:t>
            </a:r>
            <a:endParaRPr lang="en-US" sz="1300" dirty="0"/>
          </a:p>
        </p:txBody>
      </p:sp>
      <p:sp>
        <p:nvSpPr>
          <p:cNvPr id="6" name="Text 4"/>
          <p:cNvSpPr txBox="1"/>
          <p:nvPr/>
        </p:nvSpPr>
        <p:spPr>
          <a:xfrm>
            <a:off x="822960"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City of Calgary, 113 community service areas</a:t>
            </a:r>
            <a:endParaRPr lang="en-US" sz="1800" dirty="0"/>
          </a:p>
        </p:txBody>
      </p:sp>
      <p:sp>
        <p:nvSpPr>
          <p:cNvPr id="7" name="card_1"/>
          <p:cNvSpPr/>
          <p:nvPr/>
        </p:nvSpPr>
        <p:spPr>
          <a:xfrm>
            <a:off x="4338828"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8" name="Text 6"/>
          <p:cNvSpPr txBox="1"/>
          <p:nvPr/>
        </p:nvSpPr>
        <p:spPr>
          <a:xfrm>
            <a:off x="4613148"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PERIOD</a:t>
            </a:r>
            <a:endParaRPr lang="en-US" sz="1300" dirty="0"/>
          </a:p>
        </p:txBody>
      </p:sp>
      <p:sp>
        <p:nvSpPr>
          <p:cNvPr id="9" name="Text 7"/>
          <p:cNvSpPr txBox="1"/>
          <p:nvPr/>
        </p:nvSpPr>
        <p:spPr>
          <a:xfrm>
            <a:off x="4613148"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2017–2025, nine complete years</a:t>
            </a:r>
            <a:endParaRPr lang="en-US" sz="1800" dirty="0"/>
          </a:p>
        </p:txBody>
      </p:sp>
      <p:sp>
        <p:nvSpPr>
          <p:cNvPr id="10" name="card_2"/>
          <p:cNvSpPr/>
          <p:nvPr/>
        </p:nvSpPr>
        <p:spPr>
          <a:xfrm>
            <a:off x="8129016"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11" name="Text 9"/>
          <p:cNvSpPr txBox="1"/>
          <p:nvPr/>
        </p:nvSpPr>
        <p:spPr>
          <a:xfrm>
            <a:off x="8403336"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OUTPUT</a:t>
            </a:r>
            <a:endParaRPr lang="en-US" sz="1300" dirty="0"/>
          </a:p>
        </p:txBody>
      </p:sp>
      <p:sp>
        <p:nvSpPr>
          <p:cNvPr id="12" name="Text 10"/>
          <p:cNvSpPr txBox="1"/>
          <p:nvPr/>
        </p:nvSpPr>
        <p:spPr>
          <a:xfrm>
            <a:off x="8403336"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An interactive, single-page Power BI dashboard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Analysis questions</a:t>
            </a:r>
            <a:endParaRPr lang="en-US" sz="3200" dirty="0"/>
          </a:p>
        </p:txBody>
      </p:sp>
      <p:sp>
        <p:nvSpPr>
          <p:cNvPr id="3" name="q_card_0"/>
          <p:cNvSpPr/>
          <p:nvPr/>
        </p:nvSpPr>
        <p:spPr>
          <a:xfrm>
            <a:off x="548640" y="137160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4" name="Text 2"/>
          <p:cNvSpPr txBox="1"/>
          <p:nvPr/>
        </p:nvSpPr>
        <p:spPr>
          <a:xfrm>
            <a:off x="868680" y="137160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01</a:t>
            </a:r>
            <a:endParaRPr lang="en-US" sz="3200" dirty="0"/>
          </a:p>
        </p:txBody>
      </p:sp>
      <p:sp>
        <p:nvSpPr>
          <p:cNvPr id="5" name="Text 3"/>
          <p:cNvSpPr txBox="1"/>
          <p:nvPr/>
        </p:nvSpPr>
        <p:spPr>
          <a:xfrm>
            <a:off x="2011680" y="160020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WHERE</a:t>
            </a:r>
            <a:endParaRPr lang="en-US" sz="1300" dirty="0"/>
          </a:p>
        </p:txBody>
      </p:sp>
      <p:sp>
        <p:nvSpPr>
          <p:cNvPr id="6" name="Text 4"/>
          <p:cNvSpPr txBox="1"/>
          <p:nvPr/>
        </p:nvSpPr>
        <p:spPr>
          <a:xfrm>
            <a:off x="2011680" y="193852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Where do incidents concentrate once population is accounted for, and does that match neighbourhood income?</a:t>
            </a:r>
            <a:endParaRPr lang="en-US" sz="1800" dirty="0"/>
          </a:p>
        </p:txBody>
      </p:sp>
      <p:sp>
        <p:nvSpPr>
          <p:cNvPr id="7" name="q_card_1"/>
          <p:cNvSpPr/>
          <p:nvPr/>
        </p:nvSpPr>
        <p:spPr>
          <a:xfrm>
            <a:off x="548640" y="301752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8" name="Text 6"/>
          <p:cNvSpPr txBox="1"/>
          <p:nvPr/>
        </p:nvSpPr>
        <p:spPr>
          <a:xfrm>
            <a:off x="868680" y="301752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02</a:t>
            </a:r>
            <a:endParaRPr lang="en-US" sz="3200" dirty="0"/>
          </a:p>
        </p:txBody>
      </p:sp>
      <p:sp>
        <p:nvSpPr>
          <p:cNvPr id="9" name="Text 7"/>
          <p:cNvSpPr txBox="1"/>
          <p:nvPr/>
        </p:nvSpPr>
        <p:spPr>
          <a:xfrm>
            <a:off x="2011680" y="324612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WHO</a:t>
            </a:r>
            <a:endParaRPr lang="en-US" sz="1300" dirty="0"/>
          </a:p>
        </p:txBody>
      </p:sp>
      <p:sp>
        <p:nvSpPr>
          <p:cNvPr id="10" name="Text 8"/>
          <p:cNvSpPr txBox="1"/>
          <p:nvPr/>
        </p:nvSpPr>
        <p:spPr>
          <a:xfrm>
            <a:off x="2011680" y="358444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Which other neighbourhood traits, such as renting, low income and commuting, go with higher incident rates?</a:t>
            </a:r>
            <a:endParaRPr lang="en-US" sz="1800" dirty="0"/>
          </a:p>
        </p:txBody>
      </p:sp>
      <p:sp>
        <p:nvSpPr>
          <p:cNvPr id="11" name="q_card_2"/>
          <p:cNvSpPr/>
          <p:nvPr/>
        </p:nvSpPr>
        <p:spPr>
          <a:xfrm>
            <a:off x="548640" y="466344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12" name="Text 10"/>
          <p:cNvSpPr txBox="1"/>
          <p:nvPr/>
        </p:nvSpPr>
        <p:spPr>
          <a:xfrm>
            <a:off x="868680" y="466344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03</a:t>
            </a:r>
            <a:endParaRPr lang="en-US" sz="3200" dirty="0"/>
          </a:p>
        </p:txBody>
      </p:sp>
      <p:sp>
        <p:nvSpPr>
          <p:cNvPr id="13" name="Text 11"/>
          <p:cNvSpPr txBox="1"/>
          <p:nvPr/>
        </p:nvSpPr>
        <p:spPr>
          <a:xfrm>
            <a:off x="2011680" y="489204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WHEN</a:t>
            </a:r>
            <a:endParaRPr lang="en-US" sz="1300" dirty="0"/>
          </a:p>
        </p:txBody>
      </p:sp>
      <p:sp>
        <p:nvSpPr>
          <p:cNvPr id="14" name="Text 12"/>
          <p:cNvSpPr txBox="1"/>
          <p:nvPr/>
        </p:nvSpPr>
        <p:spPr>
          <a:xfrm>
            <a:off x="2011680" y="523036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When do incidents happen, by hour of day, day of week and month of year?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Datasets obtained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3404139762"/>
              </p:ext>
            </p:extLst>
          </p:nvPr>
        </p:nvGraphicFramePr>
        <p:xfrm>
          <a:off x="548640" y="1463040"/>
          <a:ext cx="11091672" cy="3145536"/>
        </p:xfrm>
        <a:graphic>
          <a:graphicData uri="http://schemas.openxmlformats.org/drawingml/2006/table">
            <a:tbl>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tblGrid>
              <a:tr h="502920">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Dataset</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Source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What it holds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Size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Role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Traffic Incidents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hlinkClick r:id="rId3"/>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Location, description and time of each reported incident</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65,138 records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The events analysed</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Equity Index Overlay Statistics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hlinkClick r:id="rId4"/>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Population, median income and 16 other measures per area (2021 Census), plus area boundaries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113 areas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Who lives where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Community District Boundaries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hlinkClick r:id="rId5"/>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Community name, land-use class and development era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313 communities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Residential filter, area names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Data wrangling and cleaning</a:t>
            </a:r>
            <a:endParaRPr lang="en-US" sz="3200" dirty="0"/>
          </a:p>
        </p:txBody>
      </p:sp>
      <p:sp>
        <p:nvSpPr>
          <p:cNvPr id="3" name="Shape 1"/>
          <p:cNvSpPr/>
          <p:nvPr/>
        </p:nvSpPr>
        <p:spPr>
          <a:xfrm>
            <a:off x="812800" y="1534120"/>
            <a:ext cx="3386634" cy="1878211"/>
          </a:xfrm>
          <a:prstGeom prst="roundRect">
            <a:avLst>
              <a:gd name="adj" fmla="val 4057"/>
            </a:avLst>
          </a:prstGeom>
          <a:solidFill>
            <a:srgbClr val="FFFFFF"/>
          </a:solidFill>
          <a:ln/>
        </p:spPr>
        <p:txBody>
          <a:bodyPr/>
          <a:lstStyle/>
          <a:p>
            <a:endParaRPr lang="en-US"/>
          </a:p>
        </p:txBody>
      </p:sp>
      <p:sp>
        <p:nvSpPr>
          <p:cNvPr id="4" name="Shape 2"/>
          <p:cNvSpPr/>
          <p:nvPr/>
        </p:nvSpPr>
        <p:spPr>
          <a:xfrm>
            <a:off x="812800" y="1534120"/>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5" name="Text 3"/>
          <p:cNvSpPr/>
          <p:nvPr/>
        </p:nvSpPr>
        <p:spPr>
          <a:xfrm>
            <a:off x="1041400" y="1750020"/>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1 · Kept full years</a:t>
            </a:r>
            <a:endParaRPr lang="en-US" sz="1400" dirty="0"/>
          </a:p>
        </p:txBody>
      </p:sp>
      <p:sp>
        <p:nvSpPr>
          <p:cNvPr id="6" name="Text 4"/>
          <p:cNvSpPr/>
          <p:nvPr/>
        </p:nvSpPr>
        <p:spPr>
          <a:xfrm>
            <a:off x="1041400" y="2026841"/>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65,138 → 58,536</a:t>
            </a:r>
            <a:endParaRPr lang="en-US" sz="2200" dirty="0"/>
          </a:p>
        </p:txBody>
      </p:sp>
      <p:sp>
        <p:nvSpPr>
          <p:cNvPr id="7" name="Text 5"/>
          <p:cNvSpPr/>
          <p:nvPr/>
        </p:nvSpPr>
        <p:spPr>
          <a:xfrm>
            <a:off x="1041400" y="2411611"/>
            <a:ext cx="3017317"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Dropped the partial years at each end (Dec 2016 and 2026), leaving 2017–2025.</a:t>
            </a:r>
            <a:endParaRPr lang="en-US" sz="1200" dirty="0"/>
          </a:p>
        </p:txBody>
      </p:sp>
      <p:sp>
        <p:nvSpPr>
          <p:cNvPr id="8" name="Shape 6"/>
          <p:cNvSpPr/>
          <p:nvPr/>
        </p:nvSpPr>
        <p:spPr>
          <a:xfrm>
            <a:off x="4402634" y="1534120"/>
            <a:ext cx="3386683" cy="1878211"/>
          </a:xfrm>
          <a:prstGeom prst="roundRect">
            <a:avLst>
              <a:gd name="adj" fmla="val 4057"/>
            </a:avLst>
          </a:prstGeom>
          <a:solidFill>
            <a:srgbClr val="FFFFFF"/>
          </a:solidFill>
          <a:ln/>
        </p:spPr>
        <p:txBody>
          <a:bodyPr/>
          <a:lstStyle/>
          <a:p>
            <a:endParaRPr lang="en-US"/>
          </a:p>
        </p:txBody>
      </p:sp>
      <p:sp>
        <p:nvSpPr>
          <p:cNvPr id="9" name="Shape 7"/>
          <p:cNvSpPr/>
          <p:nvPr/>
        </p:nvSpPr>
        <p:spPr>
          <a:xfrm>
            <a:off x="4402634" y="1534120"/>
            <a:ext cx="3386683" cy="1878211"/>
          </a:xfrm>
          <a:custGeom>
            <a:avLst/>
            <a:gdLst/>
            <a:ahLst/>
            <a:cxnLst/>
            <a:rect l="l" t="t" r="r" b="b"/>
            <a:pathLst>
              <a:path w="3386683" h="1878211">
                <a:moveTo>
                  <a:pt x="0" y="76200"/>
                </a:moveTo>
                <a:lnTo>
                  <a:pt x="0" y="76200"/>
                </a:lnTo>
                <a:arcTo wR="76200" hR="76200" stAng="10800000" swAng="5400000"/>
                <a:lnTo>
                  <a:pt x="3310483" y="0"/>
                </a:lnTo>
                <a:arcTo wR="76200" hR="76200" stAng="16200000" swAng="5400000"/>
                <a:lnTo>
                  <a:pt x="3386683"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10" name="Text 8"/>
          <p:cNvSpPr/>
          <p:nvPr/>
        </p:nvSpPr>
        <p:spPr>
          <a:xfrm>
            <a:off x="4631234" y="1750020"/>
            <a:ext cx="301736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2 · Located each incident</a:t>
            </a:r>
            <a:endParaRPr lang="en-US" sz="1400" dirty="0"/>
          </a:p>
        </p:txBody>
      </p:sp>
      <p:sp>
        <p:nvSpPr>
          <p:cNvPr id="11" name="Text 9"/>
          <p:cNvSpPr/>
          <p:nvPr/>
        </p:nvSpPr>
        <p:spPr>
          <a:xfrm>
            <a:off x="4631234" y="2026841"/>
            <a:ext cx="3017368"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Point → area</a:t>
            </a:r>
            <a:endParaRPr lang="en-US" sz="2200" dirty="0"/>
          </a:p>
        </p:txBody>
      </p:sp>
      <p:sp>
        <p:nvSpPr>
          <p:cNvPr id="12" name="Text 10"/>
          <p:cNvSpPr/>
          <p:nvPr/>
        </p:nvSpPr>
        <p:spPr>
          <a:xfrm>
            <a:off x="4631234" y="2411611"/>
            <a:ext cx="3017368"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GeoPandas in Python checked which area outline each point falls inside. 639 fall outside. The outlines also became the Shape Map.</a:t>
            </a:r>
            <a:endParaRPr lang="en-US" sz="1200" dirty="0"/>
          </a:p>
        </p:txBody>
      </p:sp>
      <p:sp>
        <p:nvSpPr>
          <p:cNvPr id="13" name="Shape 11"/>
          <p:cNvSpPr/>
          <p:nvPr/>
        </p:nvSpPr>
        <p:spPr>
          <a:xfrm>
            <a:off x="7992517" y="1534120"/>
            <a:ext cx="3386634" cy="1878211"/>
          </a:xfrm>
          <a:prstGeom prst="roundRect">
            <a:avLst>
              <a:gd name="adj" fmla="val 4057"/>
            </a:avLst>
          </a:prstGeom>
          <a:solidFill>
            <a:srgbClr val="FFFFFF"/>
          </a:solidFill>
          <a:ln/>
        </p:spPr>
        <p:txBody>
          <a:bodyPr/>
          <a:lstStyle/>
          <a:p>
            <a:endParaRPr lang="en-US"/>
          </a:p>
        </p:txBody>
      </p:sp>
      <p:sp>
        <p:nvSpPr>
          <p:cNvPr id="14" name="Shape 12"/>
          <p:cNvSpPr/>
          <p:nvPr/>
        </p:nvSpPr>
        <p:spPr>
          <a:xfrm>
            <a:off x="7992517" y="1534120"/>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15" name="Text 13"/>
          <p:cNvSpPr/>
          <p:nvPr/>
        </p:nvSpPr>
        <p:spPr>
          <a:xfrm>
            <a:off x="8221117" y="1750020"/>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3 · Sorted incidents</a:t>
            </a:r>
            <a:endParaRPr lang="en-US" sz="1400" dirty="0"/>
          </a:p>
        </p:txBody>
      </p:sp>
      <p:sp>
        <p:nvSpPr>
          <p:cNvPr id="16" name="Text 14"/>
          <p:cNvSpPr/>
          <p:nvPr/>
        </p:nvSpPr>
        <p:spPr>
          <a:xfrm>
            <a:off x="8221117" y="2026841"/>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Text → 5 types</a:t>
            </a:r>
            <a:endParaRPr lang="en-US" sz="2200" dirty="0"/>
          </a:p>
        </p:txBody>
      </p:sp>
      <p:sp>
        <p:nvSpPr>
          <p:cNvPr id="17" name="Text 15"/>
          <p:cNvSpPr/>
          <p:nvPr/>
        </p:nvSpPr>
        <p:spPr>
          <a:xfrm>
            <a:off x="8221117" y="2411611"/>
            <a:ext cx="3017317"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Keywords in each description set the incident type. Street names flag highways, so area rates only count local roads.</a:t>
            </a:r>
            <a:endParaRPr lang="en-US" sz="1200" dirty="0"/>
          </a:p>
        </p:txBody>
      </p:sp>
      <p:sp>
        <p:nvSpPr>
          <p:cNvPr id="18" name="Shape 16"/>
          <p:cNvSpPr/>
          <p:nvPr/>
        </p:nvSpPr>
        <p:spPr>
          <a:xfrm>
            <a:off x="812800" y="3615531"/>
            <a:ext cx="3386634" cy="1878211"/>
          </a:xfrm>
          <a:prstGeom prst="roundRect">
            <a:avLst>
              <a:gd name="adj" fmla="val 4057"/>
            </a:avLst>
          </a:prstGeom>
          <a:solidFill>
            <a:srgbClr val="FFFFFF"/>
          </a:solidFill>
          <a:ln/>
        </p:spPr>
        <p:txBody>
          <a:bodyPr/>
          <a:lstStyle/>
          <a:p>
            <a:endParaRPr lang="en-US"/>
          </a:p>
        </p:txBody>
      </p:sp>
      <p:sp>
        <p:nvSpPr>
          <p:cNvPr id="19" name="Shape 17"/>
          <p:cNvSpPr/>
          <p:nvPr/>
        </p:nvSpPr>
        <p:spPr>
          <a:xfrm>
            <a:off x="812800" y="3615531"/>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20" name="Text 18"/>
          <p:cNvSpPr/>
          <p:nvPr/>
        </p:nvSpPr>
        <p:spPr>
          <a:xfrm>
            <a:off x="1041400" y="3831431"/>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4 · Reshaped census data</a:t>
            </a:r>
            <a:endParaRPr lang="en-US" sz="1400" dirty="0"/>
          </a:p>
        </p:txBody>
      </p:sp>
      <p:sp>
        <p:nvSpPr>
          <p:cNvPr id="21" name="Text 19"/>
          <p:cNvSpPr/>
          <p:nvPr/>
        </p:nvSpPr>
        <p:spPr>
          <a:xfrm>
            <a:off x="1041400" y="4108252"/>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4E6596"/>
                </a:solidFill>
                <a:latin typeface="Libre Baskerville" pitchFamily="18" charset="0"/>
                <a:ea typeface="Libre Baskerville" pitchFamily="18" charset="-122"/>
                <a:cs typeface="Libre Baskerville" pitchFamily="18" charset="-120"/>
              </a:rPr>
              <a:t>2,091 → 113 rows</a:t>
            </a:r>
            <a:endParaRPr lang="en-US" sz="2200" dirty="0"/>
          </a:p>
        </p:txBody>
      </p:sp>
      <p:sp>
        <p:nvSpPr>
          <p:cNvPr id="22" name="Text 20"/>
          <p:cNvSpPr/>
          <p:nvPr/>
        </p:nvSpPr>
        <p:spPr>
          <a:xfrm>
            <a:off x="1041400" y="4493022"/>
            <a:ext cx="3017317"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ea typeface="Public Sans" pitchFamily="34" charset="-122"/>
                <a:cs typeface="Public Sans" pitchFamily="34" charset="-120"/>
              </a:rPr>
              <a:t>Used Python to give each area one row, with each trait as its own column, and fixed the number formats.</a:t>
            </a:r>
            <a:endParaRPr lang="en-US" sz="1200" dirty="0"/>
          </a:p>
        </p:txBody>
      </p:sp>
      <p:sp>
        <p:nvSpPr>
          <p:cNvPr id="23" name="Shape 21"/>
          <p:cNvSpPr/>
          <p:nvPr/>
        </p:nvSpPr>
        <p:spPr>
          <a:xfrm>
            <a:off x="4402634" y="3615531"/>
            <a:ext cx="3386683" cy="1878211"/>
          </a:xfrm>
          <a:prstGeom prst="roundRect">
            <a:avLst>
              <a:gd name="adj" fmla="val 4057"/>
            </a:avLst>
          </a:prstGeom>
          <a:solidFill>
            <a:srgbClr val="FFFFFF"/>
          </a:solidFill>
          <a:ln/>
        </p:spPr>
        <p:txBody>
          <a:bodyPr/>
          <a:lstStyle/>
          <a:p>
            <a:endParaRPr lang="en-US"/>
          </a:p>
        </p:txBody>
      </p:sp>
      <p:sp>
        <p:nvSpPr>
          <p:cNvPr id="24" name="Shape 22"/>
          <p:cNvSpPr/>
          <p:nvPr/>
        </p:nvSpPr>
        <p:spPr>
          <a:xfrm>
            <a:off x="4402634" y="3615531"/>
            <a:ext cx="3386683" cy="1878211"/>
          </a:xfrm>
          <a:custGeom>
            <a:avLst/>
            <a:gdLst/>
            <a:ahLst/>
            <a:cxnLst/>
            <a:rect l="l" t="t" r="r" b="b"/>
            <a:pathLst>
              <a:path w="3386683" h="1878211">
                <a:moveTo>
                  <a:pt x="0" y="76200"/>
                </a:moveTo>
                <a:lnTo>
                  <a:pt x="0" y="76200"/>
                </a:lnTo>
                <a:arcTo wR="76200" hR="76200" stAng="10800000" swAng="5400000"/>
                <a:lnTo>
                  <a:pt x="3310483" y="0"/>
                </a:lnTo>
                <a:arcTo wR="76200" hR="76200" stAng="16200000" swAng="5400000"/>
                <a:lnTo>
                  <a:pt x="3386683"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25" name="Text 23"/>
          <p:cNvSpPr/>
          <p:nvPr/>
        </p:nvSpPr>
        <p:spPr>
          <a:xfrm>
            <a:off x="4631234" y="3831431"/>
            <a:ext cx="301736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5 · Linked and rated areas</a:t>
            </a:r>
            <a:endParaRPr lang="en-US" sz="1400" dirty="0"/>
          </a:p>
        </p:txBody>
      </p:sp>
      <p:sp>
        <p:nvSpPr>
          <p:cNvPr id="26" name="Text 24"/>
          <p:cNvSpPr/>
          <p:nvPr/>
        </p:nvSpPr>
        <p:spPr>
          <a:xfrm>
            <a:off x="4631234" y="4108252"/>
            <a:ext cx="3017368" cy="346670"/>
          </a:xfrm>
          <a:prstGeom prst="rect">
            <a:avLst/>
          </a:prstGeom>
          <a:noFill/>
          <a:ln/>
        </p:spPr>
        <p:txBody>
          <a:bodyPr wrap="square" lIns="0" tIns="0" rIns="0" bIns="0" rtlCol="0" anchor="t">
            <a:normAutofit/>
          </a:bodyPr>
          <a:lstStyle/>
          <a:p>
            <a:pPr>
              <a:lnSpc>
                <a:spcPts val="2530"/>
              </a:lnSpc>
            </a:pPr>
            <a:r>
              <a:rPr lang="en-US" sz="2200" b="1" dirty="0">
                <a:solidFill>
                  <a:srgbClr val="4E6596"/>
                </a:solidFill>
                <a:latin typeface="Libre Baskerville" pitchFamily="18" charset="0"/>
                <a:ea typeface="Libre Baskerville" pitchFamily="18" charset="-122"/>
                <a:cs typeface="Libre Baskerville" pitchFamily="18" charset="-120"/>
              </a:rPr>
              <a:t>307 → 113</a:t>
            </a:r>
            <a:endParaRPr lang="en-US" sz="2200" dirty="0"/>
          </a:p>
        </p:txBody>
      </p:sp>
      <p:sp>
        <p:nvSpPr>
          <p:cNvPr id="27" name="Text 25"/>
          <p:cNvSpPr/>
          <p:nvPr/>
        </p:nvSpPr>
        <p:spPr>
          <a:xfrm>
            <a:off x="4631234" y="4493022"/>
            <a:ext cx="3017368"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ea typeface="Public Sans" pitchFamily="34" charset="-122"/>
                <a:cs typeface="Public Sans" pitchFamily="34" charset="-120"/>
              </a:rPr>
              <a:t>Each incident has both its community (307) and its area (113), which links the two. Then: incidents per 1,000 residents a year.</a:t>
            </a:r>
            <a:endParaRPr lang="en-US" sz="1200" dirty="0"/>
          </a:p>
        </p:txBody>
      </p:sp>
      <p:sp>
        <p:nvSpPr>
          <p:cNvPr id="28" name="Shape 26"/>
          <p:cNvSpPr/>
          <p:nvPr/>
        </p:nvSpPr>
        <p:spPr>
          <a:xfrm>
            <a:off x="7992517" y="3615531"/>
            <a:ext cx="3386634" cy="1878211"/>
          </a:xfrm>
          <a:prstGeom prst="roundRect">
            <a:avLst>
              <a:gd name="adj" fmla="val 4057"/>
            </a:avLst>
          </a:prstGeom>
          <a:solidFill>
            <a:srgbClr val="FFFFFF"/>
          </a:solidFill>
          <a:ln/>
        </p:spPr>
        <p:txBody>
          <a:bodyPr/>
          <a:lstStyle/>
          <a:p>
            <a:endParaRPr lang="en-US"/>
          </a:p>
        </p:txBody>
      </p:sp>
      <p:sp>
        <p:nvSpPr>
          <p:cNvPr id="29" name="Shape 27"/>
          <p:cNvSpPr/>
          <p:nvPr/>
        </p:nvSpPr>
        <p:spPr>
          <a:xfrm>
            <a:off x="7992517" y="3615531"/>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30" name="Text 28"/>
          <p:cNvSpPr/>
          <p:nvPr/>
        </p:nvSpPr>
        <p:spPr>
          <a:xfrm>
            <a:off x="8221117" y="3831431"/>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6 · Key measures in DAX</a:t>
            </a:r>
            <a:endParaRPr lang="en-US" sz="1400" dirty="0"/>
          </a:p>
        </p:txBody>
      </p:sp>
      <p:sp>
        <p:nvSpPr>
          <p:cNvPr id="31" name="Text 29"/>
          <p:cNvSpPr/>
          <p:nvPr/>
        </p:nvSpPr>
        <p:spPr>
          <a:xfrm>
            <a:off x="8221117" y="4108252"/>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4E6596"/>
                </a:solidFill>
                <a:latin typeface="Libre Baskerville" pitchFamily="18" charset="0"/>
                <a:ea typeface="Libre Baskerville" pitchFamily="18" charset="-122"/>
                <a:cs typeface="Libre Baskerville" pitchFamily="18" charset="-120"/>
              </a:rPr>
              <a:t>Rows → measures</a:t>
            </a:r>
            <a:endParaRPr lang="en-US" sz="2200" dirty="0"/>
          </a:p>
        </p:txBody>
      </p:sp>
      <p:sp>
        <p:nvSpPr>
          <p:cNvPr id="32" name="Text 30"/>
          <p:cNvSpPr/>
          <p:nvPr/>
        </p:nvSpPr>
        <p:spPr>
          <a:xfrm>
            <a:off x="8221117" y="4493022"/>
            <a:ext cx="3017317" cy="642590"/>
          </a:xfrm>
          <a:prstGeom prst="rect">
            <a:avLst/>
          </a:prstGeom>
          <a:noFill/>
          <a:ln/>
        </p:spPr>
        <p:txBody>
          <a:bodyPr wrap="square" lIns="0" tIns="0" rIns="0" bIns="0" rtlCol="0" anchor="t">
            <a:noAutofit/>
          </a:bodyPr>
          <a:lstStyle/>
          <a:p>
            <a:r>
              <a:rPr lang="en-CA" sz="1200" dirty="0">
                <a:solidFill>
                  <a:schemeClr val="tx1">
                    <a:lumMod val="75000"/>
                    <a:lumOff val="25000"/>
                  </a:schemeClr>
                </a:solidFill>
              </a:rPr>
              <a:t>Wrote DAX measures that include ranking areas into income and incident-rate thirds for the map, compare any selection to the city average, and find its busiest hour.</a:t>
            </a:r>
            <a:endParaRPr lang="en-US" sz="1200" dirty="0">
              <a:solidFill>
                <a:schemeClr val="tx1">
                  <a:lumMod val="75000"/>
                  <a:lumOff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30"/>
        </a:solidFill>
        <a:effectLst/>
      </p:bgPr>
    </p:bg>
    <p:spTree>
      <p:nvGrpSpPr>
        <p:cNvPr id="1" name=""/>
        <p:cNvGrpSpPr/>
        <p:nvPr/>
      </p:nvGrpSpPr>
      <p:grpSpPr>
        <a:xfrm>
          <a:off x="0" y="0"/>
          <a:ext cx="0" cy="0"/>
          <a:chOff x="0" y="0"/>
          <a:chExt cx="0" cy="0"/>
        </a:xfrm>
      </p:grpSpPr>
      <p:sp>
        <p:nvSpPr>
          <p:cNvPr id="2" name="Text 0"/>
          <p:cNvSpPr/>
          <p:nvPr/>
        </p:nvSpPr>
        <p:spPr>
          <a:xfrm>
            <a:off x="198787" y="830579"/>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E39BBE"/>
                </a:solidFill>
                <a:effectLst/>
                <a:uLnTx/>
                <a:uFillTx/>
                <a:latin typeface="Public Sans" pitchFamily="34" charset="0"/>
                <a:ea typeface="Public Sans" pitchFamily="34" charset="-122"/>
                <a:cs typeface="Public Sans" pitchFamily="34" charset="-120"/>
              </a:rPr>
              <a:t>DEMO · WALKTHROUGH</a:t>
            </a:r>
            <a:endParaRPr kumimoji="0" lang="en-US" sz="1200" b="0" i="0" u="none" strike="noStrike" kern="1200" cap="none" spc="0" normalizeH="0" baseline="0" noProof="0" dirty="0">
              <a:ln>
                <a:noFill/>
              </a:ln>
              <a:solidFill>
                <a:srgbClr val="2B2B30"/>
              </a:solidFill>
              <a:effectLst/>
              <a:uLnTx/>
              <a:uFillTx/>
              <a:ea typeface="+mn-ea"/>
              <a:cs typeface="+mn-cs"/>
            </a:endParaRPr>
          </a:p>
        </p:txBody>
      </p:sp>
      <p:sp>
        <p:nvSpPr>
          <p:cNvPr id="3" name="Text 1"/>
          <p:cNvSpPr>
            <a:spLocks noGrp="1"/>
          </p:cNvSpPr>
          <p:nvPr>
            <p:ph type="title"/>
          </p:nvPr>
        </p:nvSpPr>
        <p:spPr>
          <a:xfrm>
            <a:off x="198787" y="113537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EEE3"/>
                </a:solidFill>
                <a:latin typeface="Libre Baskerville" pitchFamily="18" charset="0"/>
                <a:ea typeface="Libre Baskerville" pitchFamily="18" charset="-122"/>
                <a:cs typeface="Libre Baskerville" pitchFamily="18" charset="-120"/>
              </a:rPr>
              <a:t>The dashboard so far</a:t>
            </a:r>
            <a:endParaRPr lang="en-US" sz="3200" dirty="0"/>
          </a:p>
        </p:txBody>
      </p:sp>
      <p:pic>
        <p:nvPicPr>
          <p:cNvPr id="4" name="Image 0" descr="Default dashboard view: income and incident-rate map of all 113 areas, empty area details panel, heatmap, monthly chart and neighbourhood-trait chart"/>
          <p:cNvPicPr>
            <a:picLocks noChangeAspect="1"/>
          </p:cNvPicPr>
          <p:nvPr/>
        </p:nvPicPr>
        <p:blipFill>
          <a:blip r:embed="rId3"/>
          <a:srcRect l="-146" r="-146"/>
          <a:stretch/>
        </p:blipFill>
        <p:spPr>
          <a:xfrm>
            <a:off x="87418" y="1781176"/>
            <a:ext cx="5950641" cy="3322318"/>
          </a:xfrm>
          <a:prstGeom prst="roundRect">
            <a:avLst>
              <a:gd name="adj" fmla="val 2444"/>
            </a:avLst>
          </a:prstGeom>
        </p:spPr>
      </p:pic>
      <p:sp>
        <p:nvSpPr>
          <p:cNvPr id="6" name="Text 3"/>
          <p:cNvSpPr/>
          <p:nvPr/>
        </p:nvSpPr>
        <p:spPr>
          <a:xfrm>
            <a:off x="146033" y="5152874"/>
            <a:ext cx="5284724" cy="26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EEE3"/>
                </a:solidFill>
                <a:effectLst/>
                <a:uLnTx/>
                <a:uFillTx/>
                <a:latin typeface="Public Sans" pitchFamily="34" charset="0"/>
                <a:ea typeface="Public Sans" pitchFamily="34" charset="-122"/>
                <a:cs typeface="Public Sans" pitchFamily="34" charset="-120"/>
              </a:rPr>
              <a:t>Default view:</a:t>
            </a:r>
            <a:r>
              <a:rPr kumimoji="0" lang="en-US" sz="1400" b="0" i="0" u="none" strike="noStrike" kern="1200" cap="none" spc="0" normalizeH="0" baseline="0" noProof="0" dirty="0">
                <a:ln>
                  <a:noFill/>
                </a:ln>
                <a:solidFill>
                  <a:srgbClr val="CFC8BC"/>
                </a:solidFill>
                <a:effectLst/>
                <a:uLnTx/>
                <a:uFillTx/>
                <a:latin typeface="Public Sans" pitchFamily="34" charset="0"/>
                <a:ea typeface="Public Sans" pitchFamily="34" charset="-122"/>
                <a:cs typeface="Public Sans" pitchFamily="34" charset="-120"/>
              </a:rPr>
              <a:t> all 113 areas, every chart citywide</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pic>
        <p:nvPicPr>
          <p:cNvPr id="7" name="Image 1" descr="Dashboard after selecting the lower-income, high incident-rate legend square: 16 areas highlighted on the map, the details panel summarising the group, and the KPIs and charts filtered to those areas"/>
          <p:cNvPicPr>
            <a:picLocks noChangeAspect="1"/>
          </p:cNvPicPr>
          <p:nvPr/>
        </p:nvPicPr>
        <p:blipFill>
          <a:blip r:embed="rId4"/>
          <a:srcRect l="-348" r="-348"/>
          <a:stretch/>
        </p:blipFill>
        <p:spPr>
          <a:xfrm>
            <a:off x="6153943" y="1781176"/>
            <a:ext cx="5950641" cy="3322318"/>
          </a:xfrm>
          <a:prstGeom prst="roundRect">
            <a:avLst>
              <a:gd name="adj" fmla="val 2444"/>
            </a:avLst>
          </a:prstGeom>
        </p:spPr>
      </p:pic>
      <p:sp>
        <p:nvSpPr>
          <p:cNvPr id="9" name="Text 5"/>
          <p:cNvSpPr/>
          <p:nvPr/>
        </p:nvSpPr>
        <p:spPr>
          <a:xfrm>
            <a:off x="6248400" y="5169534"/>
            <a:ext cx="5284724" cy="505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EEE3"/>
                </a:solidFill>
                <a:effectLst/>
                <a:uLnTx/>
                <a:uFillTx/>
                <a:latin typeface="Public Sans" pitchFamily="34" charset="0"/>
                <a:ea typeface="Public Sans" pitchFamily="34" charset="-122"/>
                <a:cs typeface="Public Sans" pitchFamily="34" charset="-120"/>
              </a:rPr>
              <a:t>One click:</a:t>
            </a:r>
            <a:r>
              <a:rPr kumimoji="0" lang="en-US" sz="1400" b="0" i="0" u="none" strike="noStrike" kern="1200" cap="none" spc="0" normalizeH="0" baseline="0" noProof="0" dirty="0">
                <a:ln>
                  <a:noFill/>
                </a:ln>
                <a:solidFill>
                  <a:srgbClr val="CFC8BC"/>
                </a:solidFill>
                <a:effectLst/>
                <a:uLnTx/>
                <a:uFillTx/>
                <a:latin typeface="Public Sans" pitchFamily="34" charset="0"/>
                <a:ea typeface="Public Sans" pitchFamily="34" charset="-122"/>
                <a:cs typeface="Public Sans" pitchFamily="34" charset="-120"/>
              </a:rPr>
              <a:t> 16 lower-income, high-rate areas, at 2.7× the city rate</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
        <p:nvSpPr>
          <p:cNvPr id="10" name="Text 6"/>
          <p:cNvSpPr/>
          <p:nvPr/>
        </p:nvSpPr>
        <p:spPr>
          <a:xfrm>
            <a:off x="198787" y="6256652"/>
            <a:ext cx="10883392" cy="2743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sng" strike="noStrike" kern="1200" cap="none" spc="0" normalizeH="0" baseline="0" noProof="0" dirty="0">
                <a:ln>
                  <a:noFill/>
                </a:ln>
                <a:solidFill>
                  <a:srgbClr val="E39BBE"/>
                </a:solidFill>
                <a:effectLst/>
                <a:uLnTx/>
                <a:uFillTx/>
                <a:latin typeface="Public Sans" pitchFamily="34" charset="0"/>
                <a:ea typeface="Public Sans" pitchFamily="34" charset="-122"/>
                <a:cs typeface="Public Sans" pitchFamily="34" charset="-120"/>
                <a:hlinkClick r:id="rId5">
                  <a:extLst>
                    <a:ext uri="{A12FA001-AC4F-418D-AE19-62706E023703}">
                      <ahyp:hlinkClr xmlns:ahyp="http://schemas.microsoft.com/office/drawing/2018/hyperlinkcolor" val="tx"/>
                    </a:ext>
                  </a:extLst>
                </a:hlinkClick>
              </a:rPr>
              <a:t>Open the live report in Power BI</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Findings: where and who</a:t>
            </a:r>
            <a:endParaRPr lang="en-US" sz="3200" dirty="0"/>
          </a:p>
        </p:txBody>
      </p:sp>
      <p:pic>
        <p:nvPicPr>
          <p:cNvPr id="3" name="Image 0" descr="Bivariate map of Calgary’s 113 areas coloured by median income and local incident rate, with a 3×3 legend showing how many areas fall in each group"/>
          <p:cNvPicPr>
            <a:picLocks noChangeAspect="1"/>
          </p:cNvPicPr>
          <p:nvPr/>
        </p:nvPicPr>
        <p:blipFill>
          <a:blip r:embed="rId3"/>
          <a:stretch>
            <a:fillRect/>
          </a:stretch>
        </p:blipFill>
        <p:spPr>
          <a:xfrm>
            <a:off x="548640" y="1325880"/>
            <a:ext cx="4559831" cy="4892040"/>
          </a:xfrm>
          <a:prstGeom prst="rect">
            <a:avLst/>
          </a:prstGeom>
        </p:spPr>
      </p:pic>
      <p:sp>
        <p:nvSpPr>
          <p:cNvPr id="4" name="Text 1"/>
          <p:cNvSpPr txBox="1"/>
          <p:nvPr/>
        </p:nvSpPr>
        <p:spPr>
          <a:xfrm>
            <a:off x="5577840" y="1371600"/>
            <a:ext cx="283464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B4467E"/>
                </a:solidFill>
                <a:effectLst/>
                <a:uLnTx/>
                <a:uFillTx/>
                <a:latin typeface="Libre Baskerville" pitchFamily="34" charset="0"/>
                <a:ea typeface="Libre Baskerville" pitchFamily="34" charset="-122"/>
                <a:cs typeface="Libre Baskerville" pitchFamily="34" charset="-120"/>
              </a:rPr>
              <a:t>16</a:t>
            </a:r>
            <a:endParaRPr kumimoji="0" lang="en-US" sz="34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5" name="Text 2"/>
          <p:cNvSpPr txBox="1"/>
          <p:nvPr/>
        </p:nvSpPr>
        <p:spPr>
          <a:xfrm>
            <a:off x="5577840" y="2011680"/>
            <a:ext cx="28346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lower-income areas have high incident rates (pink)</a:t>
            </a:r>
            <a:endParaRPr kumimoji="0" lang="en-US" sz="1500" b="0" i="0" u="none" strike="noStrike" kern="1200" cap="none" spc="0" normalizeH="0" baseline="0" noProof="0" dirty="0">
              <a:ln>
                <a:noFill/>
              </a:ln>
              <a:solidFill>
                <a:prstClr val="black"/>
              </a:solidFill>
              <a:effectLst/>
              <a:uLnTx/>
              <a:uFillTx/>
              <a:ea typeface="+mn-ea"/>
              <a:cs typeface="+mn-cs"/>
            </a:endParaRPr>
          </a:p>
        </p:txBody>
      </p:sp>
      <p:sp>
        <p:nvSpPr>
          <p:cNvPr id="6" name="Text 3"/>
          <p:cNvSpPr txBox="1"/>
          <p:nvPr/>
        </p:nvSpPr>
        <p:spPr>
          <a:xfrm>
            <a:off x="8686800" y="1371600"/>
            <a:ext cx="283464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4E6596"/>
                </a:solidFill>
                <a:effectLst/>
                <a:uLnTx/>
                <a:uFillTx/>
                <a:latin typeface="Libre Baskerville" pitchFamily="34" charset="0"/>
                <a:ea typeface="Libre Baskerville" pitchFamily="34" charset="-122"/>
                <a:cs typeface="Libre Baskerville" pitchFamily="34" charset="-120"/>
              </a:rPr>
              <a:t>16</a:t>
            </a:r>
            <a:endParaRPr kumimoji="0" lang="en-US" sz="3400" b="0" i="0" u="none" strike="noStrike" kern="1200" cap="none" spc="0" normalizeH="0" baseline="0" noProof="0" dirty="0">
              <a:ln>
                <a:noFill/>
              </a:ln>
              <a:solidFill>
                <a:prstClr val="black"/>
              </a:solidFill>
              <a:effectLst/>
              <a:uLnTx/>
              <a:uFillTx/>
              <a:ea typeface="+mn-ea"/>
              <a:cs typeface="+mn-cs"/>
            </a:endParaRPr>
          </a:p>
        </p:txBody>
      </p:sp>
      <p:sp>
        <p:nvSpPr>
          <p:cNvPr id="7" name="Text 4"/>
          <p:cNvSpPr txBox="1"/>
          <p:nvPr/>
        </p:nvSpPr>
        <p:spPr>
          <a:xfrm>
            <a:off x="8686800" y="2011680"/>
            <a:ext cx="28346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higher-income areas have low incident rates (blue)</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8" name="Text 5"/>
          <p:cNvSpPr txBox="1"/>
          <p:nvPr/>
        </p:nvSpPr>
        <p:spPr>
          <a:xfrm>
            <a:off x="5577840" y="2697480"/>
            <a:ext cx="60350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B2B30"/>
                </a:solidFill>
                <a:effectLst/>
                <a:uLnTx/>
                <a:uFillTx/>
                <a:latin typeface="Public Sans" pitchFamily="34" charset="0"/>
                <a:ea typeface="Public Sans" pitchFamily="34" charset="-122"/>
                <a:cs typeface="Public Sans" pitchFamily="34" charset="-120"/>
              </a:rPr>
              <a:t>The two largest groups on the map are mirror images of </a:t>
            </a:r>
            <a:r>
              <a:rPr kumimoji="0" lang="en-US" sz="1500" b="1" i="0" u="none" strike="noStrike" kern="1200" cap="none" spc="0" normalizeH="0" baseline="0" noProof="0">
                <a:ln>
                  <a:noFill/>
                </a:ln>
                <a:solidFill>
                  <a:srgbClr val="2B2B30"/>
                </a:solidFill>
                <a:effectLst/>
                <a:uLnTx/>
                <a:uFillTx/>
                <a:latin typeface="Public Sans" pitchFamily="34" charset="0"/>
                <a:ea typeface="Public Sans" pitchFamily="34" charset="-122"/>
                <a:cs typeface="Public Sans" pitchFamily="34" charset="-120"/>
              </a:rPr>
              <a:t>each other.</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9" name="Text 6"/>
          <p:cNvSpPr txBox="1"/>
          <p:nvPr/>
        </p:nvSpPr>
        <p:spPr>
          <a:xfrm>
            <a:off x="5577840" y="3337560"/>
            <a:ext cx="6035040"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30"/>
                </a:solidFill>
                <a:effectLst/>
                <a:uLnTx/>
                <a:uFillTx/>
                <a:latin typeface="Libre Baskerville" pitchFamily="34" charset="0"/>
                <a:ea typeface="Libre Baskerville" pitchFamily="34" charset="-122"/>
                <a:cs typeface="Libre Baskerville" pitchFamily="34" charset="-120"/>
              </a:rPr>
              <a:t>East vs. west</a:t>
            </a:r>
            <a:endParaRPr kumimoji="0" lang="en-US" sz="26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0" name="Text 7"/>
          <p:cNvSpPr txBox="1"/>
          <p:nvPr/>
        </p:nvSpPr>
        <p:spPr>
          <a:xfrm>
            <a:off x="5577840" y="3840480"/>
            <a:ext cx="603504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Pink areas line the east side of the city; blue areas fill the west and south.</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1" name="Text 8"/>
          <p:cNvSpPr txBox="1"/>
          <p:nvPr/>
        </p:nvSpPr>
        <p:spPr>
          <a:xfrm>
            <a:off x="5577840" y="4526280"/>
            <a:ext cx="6035040"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A4A78"/>
                </a:solidFill>
                <a:effectLst/>
                <a:uLnTx/>
                <a:uFillTx/>
                <a:latin typeface="Libre Baskerville" pitchFamily="34" charset="0"/>
                <a:ea typeface="Libre Baskerville" pitchFamily="34" charset="-122"/>
                <a:cs typeface="Libre Baskerville" pitchFamily="34" charset="-120"/>
              </a:rPr>
              <a:t>11</a:t>
            </a:r>
            <a:endParaRPr kumimoji="0" lang="en-US" sz="26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2" name="Text 9"/>
          <p:cNvSpPr txBox="1"/>
          <p:nvPr/>
        </p:nvSpPr>
        <p:spPr>
          <a:xfrm>
            <a:off x="5577840" y="5029200"/>
            <a:ext cx="60350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higher-income areas still have high rates (dark purple), mostly in the city centre</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Findings: when</a:t>
            </a:r>
            <a:endParaRPr lang="en-US" sz="3200" dirty="0"/>
          </a:p>
        </p:txBody>
      </p:sp>
      <p:pic>
        <p:nvPicPr>
          <p:cNvPr id="3" name="Image 0" descr="Heatmap of incidents by day of week and hour, darkest on weekday afternoons from 3 to 6 PM"/>
          <p:cNvPicPr>
            <a:picLocks noChangeAspect="1"/>
          </p:cNvPicPr>
          <p:nvPr/>
        </p:nvPicPr>
        <p:blipFill>
          <a:blip r:embed="rId3"/>
          <a:stretch>
            <a:fillRect/>
          </a:stretch>
        </p:blipFill>
        <p:spPr>
          <a:xfrm>
            <a:off x="548640" y="1371600"/>
            <a:ext cx="5989320" cy="3190873"/>
          </a:xfrm>
          <a:prstGeom prst="rect">
            <a:avLst/>
          </a:prstGeom>
        </p:spPr>
      </p:pic>
      <p:pic>
        <p:nvPicPr>
          <p:cNvPr id="4" name="Image 1" descr="Column chart of incidents per 100,000 residents by month; September to February are above average, April is lowest"/>
          <p:cNvPicPr>
            <a:picLocks noChangeAspect="1"/>
          </p:cNvPicPr>
          <p:nvPr/>
        </p:nvPicPr>
        <p:blipFill>
          <a:blip r:embed="rId4"/>
          <a:stretch>
            <a:fillRect/>
          </a:stretch>
        </p:blipFill>
        <p:spPr>
          <a:xfrm>
            <a:off x="6888175" y="1371600"/>
            <a:ext cx="4754880" cy="3009699"/>
          </a:xfrm>
          <a:prstGeom prst="rect">
            <a:avLst/>
          </a:prstGeom>
        </p:spPr>
      </p:pic>
      <p:sp>
        <p:nvSpPr>
          <p:cNvPr id="5" name="Text 1"/>
          <p:cNvSpPr txBox="1"/>
          <p:nvPr/>
        </p:nvSpPr>
        <p:spPr>
          <a:xfrm>
            <a:off x="548640" y="4754880"/>
            <a:ext cx="5989320" cy="1097280"/>
          </a:xfrm>
          <a:prstGeom prst="rect">
            <a:avLst/>
          </a:prstGeom>
          <a:noFill/>
          <a:ln/>
        </p:spPr>
        <p:txBody>
          <a:bodyPr wrap="square" lIns="0" tIns="0" rIns="0" bIns="0" rtlCol="0" anchor="t"/>
          <a:lstStyle/>
          <a:p>
            <a:pPr marL="0" indent="0">
              <a:buNone/>
            </a:pPr>
            <a:r>
              <a:rPr lang="en-US" sz="1700" b="1" dirty="0">
                <a:solidFill>
                  <a:srgbClr val="2B2B30"/>
                </a:solidFill>
                <a:latin typeface="Public Sans" pitchFamily="34" charset="0"/>
                <a:ea typeface="Public Sans" pitchFamily="34" charset="-122"/>
                <a:cs typeface="Public Sans" pitchFamily="34" charset="-120"/>
              </a:rPr>
              <a:t>26% of incidents</a:t>
            </a:r>
            <a:r>
              <a:rPr lang="en-US" sz="1700" dirty="0">
                <a:solidFill>
                  <a:srgbClr val="4A4A52"/>
                </a:solidFill>
                <a:latin typeface="Public Sans" pitchFamily="34" charset="0"/>
                <a:ea typeface="Public Sans" pitchFamily="34" charset="-122"/>
                <a:cs typeface="Public Sans" pitchFamily="34" charset="-120"/>
              </a:rPr>
              <a:t> happen between 3 and 6 PM, peaking 5–6 PM. Sundays see about half of Wednesday’s total.</a:t>
            </a:r>
            <a:endParaRPr lang="en-US" sz="1700" dirty="0"/>
          </a:p>
        </p:txBody>
      </p:sp>
      <p:sp>
        <p:nvSpPr>
          <p:cNvPr id="6" name="Text 2"/>
          <p:cNvSpPr txBox="1"/>
          <p:nvPr/>
        </p:nvSpPr>
        <p:spPr>
          <a:xfrm>
            <a:off x="6888175" y="4754880"/>
            <a:ext cx="4754880" cy="1097280"/>
          </a:xfrm>
          <a:prstGeom prst="rect">
            <a:avLst/>
          </a:prstGeom>
          <a:noFill/>
          <a:ln/>
        </p:spPr>
        <p:txBody>
          <a:bodyPr wrap="square" lIns="0" tIns="0" rIns="0" bIns="0" rtlCol="0" anchor="t"/>
          <a:lstStyle/>
          <a:p>
            <a:pPr marL="0" indent="0">
              <a:buNone/>
            </a:pPr>
            <a:r>
              <a:rPr lang="en-US" sz="1700" b="1" dirty="0">
                <a:solidFill>
                  <a:srgbClr val="2B2B30"/>
                </a:solidFill>
                <a:latin typeface="Public Sans" pitchFamily="34" charset="0"/>
                <a:ea typeface="Public Sans" pitchFamily="34" charset="-122"/>
                <a:cs typeface="Public Sans" pitchFamily="34" charset="-120"/>
              </a:rPr>
              <a:t>December runs 1.6× April</a:t>
            </a:r>
            <a:r>
              <a:rPr lang="en-US" sz="1700" dirty="0">
                <a:solidFill>
                  <a:srgbClr val="4A4A52"/>
                </a:solidFill>
                <a:latin typeface="Public Sans" pitchFamily="34" charset="0"/>
                <a:ea typeface="Public Sans" pitchFamily="34" charset="-122"/>
                <a:cs typeface="Public Sans" pitchFamily="34" charset="-120"/>
              </a:rPr>
              <a:t> (55.5 vs. 35.0 per 100,000 residents a month). Fall and winter sit above average.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B30"/>
        </a:solidFill>
        <a:effectLst/>
      </p:bgPr>
    </p:bg>
    <p:spTree>
      <p:nvGrpSpPr>
        <p:cNvPr id="1" name=""/>
        <p:cNvGrpSpPr/>
        <p:nvPr/>
      </p:nvGrpSpPr>
      <p:grpSpPr>
        <a:xfrm>
          <a:off x="0" y="0"/>
          <a:ext cx="0" cy="0"/>
          <a:chOff x="0" y="0"/>
          <a:chExt cx="0" cy="0"/>
        </a:xfrm>
      </p:grpSpPr>
      <p:sp>
        <p:nvSpPr>
          <p:cNvPr id="2" name="Shape 0"/>
          <p:cNvSpPr/>
          <p:nvPr/>
        </p:nvSpPr>
        <p:spPr>
          <a:xfrm>
            <a:off x="8686800" y="1905000"/>
            <a:ext cx="863600" cy="863600"/>
          </a:xfrm>
          <a:prstGeom prst="rect">
            <a:avLst/>
          </a:prstGeom>
          <a:solidFill>
            <a:srgbClr val="D47BA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3" name="Shape 1"/>
          <p:cNvSpPr/>
          <p:nvPr/>
        </p:nvSpPr>
        <p:spPr>
          <a:xfrm>
            <a:off x="9601200" y="1905000"/>
            <a:ext cx="863600" cy="863600"/>
          </a:xfrm>
          <a:prstGeom prst="rect">
            <a:avLst/>
          </a:prstGeom>
          <a:solidFill>
            <a:srgbClr val="9E6B9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4" name="Shape 2"/>
          <p:cNvSpPr/>
          <p:nvPr/>
        </p:nvSpPr>
        <p:spPr>
          <a:xfrm>
            <a:off x="10515600" y="1905000"/>
            <a:ext cx="863600" cy="863600"/>
          </a:xfrm>
          <a:prstGeom prst="rect">
            <a:avLst/>
          </a:prstGeom>
          <a:solidFill>
            <a:srgbClr val="4A4A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5" name="Shape 3"/>
          <p:cNvSpPr/>
          <p:nvPr/>
        </p:nvSpPr>
        <p:spPr>
          <a:xfrm>
            <a:off x="8686800" y="2819400"/>
            <a:ext cx="863600" cy="863600"/>
          </a:xfrm>
          <a:prstGeom prst="rect">
            <a:avLst/>
          </a:prstGeom>
          <a:solidFill>
            <a:srgbClr val="DBB7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6" name="Shape 4"/>
          <p:cNvSpPr/>
          <p:nvPr/>
        </p:nvSpPr>
        <p:spPr>
          <a:xfrm>
            <a:off x="9601200" y="2819400"/>
            <a:ext cx="863600" cy="863600"/>
          </a:xfrm>
          <a:prstGeom prst="rect">
            <a:avLst/>
          </a:prstGeom>
          <a:solidFill>
            <a:srgbClr val="A3A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7" name="Shape 5"/>
          <p:cNvSpPr/>
          <p:nvPr/>
        </p:nvSpPr>
        <p:spPr>
          <a:xfrm>
            <a:off x="10515600" y="2819400"/>
            <a:ext cx="863600" cy="863600"/>
          </a:xfrm>
          <a:prstGeom prst="rect">
            <a:avLst/>
          </a:prstGeom>
          <a:solidFill>
            <a:srgbClr val="56709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8" name="Shape 6"/>
          <p:cNvSpPr/>
          <p:nvPr/>
        </p:nvSpPr>
        <p:spPr>
          <a:xfrm>
            <a:off x="8686800" y="3733800"/>
            <a:ext cx="863600" cy="863600"/>
          </a:xfrm>
          <a:prstGeom prst="rect">
            <a:avLst/>
          </a:prstGeom>
          <a:solidFill>
            <a:srgbClr val="EAE1D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9" name="Shape 7"/>
          <p:cNvSpPr/>
          <p:nvPr/>
        </p:nvSpPr>
        <p:spPr>
          <a:xfrm>
            <a:off x="9601200" y="3733800"/>
            <a:ext cx="863600" cy="863600"/>
          </a:xfrm>
          <a:prstGeom prst="rect">
            <a:avLst/>
          </a:prstGeom>
          <a:solidFill>
            <a:srgbClr val="B5C0D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10" name="Shape 8"/>
          <p:cNvSpPr/>
          <p:nvPr/>
        </p:nvSpPr>
        <p:spPr>
          <a:xfrm>
            <a:off x="10515600" y="3733800"/>
            <a:ext cx="863600" cy="863600"/>
          </a:xfrm>
          <a:prstGeom prst="rect">
            <a:avLst/>
          </a:prstGeom>
          <a:solidFill>
            <a:srgbClr val="6C83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11" name="Text 9"/>
          <p:cNvSpPr>
            <a:spLocks noGrp="1"/>
          </p:cNvSpPr>
          <p:nvPr>
            <p:ph type="title"/>
          </p:nvPr>
        </p:nvSpPr>
        <p:spPr>
          <a:xfrm>
            <a:off x="812800" y="2771142"/>
            <a:ext cx="7194550"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EEE3"/>
                </a:solidFill>
                <a:latin typeface="Libre Baskerville" pitchFamily="18" charset="0"/>
                <a:ea typeface="Libre Baskerville" pitchFamily="18" charset="-122"/>
                <a:cs typeface="Libre Baskerville" pitchFamily="18" charset="-120"/>
              </a:rPr>
              <a:t>Thank you</a:t>
            </a:r>
            <a:endParaRPr lang="en-US" sz="4800" dirty="0"/>
          </a:p>
        </p:txBody>
      </p:sp>
      <p:sp>
        <p:nvSpPr>
          <p:cNvPr id="12" name="Text 10"/>
          <p:cNvSpPr/>
          <p:nvPr/>
        </p:nvSpPr>
        <p:spPr>
          <a:xfrm>
            <a:off x="812800" y="3695700"/>
            <a:ext cx="7194550" cy="416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08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E39BBE"/>
                </a:solidFill>
                <a:effectLst/>
                <a:uLnTx/>
                <a:uFillTx/>
                <a:latin typeface="Public Sans" pitchFamily="34" charset="0"/>
                <a:ea typeface="Public Sans" pitchFamily="34" charset="-122"/>
                <a:cs typeface="Public Sans" pitchFamily="34" charset="-120"/>
              </a:rPr>
              <a:t>Questions?</a:t>
            </a:r>
            <a:endParaRPr kumimoji="0" lang="en-US" sz="2200" b="0" i="0" u="none" strike="noStrike" kern="1200" cap="none" spc="0" normalizeH="0" baseline="0" noProof="0" dirty="0">
              <a:ln>
                <a:noFill/>
              </a:ln>
              <a:solidFill>
                <a:srgbClr val="2B2B30"/>
              </a:solidFill>
              <a:effectLst/>
              <a:uLnTx/>
              <a:uFillTx/>
              <a:ea typeface="+mn-ea"/>
              <a:cs typeface="+mn-cs"/>
            </a:endParaRPr>
          </a:p>
        </p:txBody>
      </p:sp>
      <p:sp>
        <p:nvSpPr>
          <p:cNvPr id="13" name="Text 11"/>
          <p:cNvSpPr/>
          <p:nvPr/>
        </p:nvSpPr>
        <p:spPr>
          <a:xfrm>
            <a:off x="812800" y="5999479"/>
            <a:ext cx="7194550" cy="2743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lgary Traffic Incidents – Project Showcase">
  <a:themeElements>
    <a:clrScheme name="Calgary Traffic Incidents – Project Showcase">
      <a:dk1>
        <a:srgbClr val="2B2B30"/>
      </a:dk1>
      <a:lt1>
        <a:srgbClr val="F4EEE3"/>
      </a:lt1>
      <a:dk2>
        <a:srgbClr val="5D5C5D"/>
      </a:dk2>
      <a:lt2>
        <a:srgbClr val="E0DBD1"/>
      </a:lt2>
      <a:accent1>
        <a:srgbClr val="A63E74"/>
      </a:accent1>
      <a:accent2>
        <a:srgbClr val="E39BBE"/>
      </a:accent2>
      <a:accent3>
        <a:srgbClr val="4E6596"/>
      </a:accent3>
      <a:accent4>
        <a:srgbClr val="D47BA3"/>
      </a:accent4>
      <a:accent5>
        <a:srgbClr val="9E6B92"/>
      </a:accent5>
      <a:accent6>
        <a:srgbClr val="4A4A78"/>
      </a:accent6>
      <a:hlink>
        <a:srgbClr val="0563C1"/>
      </a:hlink>
      <a:folHlink>
        <a:srgbClr val="954F72"/>
      </a:folHlink>
    </a:clrScheme>
    <a:fontScheme name="Calgary Traffic Incidents – Project Showcas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1603</Words>
  <Application>Microsoft Macintosh PowerPoint</Application>
  <PresentationFormat>Widescreen</PresentationFormat>
  <Paragraphs>100</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Aptos</vt:lpstr>
      <vt:lpstr>Arial</vt:lpstr>
      <vt:lpstr>Libre Baskerville</vt:lpstr>
      <vt:lpstr>Public Sans</vt:lpstr>
      <vt:lpstr>Office Theme</vt:lpstr>
      <vt:lpstr>Calgary Traffic Incidents – Project Showcase</vt:lpstr>
      <vt:lpstr>PowerPoint Presentation</vt:lpstr>
      <vt:lpstr>Project overview</vt:lpstr>
      <vt:lpstr>Analysis questions</vt:lpstr>
      <vt:lpstr>Datasets obtained</vt:lpstr>
      <vt:lpstr>Data wrangling and cleaning</vt:lpstr>
      <vt:lpstr>The dashboard so far</vt:lpstr>
      <vt:lpstr>Findings: where and who</vt:lpstr>
      <vt:lpstr>Findings: when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Calgary Traffic Incidents – Midpoint Report</dc:title>
  <dc:subject>PptxGenJS Presentation</dc:subject>
  <dc:creator>Adrian Julve</dc:creator>
  <cp:lastModifiedBy>Adrian JULVE</cp:lastModifiedBy>
  <cp:revision>10</cp:revision>
  <dcterms:created xsi:type="dcterms:W3CDTF">2026-10-19T04:03:27Z</dcterms:created>
  <dcterms:modified xsi:type="dcterms:W3CDTF">2026-10-20T20:19:46Z</dcterms:modified>
</cp:coreProperties>
</file>