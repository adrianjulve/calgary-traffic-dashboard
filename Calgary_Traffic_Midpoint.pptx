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5"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5"/>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 JULVE" userId="f82b89f4-12eb-4305-aed1-96361a4291e8" providerId="ADAL" clId="{8EB18070-9C82-4FD4-B7E0-EC823B03F851}"/>
    <pc:docChg chg="undo custSel addSld delSld modSld modSection">
      <pc:chgData name="Adrian JULVE" userId="f82b89f4-12eb-4305-aed1-96361a4291e8" providerId="ADAL" clId="{8EB18070-9C82-4FD4-B7E0-EC823B03F851}" dt="2026-10-20T02:50:30.364" v="159" actId="20577"/>
      <pc:docMkLst>
        <pc:docMk/>
      </pc:docMkLst>
      <pc:sldChg chg="modSp mod">
        <pc:chgData name="Adrian JULVE" userId="f82b89f4-12eb-4305-aed1-96361a4291e8" providerId="ADAL" clId="{8EB18070-9C82-4FD4-B7E0-EC823B03F851}" dt="2026-10-20T02:42:45.986" v="115" actId="20577"/>
        <pc:sldMkLst>
          <pc:docMk/>
          <pc:sldMk cId="0" sldId="256"/>
        </pc:sldMkLst>
        <pc:spChg chg="mod">
          <ac:chgData name="Adrian JULVE" userId="f82b89f4-12eb-4305-aed1-96361a4291e8" providerId="ADAL" clId="{8EB18070-9C82-4FD4-B7E0-EC823B03F851}" dt="2026-10-20T02:42:45.986" v="115" actId="20577"/>
          <ac:spMkLst>
            <pc:docMk/>
            <pc:sldMk cId="0" sldId="256"/>
            <ac:spMk id="14" creationId="{00000000-0000-0000-0000-000000000000}"/>
          </ac:spMkLst>
        </pc:spChg>
      </pc:sldChg>
      <pc:sldChg chg="modSp mod">
        <pc:chgData name="Adrian JULVE" userId="f82b89f4-12eb-4305-aed1-96361a4291e8" providerId="ADAL" clId="{8EB18070-9C82-4FD4-B7E0-EC823B03F851}" dt="2026-10-20T02:23:51.385" v="5" actId="20577"/>
        <pc:sldMkLst>
          <pc:docMk/>
          <pc:sldMk cId="0" sldId="259"/>
        </pc:sldMkLst>
        <pc:graphicFrameChg chg="modGraphic">
          <ac:chgData name="Adrian JULVE" userId="f82b89f4-12eb-4305-aed1-96361a4291e8" providerId="ADAL" clId="{8EB18070-9C82-4FD4-B7E0-EC823B03F851}" dt="2026-10-20T02:23:51.385" v="5" actId="20577"/>
          <ac:graphicFrameMkLst>
            <pc:docMk/>
            <pc:sldMk cId="0" sldId="259"/>
            <ac:graphicFrameMk id="5" creationId="{00000000-0000-0000-0000-000000000000}"/>
          </ac:graphicFrameMkLst>
        </pc:graphicFrameChg>
      </pc:sldChg>
      <pc:sldChg chg="del">
        <pc:chgData name="Adrian JULVE" userId="f82b89f4-12eb-4305-aed1-96361a4291e8" providerId="ADAL" clId="{8EB18070-9C82-4FD4-B7E0-EC823B03F851}" dt="2026-10-20T02:28:55.340" v="7" actId="2696"/>
        <pc:sldMkLst>
          <pc:docMk/>
          <pc:sldMk cId="0" sldId="260"/>
        </pc:sldMkLst>
      </pc:sldChg>
      <pc:sldChg chg="del">
        <pc:chgData name="Adrian JULVE" userId="f82b89f4-12eb-4305-aed1-96361a4291e8" providerId="ADAL" clId="{8EB18070-9C82-4FD4-B7E0-EC823B03F851}" dt="2026-10-20T02:43:35.697" v="130" actId="2696"/>
        <pc:sldMkLst>
          <pc:docMk/>
          <pc:sldMk cId="0" sldId="261"/>
        </pc:sldMkLst>
      </pc:sldChg>
      <pc:sldChg chg="modSp del mod">
        <pc:chgData name="Adrian JULVE" userId="f82b89f4-12eb-4305-aed1-96361a4291e8" providerId="ADAL" clId="{8EB18070-9C82-4FD4-B7E0-EC823B03F851}" dt="2026-10-20T02:50:22.823" v="155" actId="2696"/>
        <pc:sldMkLst>
          <pc:docMk/>
          <pc:sldMk cId="0" sldId="262"/>
        </pc:sldMkLst>
        <pc:spChg chg="mod">
          <ac:chgData name="Adrian JULVE" userId="f82b89f4-12eb-4305-aed1-96361a4291e8" providerId="ADAL" clId="{8EB18070-9C82-4FD4-B7E0-EC823B03F851}" dt="2026-10-20T02:45:29.640" v="153" actId="207"/>
          <ac:spMkLst>
            <pc:docMk/>
            <pc:sldMk cId="0" sldId="262"/>
            <ac:spMk id="8" creationId="{00000000-0000-0000-0000-000000000000}"/>
          </ac:spMkLst>
        </pc:spChg>
      </pc:sldChg>
      <pc:sldChg chg="addSp delSp mod">
        <pc:chgData name="Adrian JULVE" userId="f82b89f4-12eb-4305-aed1-96361a4291e8" providerId="ADAL" clId="{8EB18070-9C82-4FD4-B7E0-EC823B03F851}" dt="2026-10-20T02:41:21.020" v="77" actId="22"/>
        <pc:sldMkLst>
          <pc:docMk/>
          <pc:sldMk cId="0" sldId="263"/>
        </pc:sldMkLst>
        <pc:spChg chg="add del">
          <ac:chgData name="Adrian JULVE" userId="f82b89f4-12eb-4305-aed1-96361a4291e8" providerId="ADAL" clId="{8EB18070-9C82-4FD4-B7E0-EC823B03F851}" dt="2026-10-20T02:41:21.020" v="77" actId="22"/>
          <ac:spMkLst>
            <pc:docMk/>
            <pc:sldMk cId="0" sldId="263"/>
            <ac:spMk id="8" creationId="{D06B2601-7377-F556-DB7A-21DF2EDFACF3}"/>
          </ac:spMkLst>
        </pc:spChg>
      </pc:sldChg>
      <pc:sldChg chg="del">
        <pc:chgData name="Adrian JULVE" userId="f82b89f4-12eb-4305-aed1-96361a4291e8" providerId="ADAL" clId="{8EB18070-9C82-4FD4-B7E0-EC823B03F851}" dt="2026-10-20T02:41:08.655" v="75" actId="2696"/>
        <pc:sldMkLst>
          <pc:docMk/>
          <pc:sldMk cId="0" sldId="264"/>
        </pc:sldMkLst>
      </pc:sldChg>
      <pc:sldChg chg="addSp delSp modSp add mod">
        <pc:chgData name="Adrian JULVE" userId="f82b89f4-12eb-4305-aed1-96361a4291e8" providerId="ADAL" clId="{8EB18070-9C82-4FD4-B7E0-EC823B03F851}" dt="2026-10-20T02:39:17.137" v="74" actId="207"/>
        <pc:sldMkLst>
          <pc:docMk/>
          <pc:sldMk cId="0" sldId="265"/>
        </pc:sldMkLst>
        <pc:spChg chg="mod">
          <ac:chgData name="Adrian JULVE" userId="f82b89f4-12eb-4305-aed1-96361a4291e8" providerId="ADAL" clId="{8EB18070-9C82-4FD4-B7E0-EC823B03F851}" dt="2026-10-20T02:39:17.137" v="74" actId="207"/>
          <ac:spMkLst>
            <pc:docMk/>
            <pc:sldMk cId="0" sldId="265"/>
            <ac:spMk id="7" creationId="{00000000-0000-0000-0000-000000000000}"/>
          </ac:spMkLst>
        </pc:spChg>
        <pc:spChg chg="add del">
          <ac:chgData name="Adrian JULVE" userId="f82b89f4-12eb-4305-aed1-96361a4291e8" providerId="ADAL" clId="{8EB18070-9C82-4FD4-B7E0-EC823B03F851}" dt="2026-10-20T02:38:27.239" v="67" actId="22"/>
          <ac:spMkLst>
            <pc:docMk/>
            <pc:sldMk cId="0" sldId="265"/>
            <ac:spMk id="34" creationId="{53BA30C6-B5F8-FC02-4601-642D46C0E875}"/>
          </ac:spMkLst>
        </pc:spChg>
        <pc:spChg chg="add del">
          <ac:chgData name="Adrian JULVE" userId="f82b89f4-12eb-4305-aed1-96361a4291e8" providerId="ADAL" clId="{8EB18070-9C82-4FD4-B7E0-EC823B03F851}" dt="2026-10-20T02:38:32.024" v="69" actId="22"/>
          <ac:spMkLst>
            <pc:docMk/>
            <pc:sldMk cId="0" sldId="265"/>
            <ac:spMk id="36" creationId="{A38438A4-4451-46B4-9A52-30E2E7861E14}"/>
          </ac:spMkLst>
        </pc:spChg>
      </pc:sldChg>
      <pc:sldChg chg="new del">
        <pc:chgData name="Adrian JULVE" userId="f82b89f4-12eb-4305-aed1-96361a4291e8" providerId="ADAL" clId="{8EB18070-9C82-4FD4-B7E0-EC823B03F851}" dt="2026-10-20T02:42:08.948" v="82" actId="2696"/>
        <pc:sldMkLst>
          <pc:docMk/>
          <pc:sldMk cId="2913478996" sldId="266"/>
        </pc:sldMkLst>
      </pc:sldChg>
      <pc:sldChg chg="modSp add del mod setBg">
        <pc:chgData name="Adrian JULVE" userId="f82b89f4-12eb-4305-aed1-96361a4291e8" providerId="ADAL" clId="{8EB18070-9C82-4FD4-B7E0-EC823B03F851}" dt="2026-10-20T02:42:18.465" v="90" actId="20577"/>
        <pc:sldMkLst>
          <pc:docMk/>
          <pc:sldMk cId="0" sldId="268"/>
        </pc:sldMkLst>
        <pc:spChg chg="mod">
          <ac:chgData name="Adrian JULVE" userId="f82b89f4-12eb-4305-aed1-96361a4291e8" providerId="ADAL" clId="{8EB18070-9C82-4FD4-B7E0-EC823B03F851}" dt="2026-10-20T02:42:18.465" v="90" actId="20577"/>
          <ac:spMkLst>
            <pc:docMk/>
            <pc:sldMk cId="0" sldId="268"/>
            <ac:spMk id="13" creationId="{00000000-0000-0000-0000-000000000000}"/>
          </ac:spMkLst>
        </pc:spChg>
      </pc:sldChg>
      <pc:sldChg chg="modSp add mod modShow">
        <pc:chgData name="Adrian JULVE" userId="f82b89f4-12eb-4305-aed1-96361a4291e8" providerId="ADAL" clId="{8EB18070-9C82-4FD4-B7E0-EC823B03F851}" dt="2026-10-20T02:43:29.843" v="129" actId="20577"/>
        <pc:sldMkLst>
          <pc:docMk/>
          <pc:sldMk cId="0" sldId="269"/>
        </pc:sldMkLst>
        <pc:spChg chg="mod">
          <ac:chgData name="Adrian JULVE" userId="f82b89f4-12eb-4305-aed1-96361a4291e8" providerId="ADAL" clId="{8EB18070-9C82-4FD4-B7E0-EC823B03F851}" dt="2026-10-20T02:43:29.843" v="129" actId="20577"/>
          <ac:spMkLst>
            <pc:docMk/>
            <pc:sldMk cId="0" sldId="269"/>
            <ac:spMk id="3" creationId="{00000000-0000-0000-0000-000000000000}"/>
          </ac:spMkLst>
        </pc:spChg>
      </pc:sldChg>
      <pc:sldChg chg="modSp add mod">
        <pc:chgData name="Adrian JULVE" userId="f82b89f4-12eb-4305-aed1-96361a4291e8" providerId="ADAL" clId="{8EB18070-9C82-4FD4-B7E0-EC823B03F851}" dt="2026-10-20T02:50:30.364" v="159" actId="20577"/>
        <pc:sldMkLst>
          <pc:docMk/>
          <pc:sldMk cId="0" sldId="270"/>
        </pc:sldMkLst>
        <pc:spChg chg="mod">
          <ac:chgData name="Adrian JULVE" userId="f82b89f4-12eb-4305-aed1-96361a4291e8" providerId="ADAL" clId="{8EB18070-9C82-4FD4-B7E0-EC823B03F851}" dt="2026-10-20T02:50:30.364" v="159" actId="20577"/>
          <ac:spMkLst>
            <pc:docMk/>
            <pc:sldMk cId="0" sldId="270"/>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prepared the data. First, each incident only had a map point, so I used Python to read every area’s boundary outline and check which outline contains each point. This is called a point-in-polygon test. 785 incidents fall outside every area and stay unassigned. Second, the census file had one row per measure, so I reshaped it to one row per area and cleaned up the number formats. Third, I set each incident’s type from keywords in its description and flagged highway incidents by street name. Fourth, I filtered to the nine complete years, which leaves 58,536 incidents. Fifth, to compare areas fairly, I divided each area’s incidents by its population and the nine years, using only local roads in residential communities. Finally, I wrote DAX measures that power the dashboard: each selection’s rate compared with the city average, the busiest hour, a monthly rate that adjusts for missing data, and the correlations between neighbourhood traits and incident 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PROJECT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pPr marL="0" indent="0">
              <a:buNone/>
            </a:pPr>
            <a:r>
              <a:rPr lang="en-US" sz="1400" dirty="0">
                <a:solidFill>
                  <a:srgbClr val="C9C7CF"/>
                </a:solidFill>
                <a:latin typeface="Public Sans" pitchFamily="34" charset="0"/>
                <a:ea typeface="Public Sans" pitchFamily="34" charset="-122"/>
                <a:cs typeface="Public Sans" pitchFamily="34" charset="-120"/>
              </a:rPr>
              <a:t>Adrian </a:t>
            </a:r>
            <a:r>
              <a:rPr lang="en-US" sz="1400" dirty="0" err="1">
                <a:solidFill>
                  <a:srgbClr val="C9C7CF"/>
                </a:solidFill>
                <a:latin typeface="Public Sans" pitchFamily="34" charset="0"/>
                <a:ea typeface="Public Sans" pitchFamily="34" charset="-122"/>
                <a:cs typeface="Public Sans" pitchFamily="34" charset="-120"/>
              </a:rPr>
              <a:t>Julve</a:t>
            </a:r>
            <a:r>
              <a:rPr lang="en-US" sz="1400" dirty="0">
                <a:solidFill>
                  <a:srgbClr val="C9C7CF"/>
                </a:solidFill>
                <a:latin typeface="Public Sans" pitchFamily="34" charset="0"/>
                <a:ea typeface="Public Sans" pitchFamily="34" charset="-122"/>
                <a:cs typeface="Public Sans" pitchFamily="34" charset="-120"/>
              </a:rPr>
              <a:t>, Kein </a:t>
            </a:r>
            <a:r>
              <a:rPr lang="en-US" sz="1400" dirty="0" err="1">
                <a:solidFill>
                  <a:srgbClr val="C9C7CF"/>
                </a:solidFill>
                <a:latin typeface="Public Sans" pitchFamily="34" charset="0"/>
                <a:ea typeface="Public Sans" pitchFamily="34" charset="-122"/>
                <a:cs typeface="Public Sans" pitchFamily="34" charset="-120"/>
              </a:rPr>
              <a:t>Ritarita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 wrangling and cleaning</a:t>
            </a:r>
            <a:endParaRPr lang="en-US" sz="3200" dirty="0"/>
          </a:p>
        </p:txBody>
      </p:sp>
      <p:sp>
        <p:nvSpPr>
          <p:cNvPr id="3" name="step_card_0"/>
          <p:cNvSpPr/>
          <p:nvPr/>
        </p:nvSpPr>
        <p:spPr>
          <a:xfrm>
            <a:off x="548640"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4" name="step_num_0"/>
          <p:cNvSpPr/>
          <p:nvPr/>
        </p:nvSpPr>
        <p:spPr>
          <a:xfrm>
            <a:off x="777240"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6" name="Text 4"/>
          <p:cNvSpPr txBox="1"/>
          <p:nvPr/>
        </p:nvSpPr>
        <p:spPr>
          <a:xfrm>
            <a:off x="1280160"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Located each incident</a:t>
            </a:r>
            <a:endParaRPr lang="en-US" sz="1700" dirty="0"/>
          </a:p>
        </p:txBody>
      </p:sp>
      <p:sp>
        <p:nvSpPr>
          <p:cNvPr id="7" name="Text 5"/>
          <p:cNvSpPr txBox="1"/>
          <p:nvPr/>
        </p:nvSpPr>
        <p:spPr>
          <a:xfrm>
            <a:off x="777240" y="2103120"/>
            <a:ext cx="3054096" cy="1463040"/>
          </a:xfrm>
          <a:prstGeom prst="rect">
            <a:avLst/>
          </a:prstGeom>
          <a:noFill/>
          <a:ln/>
        </p:spPr>
        <p:txBody>
          <a:bodyPr wrap="square" lIns="0" tIns="0" rIns="0" bIns="0" rtlCol="0" anchor="t"/>
          <a:lstStyle/>
          <a:p>
            <a:r>
              <a:rPr lang="en-CA" sz="1400" dirty="0">
                <a:solidFill>
                  <a:schemeClr val="tx1">
                    <a:lumMod val="75000"/>
                    <a:lumOff val="25000"/>
                  </a:schemeClr>
                </a:solidFill>
              </a:rPr>
              <a:t>Used </a:t>
            </a:r>
            <a:r>
              <a:rPr lang="en-CA" sz="1400" dirty="0" err="1">
                <a:solidFill>
                  <a:schemeClr val="tx1">
                    <a:lumMod val="75000"/>
                    <a:lumOff val="25000"/>
                  </a:schemeClr>
                </a:solidFill>
              </a:rPr>
              <a:t>GeoPandas</a:t>
            </a:r>
            <a:r>
              <a:rPr lang="en-CA" sz="1400" dirty="0">
                <a:solidFill>
                  <a:schemeClr val="tx1">
                    <a:lumMod val="75000"/>
                    <a:lumOff val="25000"/>
                  </a:schemeClr>
                </a:solidFill>
              </a:rPr>
              <a:t> in Python to read each area’s boundary outline and check which one contains each incident’s map point. 785 fall outside every area. The outlines also became the Shape Map.</a:t>
            </a:r>
            <a:endParaRPr lang="en-US" sz="1400" dirty="0">
              <a:solidFill>
                <a:schemeClr val="tx1">
                  <a:lumMod val="75000"/>
                  <a:lumOff val="25000"/>
                </a:schemeClr>
              </a:solidFill>
            </a:endParaRPr>
          </a:p>
        </p:txBody>
      </p:sp>
      <p:sp>
        <p:nvSpPr>
          <p:cNvPr id="8" name="step_card_1"/>
          <p:cNvSpPr/>
          <p:nvPr/>
        </p:nvSpPr>
        <p:spPr>
          <a:xfrm>
            <a:off x="4338828"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9" name="step_num_1"/>
          <p:cNvSpPr/>
          <p:nvPr/>
        </p:nvSpPr>
        <p:spPr>
          <a:xfrm>
            <a:off x="4567428"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0" name="Text 8"/>
          <p:cNvSpPr txBox="1"/>
          <p:nvPr/>
        </p:nvSpPr>
        <p:spPr>
          <a:xfrm>
            <a:off x="4567428"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9"/>
          <p:cNvSpPr txBox="1"/>
          <p:nvPr/>
        </p:nvSpPr>
        <p:spPr>
          <a:xfrm>
            <a:off x="5070348"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Tidied the census data</a:t>
            </a:r>
            <a:endParaRPr lang="en-US" sz="1700" dirty="0"/>
          </a:p>
        </p:txBody>
      </p:sp>
      <p:sp>
        <p:nvSpPr>
          <p:cNvPr id="12" name="Text 10"/>
          <p:cNvSpPr txBox="1"/>
          <p:nvPr/>
        </p:nvSpPr>
        <p:spPr>
          <a:xfrm>
            <a:off x="4567428"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Reshaped the file from one row per measure into one row per area, removed commas from numbers and stored percentages as decimals.</a:t>
            </a:r>
            <a:endParaRPr lang="en-US" sz="1400" dirty="0"/>
          </a:p>
        </p:txBody>
      </p:sp>
      <p:sp>
        <p:nvSpPr>
          <p:cNvPr id="13" name="step_card_2"/>
          <p:cNvSpPr/>
          <p:nvPr/>
        </p:nvSpPr>
        <p:spPr>
          <a:xfrm>
            <a:off x="8129016"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4" name="step_num_2"/>
          <p:cNvSpPr/>
          <p:nvPr/>
        </p:nvSpPr>
        <p:spPr>
          <a:xfrm>
            <a:off x="8357616"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5" name="Text 13"/>
          <p:cNvSpPr txBox="1"/>
          <p:nvPr/>
        </p:nvSpPr>
        <p:spPr>
          <a:xfrm>
            <a:off x="8357616"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6" name="Text 14"/>
          <p:cNvSpPr txBox="1"/>
          <p:nvPr/>
        </p:nvSpPr>
        <p:spPr>
          <a:xfrm>
            <a:off x="8860536"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Sorted incidents</a:t>
            </a:r>
            <a:endParaRPr lang="en-US" sz="1700" dirty="0"/>
          </a:p>
        </p:txBody>
      </p:sp>
      <p:sp>
        <p:nvSpPr>
          <p:cNvPr id="17" name="Text 15"/>
          <p:cNvSpPr txBox="1"/>
          <p:nvPr/>
        </p:nvSpPr>
        <p:spPr>
          <a:xfrm>
            <a:off x="8357616"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Set each incident’s type from keywords in its description, and flagged highway incidents by street name, such as Deerfoot and Glenmore.</a:t>
            </a:r>
            <a:endParaRPr lang="en-US" sz="1400" dirty="0"/>
          </a:p>
        </p:txBody>
      </p:sp>
      <p:sp>
        <p:nvSpPr>
          <p:cNvPr id="18" name="step_card_3"/>
          <p:cNvSpPr/>
          <p:nvPr/>
        </p:nvSpPr>
        <p:spPr>
          <a:xfrm>
            <a:off x="548640"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9" name="step_num_3"/>
          <p:cNvSpPr/>
          <p:nvPr/>
        </p:nvSpPr>
        <p:spPr>
          <a:xfrm>
            <a:off x="777240"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0" name="Text 18"/>
          <p:cNvSpPr txBox="1"/>
          <p:nvPr/>
        </p:nvSpPr>
        <p:spPr>
          <a:xfrm>
            <a:off x="7772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21" name="Text 19"/>
          <p:cNvSpPr txBox="1"/>
          <p:nvPr/>
        </p:nvSpPr>
        <p:spPr>
          <a:xfrm>
            <a:off x="1280160"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Kept full years</a:t>
            </a:r>
            <a:endParaRPr lang="en-US" sz="1700" dirty="0"/>
          </a:p>
        </p:txBody>
      </p:sp>
      <p:sp>
        <p:nvSpPr>
          <p:cNvPr id="22" name="Text 20"/>
          <p:cNvSpPr txBox="1"/>
          <p:nvPr/>
        </p:nvSpPr>
        <p:spPr>
          <a:xfrm>
            <a:off x="777240"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Filtered to 2017–2025 in Power Query, dropping partial 2016 and 2026 data. 58,536 incidents remain; months with missing records are noted.</a:t>
            </a:r>
            <a:endParaRPr lang="en-US" sz="1400" dirty="0"/>
          </a:p>
        </p:txBody>
      </p:sp>
      <p:sp>
        <p:nvSpPr>
          <p:cNvPr id="23" name="step_card_4"/>
          <p:cNvSpPr/>
          <p:nvPr/>
        </p:nvSpPr>
        <p:spPr>
          <a:xfrm>
            <a:off x="4338828"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4" name="step_num_4"/>
          <p:cNvSpPr/>
          <p:nvPr/>
        </p:nvSpPr>
        <p:spPr>
          <a:xfrm>
            <a:off x="4567428"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5" name="Text 23"/>
          <p:cNvSpPr txBox="1"/>
          <p:nvPr/>
        </p:nvSpPr>
        <p:spPr>
          <a:xfrm>
            <a:off x="4567428"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6" name="Text 24"/>
          <p:cNvSpPr txBox="1"/>
          <p:nvPr/>
        </p:nvSpPr>
        <p:spPr>
          <a:xfrm>
            <a:off x="5070348"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Made areas comparable</a:t>
            </a:r>
            <a:endParaRPr lang="en-US" sz="1700" dirty="0"/>
          </a:p>
        </p:txBody>
      </p:sp>
      <p:sp>
        <p:nvSpPr>
          <p:cNvPr id="27" name="Text 25"/>
          <p:cNvSpPr txBox="1"/>
          <p:nvPr/>
        </p:nvSpPr>
        <p:spPr>
          <a:xfrm>
            <a:off x="4567428"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Divided each area’s incidents by its 2021 population and nine years, counting only local roads in residential communities.</a:t>
            </a:r>
            <a:endParaRPr lang="en-US" sz="1400" dirty="0"/>
          </a:p>
        </p:txBody>
      </p:sp>
      <p:sp>
        <p:nvSpPr>
          <p:cNvPr id="28" name="step_card_5"/>
          <p:cNvSpPr/>
          <p:nvPr/>
        </p:nvSpPr>
        <p:spPr>
          <a:xfrm>
            <a:off x="8129016"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9" name="step_num_5"/>
          <p:cNvSpPr/>
          <p:nvPr/>
        </p:nvSpPr>
        <p:spPr>
          <a:xfrm>
            <a:off x="8357616"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30" name="Text 28"/>
          <p:cNvSpPr txBox="1"/>
          <p:nvPr/>
        </p:nvSpPr>
        <p:spPr>
          <a:xfrm>
            <a:off x="8357616"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6</a:t>
            </a:r>
            <a:endParaRPr lang="en-US" sz="1400" dirty="0"/>
          </a:p>
        </p:txBody>
      </p:sp>
      <p:sp>
        <p:nvSpPr>
          <p:cNvPr id="31" name="Text 29"/>
          <p:cNvSpPr txBox="1"/>
          <p:nvPr/>
        </p:nvSpPr>
        <p:spPr>
          <a:xfrm>
            <a:off x="8860536"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Key measures in DAX</a:t>
            </a:r>
            <a:endParaRPr lang="en-US" sz="1700" dirty="0"/>
          </a:p>
        </p:txBody>
      </p:sp>
      <p:sp>
        <p:nvSpPr>
          <p:cNvPr id="32" name="Text 30"/>
          <p:cNvSpPr txBox="1"/>
          <p:nvPr/>
        </p:nvSpPr>
        <p:spPr>
          <a:xfrm>
            <a:off x="8357616"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Wrote DAX measures for rate vs. city average, busiest hour, monthly rate and how each neighbourhood trait tracks incident rates.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812800" y="110236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19150" y="1830071"/>
            <a:ext cx="5118100" cy="2857500"/>
          </a:xfrm>
          <a:prstGeom prst="roundRect">
            <a:avLst>
              <a:gd name="adj" fmla="val 2444"/>
            </a:avLst>
          </a:prstGeom>
        </p:spPr>
      </p:pic>
      <p:sp>
        <p:nvSpPr>
          <p:cNvPr id="5" name="Shape 2"/>
          <p:cNvSpPr/>
          <p:nvPr/>
        </p:nvSpPr>
        <p:spPr>
          <a:xfrm>
            <a:off x="815975" y="1826896"/>
            <a:ext cx="5124450" cy="2863850"/>
          </a:xfrm>
          <a:prstGeom prst="roundRect">
            <a:avLst>
              <a:gd name="adj" fmla="val 2550"/>
            </a:avLst>
          </a:prstGeom>
          <a:noFill/>
          <a:ln w="6350">
            <a:solidFill>
              <a:srgbClr val="4A4A5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ea typeface="+mn-ea"/>
              <a:cs typeface="+mn-cs"/>
            </a:endParaRPr>
          </a:p>
        </p:txBody>
      </p:sp>
      <p:sp>
        <p:nvSpPr>
          <p:cNvPr id="6" name="Text 3"/>
          <p:cNvSpPr/>
          <p:nvPr/>
        </p:nvSpPr>
        <p:spPr>
          <a:xfrm>
            <a:off x="812800" y="4820921"/>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254750" y="1830071"/>
            <a:ext cx="5118100" cy="2857500"/>
          </a:xfrm>
          <a:prstGeom prst="roundRect">
            <a:avLst>
              <a:gd name="adj" fmla="val 2444"/>
            </a:avLst>
          </a:prstGeom>
        </p:spPr>
      </p:pic>
      <p:sp>
        <p:nvSpPr>
          <p:cNvPr id="8" name="Shape 4"/>
          <p:cNvSpPr/>
          <p:nvPr/>
        </p:nvSpPr>
        <p:spPr>
          <a:xfrm>
            <a:off x="6251575" y="1826896"/>
            <a:ext cx="5124450" cy="2863850"/>
          </a:xfrm>
          <a:prstGeom prst="roundRect">
            <a:avLst>
              <a:gd name="adj" fmla="val 2550"/>
            </a:avLst>
          </a:prstGeom>
          <a:noFill/>
          <a:ln w="6350">
            <a:solidFill>
              <a:srgbClr val="4A4A5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Text 5"/>
          <p:cNvSpPr/>
          <p:nvPr/>
        </p:nvSpPr>
        <p:spPr>
          <a:xfrm>
            <a:off x="6248400" y="4820921"/>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812800" y="5554979"/>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1536</Words>
  <Application>Microsoft Office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Kein RITARITA</cp:lastModifiedBy>
  <cp:revision>3</cp:revision>
  <dcterms:created xsi:type="dcterms:W3CDTF">2026-10-19T04:03:27Z</dcterms:created>
  <dcterms:modified xsi:type="dcterms:W3CDTF">2026-10-20T03:04:26Z</dcterms:modified>
</cp:coreProperties>
</file>