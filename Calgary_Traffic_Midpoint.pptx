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3"/>
  </p:notesMasterIdLst>
  <p:sldIdLst>
    <p:sldId id="256" r:id="rId3"/>
    <p:sldId id="257" r:id="rId4"/>
    <p:sldId id="258" r:id="rId5"/>
    <p:sldId id="259" r:id="rId6"/>
    <p:sldId id="265" r:id="rId7"/>
    <p:sldId id="260" r:id="rId8"/>
    <p:sldId id="269" r:id="rId9"/>
    <p:sldId id="270" r:id="rId10"/>
    <p:sldId id="263" r:id="rId11"/>
    <p:sldId id="268"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5"/>
            <p14:sldId id="260"/>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224"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19"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I set each incident’s type from keywords in its description and flagged highway incidents by street name. Fourth, I filtered to the nine complete years, which leaves 58,536 incidents. Fifth, to compare areas fairly, I divided each area’s incidents by its population and the nine years, using only local roads in residential communities. Finally, I wrote DAX measures that power the dashboard: each selection’s rate compared with the city average, the busiest hour, a monthly rate that adjusts for missing data, and the correlations between neighbourhood traits and incident 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data looked like before and after one step. First, I kept only full years: the raw file has 65,138 incidents from December 2016 to 2026, and keeping 2017 to 2025 leaves 58,536. Second, each incident only had a map point, so I used GeoPandas in Python to check which area outline each point falls inside. 639 fall outside every area, and the same outlines became the Shape Map. Third, I turned the free-text description into five incident types using keywords, which powers the incident type filter, and flagged highways like Deerfoot and Glenmore by street name, so the map’s rates only count local roads. Fourth, the census file had one row for every area and trait, 2,091 rows, so I reshaped it to one row per area, 113 rows, with each trait as its own column. Fifth, every incident carries both its community and its area, which links the 307 communities to the 113 areas, and I then rated each area by incidents per 1,000 residents a year. Finally, DAX measures turn those rows into the numbers on the dashboard, like rate versus the city average and the busiest hour, and they update with every click.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6F4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20"/>
            <a:ext cx="10566400" cy="446028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742836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6"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 Xinqi Zha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r>
              <a:rPr lang="en-CA" sz="1400" dirty="0">
                <a:solidFill>
                  <a:schemeClr val="tx1">
                    <a:lumMod val="75000"/>
                    <a:lumOff val="25000"/>
                  </a:schemeClr>
                </a:solidFill>
              </a:rPr>
              <a:t>Used </a:t>
            </a:r>
            <a:r>
              <a:rPr lang="en-CA" sz="1400" dirty="0" err="1">
                <a:solidFill>
                  <a:schemeClr val="tx1">
                    <a:lumMod val="75000"/>
                    <a:lumOff val="25000"/>
                  </a:schemeClr>
                </a:solidFill>
              </a:rPr>
              <a:t>GeoPandas</a:t>
            </a:r>
            <a:r>
              <a:rPr lang="en-CA" sz="1400" dirty="0">
                <a:solidFill>
                  <a:schemeClr val="tx1">
                    <a:lumMod val="75000"/>
                    <a:lumOff val="25000"/>
                  </a:schemeClr>
                </a:solidFill>
              </a:rPr>
              <a:t> in Python to read each area’s boundary outline and check which one contains each incident’s map point. 785 fall outside every area. The outlines also became the Shape Map.</a:t>
            </a:r>
            <a:endParaRPr lang="en-US" sz="1400" dirty="0">
              <a:solidFill>
                <a:schemeClr val="tx1">
                  <a:lumMod val="75000"/>
                  <a:lumOff val="25000"/>
                </a:schemeClr>
              </a:solidFill>
            </a:endParaRPr>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Key measures in DAX</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Wrote Key measures in DAX, such as rate vs. city average, busiest hour, monthly rate and how each neighbourhood trait tracks incident rates.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 wrangling and cleaning</a:t>
            </a:r>
            <a:endParaRPr lang="en-US" sz="3200" dirty="0"/>
          </a:p>
        </p:txBody>
      </p:sp>
      <p:sp>
        <p:nvSpPr>
          <p:cNvPr id="3" name="Shape 1"/>
          <p:cNvSpPr/>
          <p:nvPr/>
        </p:nvSpPr>
        <p:spPr>
          <a:xfrm>
            <a:off x="812800" y="1534120"/>
            <a:ext cx="3386634" cy="1878211"/>
          </a:xfrm>
          <a:prstGeom prst="roundRect">
            <a:avLst>
              <a:gd name="adj" fmla="val 4057"/>
            </a:avLst>
          </a:prstGeom>
          <a:solidFill>
            <a:srgbClr val="FFFFFF"/>
          </a:solidFill>
          <a:ln/>
        </p:spPr>
        <p:txBody>
          <a:bodyPr/>
          <a:lstStyle/>
          <a:p>
            <a:endParaRPr lang="en-US"/>
          </a:p>
        </p:txBody>
      </p:sp>
      <p:sp>
        <p:nvSpPr>
          <p:cNvPr id="4" name="Shape 2"/>
          <p:cNvSpPr/>
          <p:nvPr/>
        </p:nvSpPr>
        <p:spPr>
          <a:xfrm>
            <a:off x="812800"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5" name="Text 3"/>
          <p:cNvSpPr/>
          <p:nvPr/>
        </p:nvSpPr>
        <p:spPr>
          <a:xfrm>
            <a:off x="1041400"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1 · Kept full years</a:t>
            </a:r>
            <a:endParaRPr lang="en-US" sz="1400" dirty="0"/>
          </a:p>
        </p:txBody>
      </p:sp>
      <p:sp>
        <p:nvSpPr>
          <p:cNvPr id="6" name="Text 4"/>
          <p:cNvSpPr/>
          <p:nvPr/>
        </p:nvSpPr>
        <p:spPr>
          <a:xfrm>
            <a:off x="1041400"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65,138 → 58,536</a:t>
            </a:r>
            <a:endParaRPr lang="en-US" sz="2200" dirty="0"/>
          </a:p>
        </p:txBody>
      </p:sp>
      <p:sp>
        <p:nvSpPr>
          <p:cNvPr id="7" name="Text 5"/>
          <p:cNvSpPr/>
          <p:nvPr/>
        </p:nvSpPr>
        <p:spPr>
          <a:xfrm>
            <a:off x="1041400" y="2411611"/>
            <a:ext cx="301731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Dropped the partial years at each end (Dec 2016 and 2026), leaving 2017–2025.</a:t>
            </a:r>
            <a:endParaRPr lang="en-US" sz="1200" dirty="0"/>
          </a:p>
        </p:txBody>
      </p:sp>
      <p:sp>
        <p:nvSpPr>
          <p:cNvPr id="8" name="Shape 6"/>
          <p:cNvSpPr/>
          <p:nvPr/>
        </p:nvSpPr>
        <p:spPr>
          <a:xfrm>
            <a:off x="4402634" y="1534120"/>
            <a:ext cx="3386683" cy="1878211"/>
          </a:xfrm>
          <a:prstGeom prst="roundRect">
            <a:avLst>
              <a:gd name="adj" fmla="val 4057"/>
            </a:avLst>
          </a:prstGeom>
          <a:solidFill>
            <a:srgbClr val="FFFFFF"/>
          </a:solidFill>
          <a:ln/>
        </p:spPr>
        <p:txBody>
          <a:bodyPr/>
          <a:lstStyle/>
          <a:p>
            <a:endParaRPr lang="en-US"/>
          </a:p>
        </p:txBody>
      </p:sp>
      <p:sp>
        <p:nvSpPr>
          <p:cNvPr id="9" name="Shape 7"/>
          <p:cNvSpPr/>
          <p:nvPr/>
        </p:nvSpPr>
        <p:spPr>
          <a:xfrm>
            <a:off x="4402634" y="1534120"/>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0" name="Text 8"/>
          <p:cNvSpPr/>
          <p:nvPr/>
        </p:nvSpPr>
        <p:spPr>
          <a:xfrm>
            <a:off x="4631234" y="1750020"/>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2 · Located each incident</a:t>
            </a:r>
            <a:endParaRPr lang="en-US" sz="1400" dirty="0"/>
          </a:p>
        </p:txBody>
      </p:sp>
      <p:sp>
        <p:nvSpPr>
          <p:cNvPr id="11" name="Text 9"/>
          <p:cNvSpPr/>
          <p:nvPr/>
        </p:nvSpPr>
        <p:spPr>
          <a:xfrm>
            <a:off x="4631234" y="2026841"/>
            <a:ext cx="3017368"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Point → area</a:t>
            </a:r>
            <a:endParaRPr lang="en-US" sz="2200" dirty="0"/>
          </a:p>
        </p:txBody>
      </p:sp>
      <p:sp>
        <p:nvSpPr>
          <p:cNvPr id="12" name="Text 10"/>
          <p:cNvSpPr/>
          <p:nvPr/>
        </p:nvSpPr>
        <p:spPr>
          <a:xfrm>
            <a:off x="4631234" y="2411611"/>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GeoPandas in Python checked which area outline each point falls inside. 639 fall outside. The outlines also became the Shape Map.</a:t>
            </a:r>
            <a:endParaRPr lang="en-US" sz="1200" dirty="0"/>
          </a:p>
        </p:txBody>
      </p:sp>
      <p:sp>
        <p:nvSpPr>
          <p:cNvPr id="13" name="Shape 11"/>
          <p:cNvSpPr/>
          <p:nvPr/>
        </p:nvSpPr>
        <p:spPr>
          <a:xfrm>
            <a:off x="7992517" y="1534120"/>
            <a:ext cx="3386634" cy="1878211"/>
          </a:xfrm>
          <a:prstGeom prst="roundRect">
            <a:avLst>
              <a:gd name="adj" fmla="val 4057"/>
            </a:avLst>
          </a:prstGeom>
          <a:solidFill>
            <a:srgbClr val="FFFFFF"/>
          </a:solidFill>
          <a:ln/>
        </p:spPr>
        <p:txBody>
          <a:bodyPr/>
          <a:lstStyle/>
          <a:p>
            <a:endParaRPr lang="en-US"/>
          </a:p>
        </p:txBody>
      </p:sp>
      <p:sp>
        <p:nvSpPr>
          <p:cNvPr id="14" name="Shape 12"/>
          <p:cNvSpPr/>
          <p:nvPr/>
        </p:nvSpPr>
        <p:spPr>
          <a:xfrm>
            <a:off x="7992517"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5" name="Text 13"/>
          <p:cNvSpPr/>
          <p:nvPr/>
        </p:nvSpPr>
        <p:spPr>
          <a:xfrm>
            <a:off x="8221117"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3 · Sorted incidents</a:t>
            </a:r>
            <a:endParaRPr lang="en-US" sz="1400" dirty="0"/>
          </a:p>
        </p:txBody>
      </p:sp>
      <p:sp>
        <p:nvSpPr>
          <p:cNvPr id="16" name="Text 14"/>
          <p:cNvSpPr/>
          <p:nvPr/>
        </p:nvSpPr>
        <p:spPr>
          <a:xfrm>
            <a:off x="8221117"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Text → 5 types</a:t>
            </a:r>
            <a:endParaRPr lang="en-US" sz="2200" dirty="0"/>
          </a:p>
        </p:txBody>
      </p:sp>
      <p:sp>
        <p:nvSpPr>
          <p:cNvPr id="17" name="Text 15"/>
          <p:cNvSpPr/>
          <p:nvPr/>
        </p:nvSpPr>
        <p:spPr>
          <a:xfrm>
            <a:off x="8221117" y="2411611"/>
            <a:ext cx="3017317"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Keywords in each description set the incident type. Street names flag highways, so area rates only count local roads.</a:t>
            </a:r>
            <a:endParaRPr lang="en-US" sz="1200" dirty="0"/>
          </a:p>
        </p:txBody>
      </p:sp>
      <p:sp>
        <p:nvSpPr>
          <p:cNvPr id="18" name="Shape 16"/>
          <p:cNvSpPr/>
          <p:nvPr/>
        </p:nvSpPr>
        <p:spPr>
          <a:xfrm>
            <a:off x="812800" y="3615531"/>
            <a:ext cx="3386634" cy="1878211"/>
          </a:xfrm>
          <a:prstGeom prst="roundRect">
            <a:avLst>
              <a:gd name="adj" fmla="val 4057"/>
            </a:avLst>
          </a:prstGeom>
          <a:solidFill>
            <a:srgbClr val="FFFFFF"/>
          </a:solidFill>
          <a:ln/>
        </p:spPr>
        <p:txBody>
          <a:bodyPr/>
          <a:lstStyle/>
          <a:p>
            <a:endParaRPr lang="en-US"/>
          </a:p>
        </p:txBody>
      </p:sp>
      <p:sp>
        <p:nvSpPr>
          <p:cNvPr id="19" name="Shape 17"/>
          <p:cNvSpPr/>
          <p:nvPr/>
        </p:nvSpPr>
        <p:spPr>
          <a:xfrm>
            <a:off x="812800"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0" name="Text 18"/>
          <p:cNvSpPr/>
          <p:nvPr/>
        </p:nvSpPr>
        <p:spPr>
          <a:xfrm>
            <a:off x="1041400"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4 · Reshaped census data</a:t>
            </a:r>
            <a:endParaRPr lang="en-US" sz="1400" dirty="0"/>
          </a:p>
        </p:txBody>
      </p:sp>
      <p:sp>
        <p:nvSpPr>
          <p:cNvPr id="21" name="Text 19"/>
          <p:cNvSpPr/>
          <p:nvPr/>
        </p:nvSpPr>
        <p:spPr>
          <a:xfrm>
            <a:off x="1041400"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2,091 → 113 rows</a:t>
            </a:r>
            <a:endParaRPr lang="en-US" sz="2200" dirty="0"/>
          </a:p>
        </p:txBody>
      </p:sp>
      <p:sp>
        <p:nvSpPr>
          <p:cNvPr id="22" name="Text 20"/>
          <p:cNvSpPr/>
          <p:nvPr/>
        </p:nvSpPr>
        <p:spPr>
          <a:xfrm>
            <a:off x="1041400"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Used Python to give each area one row, with each trait as its own column, and fixed the number formats.</a:t>
            </a:r>
            <a:endParaRPr lang="en-US" sz="1200" dirty="0"/>
          </a:p>
        </p:txBody>
      </p:sp>
      <p:sp>
        <p:nvSpPr>
          <p:cNvPr id="23" name="Shape 21"/>
          <p:cNvSpPr/>
          <p:nvPr/>
        </p:nvSpPr>
        <p:spPr>
          <a:xfrm>
            <a:off x="4402634" y="3615531"/>
            <a:ext cx="3386683" cy="1878211"/>
          </a:xfrm>
          <a:prstGeom prst="roundRect">
            <a:avLst>
              <a:gd name="adj" fmla="val 4057"/>
            </a:avLst>
          </a:prstGeom>
          <a:solidFill>
            <a:srgbClr val="FFFFFF"/>
          </a:solidFill>
          <a:ln/>
        </p:spPr>
        <p:txBody>
          <a:bodyPr/>
          <a:lstStyle/>
          <a:p>
            <a:endParaRPr lang="en-US"/>
          </a:p>
        </p:txBody>
      </p:sp>
      <p:sp>
        <p:nvSpPr>
          <p:cNvPr id="24" name="Shape 22"/>
          <p:cNvSpPr/>
          <p:nvPr/>
        </p:nvSpPr>
        <p:spPr>
          <a:xfrm>
            <a:off x="4402634" y="3615531"/>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5" name="Text 23"/>
          <p:cNvSpPr/>
          <p:nvPr/>
        </p:nvSpPr>
        <p:spPr>
          <a:xfrm>
            <a:off x="4631234" y="3831431"/>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5 · Linked and rated areas</a:t>
            </a:r>
            <a:endParaRPr lang="en-US" sz="1400" dirty="0"/>
          </a:p>
        </p:txBody>
      </p:sp>
      <p:sp>
        <p:nvSpPr>
          <p:cNvPr id="26" name="Text 24"/>
          <p:cNvSpPr/>
          <p:nvPr/>
        </p:nvSpPr>
        <p:spPr>
          <a:xfrm>
            <a:off x="4631234" y="4108252"/>
            <a:ext cx="3017368" cy="346670"/>
          </a:xfrm>
          <a:prstGeom prst="rect">
            <a:avLst/>
          </a:prstGeom>
          <a:noFill/>
          <a:ln/>
        </p:spPr>
        <p:txBody>
          <a:bodyPr wrap="square" lIns="0" tIns="0" rIns="0" bIns="0" rtlCol="0" anchor="t">
            <a:normAutofit/>
          </a:bodyPr>
          <a:lstStyle/>
          <a:p>
            <a:pPr>
              <a:lnSpc>
                <a:spcPts val="2530"/>
              </a:lnSpc>
            </a:pPr>
            <a:r>
              <a:rPr lang="en-US" sz="2200" b="1" dirty="0">
                <a:solidFill>
                  <a:srgbClr val="4E6596"/>
                </a:solidFill>
                <a:latin typeface="Libre Baskerville" pitchFamily="18" charset="0"/>
                <a:ea typeface="Libre Baskerville" pitchFamily="18" charset="-122"/>
                <a:cs typeface="Libre Baskerville" pitchFamily="18" charset="-120"/>
              </a:rPr>
              <a:t>307 → 113</a:t>
            </a:r>
            <a:endParaRPr lang="en-US" sz="2200" dirty="0"/>
          </a:p>
        </p:txBody>
      </p:sp>
      <p:sp>
        <p:nvSpPr>
          <p:cNvPr id="27" name="Text 25"/>
          <p:cNvSpPr/>
          <p:nvPr/>
        </p:nvSpPr>
        <p:spPr>
          <a:xfrm>
            <a:off x="4631234" y="4493022"/>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Each incident has both its community (307) and its area (113), which links the two. Then: incidents per 1,000 residents a year.</a:t>
            </a:r>
            <a:endParaRPr lang="en-US" sz="1200" dirty="0"/>
          </a:p>
        </p:txBody>
      </p:sp>
      <p:sp>
        <p:nvSpPr>
          <p:cNvPr id="28" name="Shape 26"/>
          <p:cNvSpPr/>
          <p:nvPr/>
        </p:nvSpPr>
        <p:spPr>
          <a:xfrm>
            <a:off x="7992517" y="3615531"/>
            <a:ext cx="3386634" cy="1878211"/>
          </a:xfrm>
          <a:prstGeom prst="roundRect">
            <a:avLst>
              <a:gd name="adj" fmla="val 4057"/>
            </a:avLst>
          </a:prstGeom>
          <a:solidFill>
            <a:srgbClr val="FFFFFF"/>
          </a:solidFill>
          <a:ln/>
        </p:spPr>
        <p:txBody>
          <a:bodyPr/>
          <a:lstStyle/>
          <a:p>
            <a:endParaRPr lang="en-US"/>
          </a:p>
        </p:txBody>
      </p:sp>
      <p:sp>
        <p:nvSpPr>
          <p:cNvPr id="29" name="Shape 27"/>
          <p:cNvSpPr/>
          <p:nvPr/>
        </p:nvSpPr>
        <p:spPr>
          <a:xfrm>
            <a:off x="7992517"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30" name="Text 28"/>
          <p:cNvSpPr/>
          <p:nvPr/>
        </p:nvSpPr>
        <p:spPr>
          <a:xfrm>
            <a:off x="8221117"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6 · Key measures in DAX</a:t>
            </a:r>
            <a:endParaRPr lang="en-US" sz="1400" dirty="0"/>
          </a:p>
        </p:txBody>
      </p:sp>
      <p:sp>
        <p:nvSpPr>
          <p:cNvPr id="31" name="Text 29"/>
          <p:cNvSpPr/>
          <p:nvPr/>
        </p:nvSpPr>
        <p:spPr>
          <a:xfrm>
            <a:off x="8221117"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Rows → measures</a:t>
            </a:r>
            <a:endParaRPr lang="en-US" sz="2200" dirty="0"/>
          </a:p>
        </p:txBody>
      </p:sp>
      <p:sp>
        <p:nvSpPr>
          <p:cNvPr id="32" name="Text 30"/>
          <p:cNvSpPr/>
          <p:nvPr/>
        </p:nvSpPr>
        <p:spPr>
          <a:xfrm>
            <a:off x="8221117"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DAX turns raw rows into numbers that update with every click, like rate vs. city average and the busiest hour.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1966</Words>
  <Application>Microsoft Macintosh PowerPoint</Application>
  <PresentationFormat>Widescreen</PresentationFormat>
  <Paragraphs>121</Paragraphs>
  <Slides>10</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10</vt:i4>
      </vt:variant>
    </vt:vector>
  </HeadingPairs>
  <TitlesOfParts>
    <vt:vector size="16"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5</cp:revision>
  <dcterms:created xsi:type="dcterms:W3CDTF">2026-10-19T04:03:27Z</dcterms:created>
  <dcterms:modified xsi:type="dcterms:W3CDTF">2026-10-20T18:49:18Z</dcterms:modified>
</cp:coreProperties>
</file>