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4" r:id="rId2"/>
  </p:sldMasterIdLst>
  <p:notesMasterIdLst>
    <p:notesMasterId r:id="rId12"/>
  </p:notesMasterIdLst>
  <p:sldIdLst>
    <p:sldId id="256" r:id="rId3"/>
    <p:sldId id="257" r:id="rId4"/>
    <p:sldId id="258" r:id="rId5"/>
    <p:sldId id="259" r:id="rId6"/>
    <p:sldId id="265" r:id="rId7"/>
    <p:sldId id="269" r:id="rId8"/>
    <p:sldId id="270" r:id="rId9"/>
    <p:sldId id="263" r:id="rId10"/>
    <p:sldId id="268"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1A111DE-5A97-016E-4180-84C9191D941C}">
          <p14:sldIdLst>
            <p14:sldId id="256"/>
            <p14:sldId id="257"/>
          </p14:sldIdLst>
        </p14:section>
        <p14:section name="Questions and data" id="{AE4E459D-EADA-7974-ACA4-CF3212ADD30D}">
          <p14:sldIdLst>
            <p14:sldId id="258"/>
            <p14:sldId id="259"/>
          </p14:sldIdLst>
        </p14:section>
        <p14:section name="Wrangling" id="{3AE2D310-56C6-B243-413B-9658E54EA91D}">
          <p14:sldIdLst>
            <p14:sldId id="265"/>
          </p14:sldIdLst>
        </p14:section>
        <p14:section name="Visualizations and findings" id="{FA1E9DF6-5D12-0988-0309-B8E845309660}">
          <p14:sldIdLst>
            <p14:sldId id="269"/>
            <p14:sldId id="270"/>
            <p14:sldId id="263"/>
            <p14:sldId id="268"/>
          </p14:sldIdLst>
        </p14:section>
        <p14:section name="Next steps" id="{75CB5C99-DBEE-01FC-6830-C56481DFBFE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E648FC-B5DA-4ABF-A5C3-560713661624}" v="10" dt="2026-10-20T02:50:19.18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63" d="100"/>
          <a:sy n="163" d="100"/>
        </p:scale>
        <p:origin x="17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drian JULVE" userId="f82b89f4-12eb-4305-aed1-96361a4291e8" providerId="ADAL" clId="{8EB18070-9C82-4FD4-B7E0-EC823B03F851}"/>
    <pc:docChg chg="undo custSel addSld delSld modSld modSection">
      <pc:chgData name="Adrian JULVE" userId="f82b89f4-12eb-4305-aed1-96361a4291e8" providerId="ADAL" clId="{8EB18070-9C82-4FD4-B7E0-EC823B03F851}" dt="2026-10-20T02:50:30.364" v="159" actId="20577"/>
      <pc:docMkLst>
        <pc:docMk/>
      </pc:docMkLst>
      <pc:sldChg chg="modSp mod">
        <pc:chgData name="Adrian JULVE" userId="f82b89f4-12eb-4305-aed1-96361a4291e8" providerId="ADAL" clId="{8EB18070-9C82-4FD4-B7E0-EC823B03F851}" dt="2026-10-20T02:42:45.986" v="115" actId="20577"/>
        <pc:sldMkLst>
          <pc:docMk/>
          <pc:sldMk cId="0" sldId="256"/>
        </pc:sldMkLst>
        <pc:spChg chg="mod">
          <ac:chgData name="Adrian JULVE" userId="f82b89f4-12eb-4305-aed1-96361a4291e8" providerId="ADAL" clId="{8EB18070-9C82-4FD4-B7E0-EC823B03F851}" dt="2026-10-20T02:42:45.986" v="115" actId="20577"/>
          <ac:spMkLst>
            <pc:docMk/>
            <pc:sldMk cId="0" sldId="256"/>
            <ac:spMk id="14" creationId="{00000000-0000-0000-0000-000000000000}"/>
          </ac:spMkLst>
        </pc:spChg>
      </pc:sldChg>
      <pc:sldChg chg="modSp mod">
        <pc:chgData name="Adrian JULVE" userId="f82b89f4-12eb-4305-aed1-96361a4291e8" providerId="ADAL" clId="{8EB18070-9C82-4FD4-B7E0-EC823B03F851}" dt="2026-10-20T02:23:51.385" v="5" actId="20577"/>
        <pc:sldMkLst>
          <pc:docMk/>
          <pc:sldMk cId="0" sldId="259"/>
        </pc:sldMkLst>
        <pc:graphicFrameChg chg="modGraphic">
          <ac:chgData name="Adrian JULVE" userId="f82b89f4-12eb-4305-aed1-96361a4291e8" providerId="ADAL" clId="{8EB18070-9C82-4FD4-B7E0-EC823B03F851}" dt="2026-10-20T02:23:51.385" v="5" actId="20577"/>
          <ac:graphicFrameMkLst>
            <pc:docMk/>
            <pc:sldMk cId="0" sldId="259"/>
            <ac:graphicFrameMk id="5" creationId="{00000000-0000-0000-0000-000000000000}"/>
          </ac:graphicFrameMkLst>
        </pc:graphicFrameChg>
      </pc:sldChg>
      <pc:sldChg chg="del">
        <pc:chgData name="Adrian JULVE" userId="f82b89f4-12eb-4305-aed1-96361a4291e8" providerId="ADAL" clId="{8EB18070-9C82-4FD4-B7E0-EC823B03F851}" dt="2026-10-20T02:28:55.340" v="7" actId="2696"/>
        <pc:sldMkLst>
          <pc:docMk/>
          <pc:sldMk cId="0" sldId="260"/>
        </pc:sldMkLst>
      </pc:sldChg>
      <pc:sldChg chg="del">
        <pc:chgData name="Adrian JULVE" userId="f82b89f4-12eb-4305-aed1-96361a4291e8" providerId="ADAL" clId="{8EB18070-9C82-4FD4-B7E0-EC823B03F851}" dt="2026-10-20T02:43:35.697" v="130" actId="2696"/>
        <pc:sldMkLst>
          <pc:docMk/>
          <pc:sldMk cId="0" sldId="261"/>
        </pc:sldMkLst>
      </pc:sldChg>
      <pc:sldChg chg="modSp del mod">
        <pc:chgData name="Adrian JULVE" userId="f82b89f4-12eb-4305-aed1-96361a4291e8" providerId="ADAL" clId="{8EB18070-9C82-4FD4-B7E0-EC823B03F851}" dt="2026-10-20T02:50:22.823" v="155" actId="2696"/>
        <pc:sldMkLst>
          <pc:docMk/>
          <pc:sldMk cId="0" sldId="262"/>
        </pc:sldMkLst>
        <pc:spChg chg="mod">
          <ac:chgData name="Adrian JULVE" userId="f82b89f4-12eb-4305-aed1-96361a4291e8" providerId="ADAL" clId="{8EB18070-9C82-4FD4-B7E0-EC823B03F851}" dt="2026-10-20T02:45:29.640" v="153" actId="207"/>
          <ac:spMkLst>
            <pc:docMk/>
            <pc:sldMk cId="0" sldId="262"/>
            <ac:spMk id="8" creationId="{00000000-0000-0000-0000-000000000000}"/>
          </ac:spMkLst>
        </pc:spChg>
      </pc:sldChg>
      <pc:sldChg chg="addSp delSp mod">
        <pc:chgData name="Adrian JULVE" userId="f82b89f4-12eb-4305-aed1-96361a4291e8" providerId="ADAL" clId="{8EB18070-9C82-4FD4-B7E0-EC823B03F851}" dt="2026-10-20T02:41:21.020" v="77" actId="22"/>
        <pc:sldMkLst>
          <pc:docMk/>
          <pc:sldMk cId="0" sldId="263"/>
        </pc:sldMkLst>
        <pc:spChg chg="add del">
          <ac:chgData name="Adrian JULVE" userId="f82b89f4-12eb-4305-aed1-96361a4291e8" providerId="ADAL" clId="{8EB18070-9C82-4FD4-B7E0-EC823B03F851}" dt="2026-10-20T02:41:21.020" v="77" actId="22"/>
          <ac:spMkLst>
            <pc:docMk/>
            <pc:sldMk cId="0" sldId="263"/>
            <ac:spMk id="8" creationId="{D06B2601-7377-F556-DB7A-21DF2EDFACF3}"/>
          </ac:spMkLst>
        </pc:spChg>
      </pc:sldChg>
      <pc:sldChg chg="del">
        <pc:chgData name="Adrian JULVE" userId="f82b89f4-12eb-4305-aed1-96361a4291e8" providerId="ADAL" clId="{8EB18070-9C82-4FD4-B7E0-EC823B03F851}" dt="2026-10-20T02:41:08.655" v="75" actId="2696"/>
        <pc:sldMkLst>
          <pc:docMk/>
          <pc:sldMk cId="0" sldId="264"/>
        </pc:sldMkLst>
      </pc:sldChg>
      <pc:sldChg chg="addSp delSp modSp add mod">
        <pc:chgData name="Adrian JULVE" userId="f82b89f4-12eb-4305-aed1-96361a4291e8" providerId="ADAL" clId="{8EB18070-9C82-4FD4-B7E0-EC823B03F851}" dt="2026-10-20T02:39:17.137" v="74" actId="207"/>
        <pc:sldMkLst>
          <pc:docMk/>
          <pc:sldMk cId="0" sldId="265"/>
        </pc:sldMkLst>
        <pc:spChg chg="mod">
          <ac:chgData name="Adrian JULVE" userId="f82b89f4-12eb-4305-aed1-96361a4291e8" providerId="ADAL" clId="{8EB18070-9C82-4FD4-B7E0-EC823B03F851}" dt="2026-10-20T02:39:17.137" v="74" actId="207"/>
          <ac:spMkLst>
            <pc:docMk/>
            <pc:sldMk cId="0" sldId="265"/>
            <ac:spMk id="7" creationId="{00000000-0000-0000-0000-000000000000}"/>
          </ac:spMkLst>
        </pc:spChg>
        <pc:spChg chg="add del">
          <ac:chgData name="Adrian JULVE" userId="f82b89f4-12eb-4305-aed1-96361a4291e8" providerId="ADAL" clId="{8EB18070-9C82-4FD4-B7E0-EC823B03F851}" dt="2026-10-20T02:38:27.239" v="67" actId="22"/>
          <ac:spMkLst>
            <pc:docMk/>
            <pc:sldMk cId="0" sldId="265"/>
            <ac:spMk id="34" creationId="{53BA30C6-B5F8-FC02-4601-642D46C0E875}"/>
          </ac:spMkLst>
        </pc:spChg>
        <pc:spChg chg="add del">
          <ac:chgData name="Adrian JULVE" userId="f82b89f4-12eb-4305-aed1-96361a4291e8" providerId="ADAL" clId="{8EB18070-9C82-4FD4-B7E0-EC823B03F851}" dt="2026-10-20T02:38:32.024" v="69" actId="22"/>
          <ac:spMkLst>
            <pc:docMk/>
            <pc:sldMk cId="0" sldId="265"/>
            <ac:spMk id="36" creationId="{A38438A4-4451-46B4-9A52-30E2E7861E14}"/>
          </ac:spMkLst>
        </pc:spChg>
      </pc:sldChg>
      <pc:sldChg chg="new del">
        <pc:chgData name="Adrian JULVE" userId="f82b89f4-12eb-4305-aed1-96361a4291e8" providerId="ADAL" clId="{8EB18070-9C82-4FD4-B7E0-EC823B03F851}" dt="2026-10-20T02:42:08.948" v="82" actId="2696"/>
        <pc:sldMkLst>
          <pc:docMk/>
          <pc:sldMk cId="2913478996" sldId="266"/>
        </pc:sldMkLst>
      </pc:sldChg>
      <pc:sldChg chg="modSp add del mod setBg">
        <pc:chgData name="Adrian JULVE" userId="f82b89f4-12eb-4305-aed1-96361a4291e8" providerId="ADAL" clId="{8EB18070-9C82-4FD4-B7E0-EC823B03F851}" dt="2026-10-20T02:42:18.465" v="90" actId="20577"/>
        <pc:sldMkLst>
          <pc:docMk/>
          <pc:sldMk cId="0" sldId="268"/>
        </pc:sldMkLst>
        <pc:spChg chg="mod">
          <ac:chgData name="Adrian JULVE" userId="f82b89f4-12eb-4305-aed1-96361a4291e8" providerId="ADAL" clId="{8EB18070-9C82-4FD4-B7E0-EC823B03F851}" dt="2026-10-20T02:42:18.465" v="90" actId="20577"/>
          <ac:spMkLst>
            <pc:docMk/>
            <pc:sldMk cId="0" sldId="268"/>
            <ac:spMk id="13" creationId="{00000000-0000-0000-0000-000000000000}"/>
          </ac:spMkLst>
        </pc:spChg>
      </pc:sldChg>
      <pc:sldChg chg="modSp add mod modShow">
        <pc:chgData name="Adrian JULVE" userId="f82b89f4-12eb-4305-aed1-96361a4291e8" providerId="ADAL" clId="{8EB18070-9C82-4FD4-B7E0-EC823B03F851}" dt="2026-10-20T02:43:29.843" v="129" actId="20577"/>
        <pc:sldMkLst>
          <pc:docMk/>
          <pc:sldMk cId="0" sldId="269"/>
        </pc:sldMkLst>
        <pc:spChg chg="mod">
          <ac:chgData name="Adrian JULVE" userId="f82b89f4-12eb-4305-aed1-96361a4291e8" providerId="ADAL" clId="{8EB18070-9C82-4FD4-B7E0-EC823B03F851}" dt="2026-10-20T02:43:29.843" v="129" actId="20577"/>
          <ac:spMkLst>
            <pc:docMk/>
            <pc:sldMk cId="0" sldId="269"/>
            <ac:spMk id="3" creationId="{00000000-0000-0000-0000-000000000000}"/>
          </ac:spMkLst>
        </pc:spChg>
      </pc:sldChg>
      <pc:sldChg chg="modSp add mod">
        <pc:chgData name="Adrian JULVE" userId="f82b89f4-12eb-4305-aed1-96361a4291e8" providerId="ADAL" clId="{8EB18070-9C82-4FD4-B7E0-EC823B03F851}" dt="2026-10-20T02:50:30.364" v="159" actId="20577"/>
        <pc:sldMkLst>
          <pc:docMk/>
          <pc:sldMk cId="0" sldId="270"/>
        </pc:sldMkLst>
        <pc:spChg chg="mod">
          <ac:chgData name="Adrian JULVE" userId="f82b89f4-12eb-4305-aed1-96361a4291e8" providerId="ADAL" clId="{8EB18070-9C82-4FD4-B7E0-EC823B03F851}" dt="2026-10-20T02:50:30.364" v="159" actId="20577"/>
          <ac:spMkLst>
            <pc:docMk/>
            <pc:sldMk cId="0" sldId="270"/>
            <ac:spMk id="8"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2580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Adrian. My project looks at traffic incidents in Calgary and asks whether they follow neighbourhood income and other socioeconomic conditions. The grid on the right is the colour key from my main map, which I’ll come back to. In the next five minutes I’ll cover the project, my questions, the data, how I cleaned it, and what the dashboard shows so far.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incidents aren’t random. They cluster on certain roads, at certain times, and in certain parts of the city. My project uses City of Calgary open data to ask whether neighbourhood income and related conditions, like renting, low income and how people commute, line up with where incidents happen. The study area is the whole city, split into 113 community service areas. I use nine complete years, 2017 to 2025, and the result is an interactive Power BI dashboard.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three questions. First, where: once we account for how many people live in an area, where do incidents concentrate, and does that match neighbourhood income? Second, who: beyond income, which neighbourhood traits, like renting, low income or commuting by car, go along with higher incident rates? Third, when: what times of day, days of the week and months of the year see the most incidents? Each question maps to a part of the dashboard.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datasets come from the City of Calgary’s open data portal, and all are obtained. Traffic Incidents is the core: 65,138 records, each with a location, description and timestamp. The Equity Index file covers 113 community service areas with population, median income and 16 other census measures, plus their boundaries. Community District Boundaries adds 313 communities with their land-use class, which lets me separate residential areas from industrial ones.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I prepared the data. First, each incident only had a map point, so I used Python to read every area’s boundary outline and check which outline contains each point. This is called a point-in-polygon test. 785 incidents fall outside every area and stay unassigned. Second, the census file had one row per measure, so I reshaped it to one row per area and cleaned up the number formats. Third, I set each incident’s type from keywords in its description and flagged highway incidents by street name. Fourth, I filtered to the nine complete years, which leaves 58,536 incidents. Fifth, to compare areas fairly, I divided each area’s incidents by its population and the nine years, using only local roads in residential communities. Finally, I wrote DAX measures that power the dashboard: each selection’s rate compared with the city average, the busiest hour, a monthly rate that adjusts for missing data, and the correlations between neighbourhood traits and incident rates.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about 2 minutes. Left: the default view, with all 113 areas coloured by income and incident rate, and every chart showing the whole city. Right: the same dashboard after one click on the legend square for lower-income, high incident-rate areas. The map highlights those 16 areas, mostly in the east. The details panel summarises the group: about 14% of Calgary’s population, a median income range of roughly $29,000 to $42,000, and a local incident rate about 2.5 times the city average. The KPIs, heatmap and month chart all filter to those areas, so you can see their busiest hour moves to 4 to 5 PM. If there’s time, open the live report from the link and click an individual area.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 map itself shows. Each area is coloured by two things at once: its median income and its local incident rate. Two groups stand out, both with 16 areas each. Sixteen lower-income areas have high incident rates, shown in pink, and sixteen higher-income areas have low incident rates, shown in blue. They’re the two largest groups on the map, and mirror images of each other. Geographically, the pink areas line the east side of the city, while the blue areas fill the west and south. The exception is the city centre: 11 higher-income areas still have high rates, shown in dark purple, mostly downtown and in the inner city, where commuters and through-traffic add incidents that resident-based rates don’t account for.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patterns are clear. The heatmap shows incidents concentrate on weekday afternoons: about a quarter of all incidents happen between 3 and 6 PM, and 5 to 6 PM is the single busiest hour, which lines up with the evening commute. Weekends are much quieter; Sunday has about half as many incidents as Wednesday. By month, the rate climbs through fall and peaks in November and December, at about 1.6 times April’s rate, which points to winter driving conditions and shorter daylight.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 – 10:00] Thanks for listening. I’m happy to take questions, or to go back into the dashboard to look at any area you’re curious about.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4F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LT">
    <p:bg>
      <p:bgPr>
        <a:solidFill>
          <a:srgbClr val="EDE8E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B2B3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F6F4F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2B2B30"/>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body">
    <p:bg>
      <p:bgPr>
        <a:solidFill>
          <a:srgbClr val="F4EE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23141250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4EE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3284996219"/>
      </p:ext>
    </p:extLst>
  </p:cSld>
  <p:clrMap bg1="lt1" tx1="dk1" bg2="lt2" tx2="dk2" accent1="accent1" accent2="accent2" accent3="accent3" accent4="accent4" accent5="accent5" accent6="accent6" hlink="hlink" folHlink="folHlink"/>
  <p:sldLayoutIdLst>
    <p:sldLayoutId id="2147483655"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6.xml"/><Relationship Id="rId5" Type="http://schemas.openxmlformats.org/officeDocument/2006/relationships/hyperlink" Target="https://app.powerbi.com/groups/me/reports/bede7dcd-4f5b-44c9-94b6-36f36234f2e8/78d1047301e06e809bec?experience=power-bi" TargetMode="Externa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egend_cell_0"/>
          <p:cNvSpPr/>
          <p:nvPr/>
        </p:nvSpPr>
        <p:spPr>
          <a:xfrm>
            <a:off x="8732520" y="1828800"/>
            <a:ext cx="950976" cy="950976"/>
          </a:xfrm>
          <a:prstGeom prst="rect">
            <a:avLst/>
          </a:prstGeom>
          <a:solidFill>
            <a:srgbClr val="D47BA3"/>
          </a:solidFill>
          <a:ln w="12700">
            <a:solidFill>
              <a:srgbClr val="D47BA3"/>
            </a:solidFill>
            <a:prstDash val="solid"/>
          </a:ln>
        </p:spPr>
        <p:txBody>
          <a:bodyPr/>
          <a:lstStyle/>
          <a:p>
            <a:endParaRPr lang="en-CA"/>
          </a:p>
        </p:txBody>
      </p:sp>
      <p:sp>
        <p:nvSpPr>
          <p:cNvPr id="3" name="legend_cell_1"/>
          <p:cNvSpPr/>
          <p:nvPr/>
        </p:nvSpPr>
        <p:spPr>
          <a:xfrm>
            <a:off x="9738360" y="1828800"/>
            <a:ext cx="950976" cy="950976"/>
          </a:xfrm>
          <a:prstGeom prst="rect">
            <a:avLst/>
          </a:prstGeom>
          <a:solidFill>
            <a:srgbClr val="9E6B92"/>
          </a:solidFill>
          <a:ln w="12700">
            <a:solidFill>
              <a:srgbClr val="9E6B92"/>
            </a:solidFill>
            <a:prstDash val="solid"/>
          </a:ln>
        </p:spPr>
        <p:txBody>
          <a:bodyPr/>
          <a:lstStyle/>
          <a:p>
            <a:endParaRPr lang="en-CA"/>
          </a:p>
        </p:txBody>
      </p:sp>
      <p:sp>
        <p:nvSpPr>
          <p:cNvPr id="4" name="legend_cell_2"/>
          <p:cNvSpPr/>
          <p:nvPr/>
        </p:nvSpPr>
        <p:spPr>
          <a:xfrm>
            <a:off x="10744200" y="1828800"/>
            <a:ext cx="950976" cy="950976"/>
          </a:xfrm>
          <a:prstGeom prst="rect">
            <a:avLst/>
          </a:prstGeom>
          <a:solidFill>
            <a:srgbClr val="4A4A78"/>
          </a:solidFill>
          <a:ln w="12700">
            <a:solidFill>
              <a:srgbClr val="4A4A78"/>
            </a:solidFill>
            <a:prstDash val="solid"/>
          </a:ln>
        </p:spPr>
        <p:txBody>
          <a:bodyPr/>
          <a:lstStyle/>
          <a:p>
            <a:endParaRPr lang="en-CA"/>
          </a:p>
        </p:txBody>
      </p:sp>
      <p:sp>
        <p:nvSpPr>
          <p:cNvPr id="5" name="legend_cell_3"/>
          <p:cNvSpPr/>
          <p:nvPr/>
        </p:nvSpPr>
        <p:spPr>
          <a:xfrm>
            <a:off x="8732520" y="2834640"/>
            <a:ext cx="950976" cy="950976"/>
          </a:xfrm>
          <a:prstGeom prst="rect">
            <a:avLst/>
          </a:prstGeom>
          <a:solidFill>
            <a:srgbClr val="DBB7CF"/>
          </a:solidFill>
          <a:ln w="12700">
            <a:solidFill>
              <a:srgbClr val="DBB7CF"/>
            </a:solidFill>
            <a:prstDash val="solid"/>
          </a:ln>
        </p:spPr>
        <p:txBody>
          <a:bodyPr/>
          <a:lstStyle/>
          <a:p>
            <a:endParaRPr lang="en-CA"/>
          </a:p>
        </p:txBody>
      </p:sp>
      <p:sp>
        <p:nvSpPr>
          <p:cNvPr id="6" name="legend_cell_4"/>
          <p:cNvSpPr/>
          <p:nvPr/>
        </p:nvSpPr>
        <p:spPr>
          <a:xfrm>
            <a:off x="9738360" y="2834640"/>
            <a:ext cx="950976" cy="950976"/>
          </a:xfrm>
          <a:prstGeom prst="rect">
            <a:avLst/>
          </a:prstGeom>
          <a:solidFill>
            <a:srgbClr val="A3A3C8"/>
          </a:solidFill>
          <a:ln w="12700">
            <a:solidFill>
              <a:srgbClr val="A3A3C8"/>
            </a:solidFill>
            <a:prstDash val="solid"/>
          </a:ln>
        </p:spPr>
        <p:txBody>
          <a:bodyPr/>
          <a:lstStyle/>
          <a:p>
            <a:endParaRPr lang="en-CA"/>
          </a:p>
        </p:txBody>
      </p:sp>
      <p:sp>
        <p:nvSpPr>
          <p:cNvPr id="7" name="legend_cell_5"/>
          <p:cNvSpPr/>
          <p:nvPr/>
        </p:nvSpPr>
        <p:spPr>
          <a:xfrm>
            <a:off x="10744200" y="2834640"/>
            <a:ext cx="950976" cy="950976"/>
          </a:xfrm>
          <a:prstGeom prst="rect">
            <a:avLst/>
          </a:prstGeom>
          <a:solidFill>
            <a:srgbClr val="56709E"/>
          </a:solidFill>
          <a:ln w="12700">
            <a:solidFill>
              <a:srgbClr val="56709E"/>
            </a:solidFill>
            <a:prstDash val="solid"/>
          </a:ln>
        </p:spPr>
        <p:txBody>
          <a:bodyPr/>
          <a:lstStyle/>
          <a:p>
            <a:endParaRPr lang="en-CA"/>
          </a:p>
        </p:txBody>
      </p:sp>
      <p:sp>
        <p:nvSpPr>
          <p:cNvPr id="8" name="legend_cell_6"/>
          <p:cNvSpPr/>
          <p:nvPr/>
        </p:nvSpPr>
        <p:spPr>
          <a:xfrm>
            <a:off x="8732520" y="3840480"/>
            <a:ext cx="950976" cy="950976"/>
          </a:xfrm>
          <a:prstGeom prst="rect">
            <a:avLst/>
          </a:prstGeom>
          <a:solidFill>
            <a:srgbClr val="E8E8E8"/>
          </a:solidFill>
          <a:ln w="12700">
            <a:solidFill>
              <a:srgbClr val="E8E8E8"/>
            </a:solidFill>
            <a:prstDash val="solid"/>
          </a:ln>
        </p:spPr>
        <p:txBody>
          <a:bodyPr/>
          <a:lstStyle/>
          <a:p>
            <a:endParaRPr lang="en-CA"/>
          </a:p>
        </p:txBody>
      </p:sp>
      <p:sp>
        <p:nvSpPr>
          <p:cNvPr id="9" name="legend_cell_7"/>
          <p:cNvSpPr/>
          <p:nvPr/>
        </p:nvSpPr>
        <p:spPr>
          <a:xfrm>
            <a:off x="9738360" y="3840480"/>
            <a:ext cx="950976" cy="950976"/>
          </a:xfrm>
          <a:prstGeom prst="rect">
            <a:avLst/>
          </a:prstGeom>
          <a:solidFill>
            <a:srgbClr val="B5C0DA"/>
          </a:solidFill>
          <a:ln w="12700">
            <a:solidFill>
              <a:srgbClr val="B5C0DA"/>
            </a:solidFill>
            <a:prstDash val="solid"/>
          </a:ln>
        </p:spPr>
        <p:txBody>
          <a:bodyPr/>
          <a:lstStyle/>
          <a:p>
            <a:endParaRPr lang="en-CA"/>
          </a:p>
        </p:txBody>
      </p:sp>
      <p:sp>
        <p:nvSpPr>
          <p:cNvPr id="10" name="legend_cell_8"/>
          <p:cNvSpPr/>
          <p:nvPr/>
        </p:nvSpPr>
        <p:spPr>
          <a:xfrm>
            <a:off x="10744200" y="3840480"/>
            <a:ext cx="950976" cy="950976"/>
          </a:xfrm>
          <a:prstGeom prst="rect">
            <a:avLst/>
          </a:prstGeom>
          <a:solidFill>
            <a:srgbClr val="6C83B5"/>
          </a:solidFill>
          <a:ln w="12700">
            <a:solidFill>
              <a:srgbClr val="6C83B5"/>
            </a:solidFill>
            <a:prstDash val="solid"/>
          </a:ln>
        </p:spPr>
        <p:txBody>
          <a:bodyPr/>
          <a:lstStyle/>
          <a:p>
            <a:endParaRPr lang="en-CA"/>
          </a:p>
        </p:txBody>
      </p:sp>
      <p:sp>
        <p:nvSpPr>
          <p:cNvPr id="11" name="Text 9"/>
          <p:cNvSpPr txBox="1"/>
          <p:nvPr/>
        </p:nvSpPr>
        <p:spPr>
          <a:xfrm>
            <a:off x="548640" y="1600200"/>
            <a:ext cx="7680960" cy="365760"/>
          </a:xfrm>
          <a:prstGeom prst="rect">
            <a:avLst/>
          </a:prstGeom>
          <a:noFill/>
          <a:ln/>
        </p:spPr>
        <p:txBody>
          <a:bodyPr wrap="square" lIns="0" tIns="0" rIns="0" bIns="0" rtlCol="0" anchor="t"/>
          <a:lstStyle/>
          <a:p>
            <a:pPr marL="0" indent="0">
              <a:buNone/>
            </a:pPr>
            <a:r>
              <a:rPr lang="en-US" sz="1400" b="1" kern="0" spc="300" dirty="0">
                <a:solidFill>
                  <a:srgbClr val="E39BBE"/>
                </a:solidFill>
                <a:latin typeface="Public Sans" pitchFamily="34" charset="0"/>
                <a:ea typeface="Public Sans" pitchFamily="34" charset="-122"/>
                <a:cs typeface="Public Sans" pitchFamily="34" charset="-120"/>
              </a:rPr>
              <a:t>DATA 201 · MIDPOINT REPORT</a:t>
            </a:r>
            <a:endParaRPr lang="en-US" sz="1400" dirty="0"/>
          </a:p>
        </p:txBody>
      </p:sp>
      <p:sp>
        <p:nvSpPr>
          <p:cNvPr id="12" name="Text 10"/>
          <p:cNvSpPr txBox="1"/>
          <p:nvPr/>
        </p:nvSpPr>
        <p:spPr>
          <a:xfrm>
            <a:off x="548640" y="2103120"/>
            <a:ext cx="7680960" cy="1828800"/>
          </a:xfrm>
          <a:prstGeom prst="rect">
            <a:avLst/>
          </a:prstGeom>
          <a:noFill/>
          <a:ln/>
        </p:spPr>
        <p:txBody>
          <a:bodyPr wrap="square" lIns="0" tIns="0" rIns="0" bIns="0" rtlCol="0" anchor="t"/>
          <a:lstStyle/>
          <a:p>
            <a:pPr marL="0" indent="0">
              <a:buNone/>
            </a:pPr>
            <a:r>
              <a:rPr lang="en-US" sz="4000" b="1" dirty="0">
                <a:solidFill>
                  <a:srgbClr val="F6F4F0"/>
                </a:solidFill>
                <a:latin typeface="Libre Baskerville" pitchFamily="34" charset="0"/>
                <a:ea typeface="Libre Baskerville" pitchFamily="34" charset="-122"/>
                <a:cs typeface="Libre Baskerville" pitchFamily="34" charset="-120"/>
              </a:rPr>
              <a:t>Traffic Incidents Across Calgary’s Neighbourhoods</a:t>
            </a:r>
            <a:endParaRPr lang="en-US" sz="4000" dirty="0"/>
          </a:p>
        </p:txBody>
      </p:sp>
      <p:sp>
        <p:nvSpPr>
          <p:cNvPr id="13" name="Text 11"/>
          <p:cNvSpPr txBox="1"/>
          <p:nvPr/>
        </p:nvSpPr>
        <p:spPr>
          <a:xfrm>
            <a:off x="548640" y="4069080"/>
            <a:ext cx="7315200" cy="822960"/>
          </a:xfrm>
          <a:prstGeom prst="rect">
            <a:avLst/>
          </a:prstGeom>
          <a:noFill/>
          <a:ln/>
        </p:spPr>
        <p:txBody>
          <a:bodyPr wrap="square" lIns="0" tIns="0" rIns="0" bIns="0" rtlCol="0" anchor="t"/>
          <a:lstStyle/>
          <a:p>
            <a:pPr marL="0" indent="0">
              <a:buNone/>
            </a:pPr>
            <a:r>
              <a:rPr lang="en-US" sz="1800" dirty="0">
                <a:solidFill>
                  <a:srgbClr val="C9C7CF"/>
                </a:solidFill>
                <a:latin typeface="Public Sans" pitchFamily="34" charset="0"/>
                <a:ea typeface="Public Sans" pitchFamily="34" charset="-122"/>
                <a:cs typeface="Public Sans" pitchFamily="34" charset="-120"/>
              </a:rPr>
              <a:t>Where, when and who: the socioeconomic patterns behind 58,536 incidents, 2017–2025</a:t>
            </a:r>
            <a:endParaRPr lang="en-US" sz="1800" dirty="0"/>
          </a:p>
        </p:txBody>
      </p:sp>
      <p:sp>
        <p:nvSpPr>
          <p:cNvPr id="14" name="Text 12"/>
          <p:cNvSpPr txBox="1"/>
          <p:nvPr/>
        </p:nvSpPr>
        <p:spPr>
          <a:xfrm>
            <a:off x="548640" y="5897880"/>
            <a:ext cx="7315200" cy="365760"/>
          </a:xfrm>
          <a:prstGeom prst="rect">
            <a:avLst/>
          </a:prstGeom>
          <a:noFill/>
          <a:ln/>
        </p:spPr>
        <p:txBody>
          <a:bodyPr wrap="square" lIns="0" tIns="0" rIns="0" bIns="0" rtlCol="0" anchor="t"/>
          <a:lstStyle/>
          <a:p>
            <a:pPr marL="0" indent="0">
              <a:buNone/>
            </a:pPr>
            <a:r>
              <a:rPr lang="en-US" sz="1400" dirty="0">
                <a:solidFill>
                  <a:srgbClr val="C9C7CF"/>
                </a:solidFill>
                <a:latin typeface="Public Sans" pitchFamily="34" charset="0"/>
                <a:ea typeface="Public Sans" pitchFamily="34" charset="-122"/>
                <a:cs typeface="Public Sans" pitchFamily="34" charset="-120"/>
              </a:rPr>
              <a:t>Adrian Julve · Data 201 · Oct 20</a:t>
            </a:r>
            <a:r>
              <a:rPr lang="en-US" sz="1400" baseline="30000" dirty="0">
                <a:solidFill>
                  <a:srgbClr val="C9C7CF"/>
                </a:solidFill>
                <a:latin typeface="Public Sans" pitchFamily="34" charset="0"/>
                <a:ea typeface="Public Sans" pitchFamily="34" charset="-122"/>
                <a:cs typeface="Public Sans" pitchFamily="34" charset="-120"/>
              </a:rPr>
              <a:t>th</a:t>
            </a:r>
            <a:r>
              <a:rPr lang="en-US" sz="1400" dirty="0">
                <a:solidFill>
                  <a:srgbClr val="C9C7CF"/>
                </a:solidFill>
                <a:latin typeface="Public Sans" pitchFamily="34" charset="0"/>
                <a:ea typeface="Public Sans" pitchFamily="34" charset="-122"/>
                <a:cs typeface="Public Sans" pitchFamily="34" charset="-120"/>
              </a:rPr>
              <a:t>,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Project overview</a:t>
            </a:r>
            <a:endParaRPr lang="en-US" sz="3200" dirty="0"/>
          </a:p>
        </p:txBody>
      </p:sp>
      <p:sp>
        <p:nvSpPr>
          <p:cNvPr id="3" name="Text 1"/>
          <p:cNvSpPr txBox="1"/>
          <p:nvPr/>
        </p:nvSpPr>
        <p:spPr>
          <a:xfrm>
            <a:off x="548640" y="1463040"/>
            <a:ext cx="10424160" cy="1554480"/>
          </a:xfrm>
          <a:prstGeom prst="rect">
            <a:avLst/>
          </a:prstGeom>
          <a:noFill/>
          <a:ln/>
        </p:spPr>
        <p:txBody>
          <a:bodyPr wrap="square" lIns="0" tIns="0" rIns="0" bIns="0" rtlCol="0" anchor="t"/>
          <a:lstStyle/>
          <a:p>
            <a:pPr marL="0" indent="0">
              <a:lnSpc>
                <a:spcPct val="115000"/>
              </a:lnSpc>
              <a:buNone/>
            </a:pPr>
            <a:r>
              <a:rPr lang="en-US" sz="2400" dirty="0">
                <a:solidFill>
                  <a:srgbClr val="2B2B30"/>
                </a:solidFill>
                <a:latin typeface="Public Sans" pitchFamily="34" charset="0"/>
                <a:ea typeface="Public Sans" pitchFamily="34" charset="-122"/>
                <a:cs typeface="Public Sans" pitchFamily="34" charset="-120"/>
              </a:rPr>
              <a:t>Traffic incidents aren’t spread evenly across Calgary. This project asks whether </a:t>
            </a:r>
            <a:r>
              <a:rPr lang="en-US" sz="2400" b="1" dirty="0">
                <a:solidFill>
                  <a:srgbClr val="B4467E"/>
                </a:solidFill>
                <a:latin typeface="Public Sans" pitchFamily="34" charset="0"/>
                <a:ea typeface="Public Sans" pitchFamily="34" charset="-122"/>
                <a:cs typeface="Public Sans" pitchFamily="34" charset="-120"/>
              </a:rPr>
              <a:t>neighbourhood income and other socioeconomic conditions</a:t>
            </a:r>
            <a:r>
              <a:rPr lang="en-US" sz="2400" dirty="0">
                <a:solidFill>
                  <a:srgbClr val="2B2B30"/>
                </a:solidFill>
                <a:latin typeface="Public Sans" pitchFamily="34" charset="0"/>
                <a:ea typeface="Public Sans" pitchFamily="34" charset="-122"/>
                <a:cs typeface="Public Sans" pitchFamily="34" charset="-120"/>
              </a:rPr>
              <a:t> help explain where, and when, they happen.</a:t>
            </a:r>
            <a:endParaRPr lang="en-US" sz="2400" dirty="0"/>
          </a:p>
        </p:txBody>
      </p:sp>
      <p:sp>
        <p:nvSpPr>
          <p:cNvPr id="4" name="card_0"/>
          <p:cNvSpPr/>
          <p:nvPr/>
        </p:nvSpPr>
        <p:spPr>
          <a:xfrm>
            <a:off x="548640"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5" name="Text 3"/>
          <p:cNvSpPr txBox="1"/>
          <p:nvPr/>
        </p:nvSpPr>
        <p:spPr>
          <a:xfrm>
            <a:off x="822960"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AREA</a:t>
            </a:r>
            <a:endParaRPr lang="en-US" sz="1300" dirty="0"/>
          </a:p>
        </p:txBody>
      </p:sp>
      <p:sp>
        <p:nvSpPr>
          <p:cNvPr id="6" name="Text 4"/>
          <p:cNvSpPr txBox="1"/>
          <p:nvPr/>
        </p:nvSpPr>
        <p:spPr>
          <a:xfrm>
            <a:off x="822960"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City of Calgary, 113 community service areas</a:t>
            </a:r>
            <a:endParaRPr lang="en-US" sz="1800" dirty="0"/>
          </a:p>
        </p:txBody>
      </p:sp>
      <p:sp>
        <p:nvSpPr>
          <p:cNvPr id="7" name="card_1"/>
          <p:cNvSpPr/>
          <p:nvPr/>
        </p:nvSpPr>
        <p:spPr>
          <a:xfrm>
            <a:off x="4338828"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8" name="Text 6"/>
          <p:cNvSpPr txBox="1"/>
          <p:nvPr/>
        </p:nvSpPr>
        <p:spPr>
          <a:xfrm>
            <a:off x="4613148"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PERIOD</a:t>
            </a:r>
            <a:endParaRPr lang="en-US" sz="1300" dirty="0"/>
          </a:p>
        </p:txBody>
      </p:sp>
      <p:sp>
        <p:nvSpPr>
          <p:cNvPr id="9" name="Text 7"/>
          <p:cNvSpPr txBox="1"/>
          <p:nvPr/>
        </p:nvSpPr>
        <p:spPr>
          <a:xfrm>
            <a:off x="4613148"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2017–2025, nine complete years</a:t>
            </a:r>
            <a:endParaRPr lang="en-US" sz="1800" dirty="0"/>
          </a:p>
        </p:txBody>
      </p:sp>
      <p:sp>
        <p:nvSpPr>
          <p:cNvPr id="10" name="card_2"/>
          <p:cNvSpPr/>
          <p:nvPr/>
        </p:nvSpPr>
        <p:spPr>
          <a:xfrm>
            <a:off x="8129016"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11" name="Text 9"/>
          <p:cNvSpPr txBox="1"/>
          <p:nvPr/>
        </p:nvSpPr>
        <p:spPr>
          <a:xfrm>
            <a:off x="8403336"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OUTPUT</a:t>
            </a:r>
            <a:endParaRPr lang="en-US" sz="1300" dirty="0"/>
          </a:p>
        </p:txBody>
      </p:sp>
      <p:sp>
        <p:nvSpPr>
          <p:cNvPr id="12" name="Text 10"/>
          <p:cNvSpPr txBox="1"/>
          <p:nvPr/>
        </p:nvSpPr>
        <p:spPr>
          <a:xfrm>
            <a:off x="8403336"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An interactive, single-page Power BI dashboard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Analysis questions</a:t>
            </a:r>
            <a:endParaRPr lang="en-US" sz="3200" dirty="0"/>
          </a:p>
        </p:txBody>
      </p:sp>
      <p:sp>
        <p:nvSpPr>
          <p:cNvPr id="3" name="q_card_0"/>
          <p:cNvSpPr/>
          <p:nvPr/>
        </p:nvSpPr>
        <p:spPr>
          <a:xfrm>
            <a:off x="548640" y="137160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4" name="Text 2"/>
          <p:cNvSpPr txBox="1"/>
          <p:nvPr/>
        </p:nvSpPr>
        <p:spPr>
          <a:xfrm>
            <a:off x="868680" y="137160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01</a:t>
            </a:r>
            <a:endParaRPr lang="en-US" sz="3200" dirty="0"/>
          </a:p>
        </p:txBody>
      </p:sp>
      <p:sp>
        <p:nvSpPr>
          <p:cNvPr id="5" name="Text 3"/>
          <p:cNvSpPr txBox="1"/>
          <p:nvPr/>
        </p:nvSpPr>
        <p:spPr>
          <a:xfrm>
            <a:off x="2011680" y="160020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WHERE</a:t>
            </a:r>
            <a:endParaRPr lang="en-US" sz="1300" dirty="0"/>
          </a:p>
        </p:txBody>
      </p:sp>
      <p:sp>
        <p:nvSpPr>
          <p:cNvPr id="6" name="Text 4"/>
          <p:cNvSpPr txBox="1"/>
          <p:nvPr/>
        </p:nvSpPr>
        <p:spPr>
          <a:xfrm>
            <a:off x="2011680" y="193852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Where do incidents concentrate once population is accounted for, and does that match neighbourhood income?</a:t>
            </a:r>
            <a:endParaRPr lang="en-US" sz="1800" dirty="0"/>
          </a:p>
        </p:txBody>
      </p:sp>
      <p:sp>
        <p:nvSpPr>
          <p:cNvPr id="7" name="q_card_1"/>
          <p:cNvSpPr/>
          <p:nvPr/>
        </p:nvSpPr>
        <p:spPr>
          <a:xfrm>
            <a:off x="548640" y="301752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8" name="Text 6"/>
          <p:cNvSpPr txBox="1"/>
          <p:nvPr/>
        </p:nvSpPr>
        <p:spPr>
          <a:xfrm>
            <a:off x="868680" y="301752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02</a:t>
            </a:r>
            <a:endParaRPr lang="en-US" sz="3200" dirty="0"/>
          </a:p>
        </p:txBody>
      </p:sp>
      <p:sp>
        <p:nvSpPr>
          <p:cNvPr id="9" name="Text 7"/>
          <p:cNvSpPr txBox="1"/>
          <p:nvPr/>
        </p:nvSpPr>
        <p:spPr>
          <a:xfrm>
            <a:off x="2011680" y="324612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WHO</a:t>
            </a:r>
            <a:endParaRPr lang="en-US" sz="1300" dirty="0"/>
          </a:p>
        </p:txBody>
      </p:sp>
      <p:sp>
        <p:nvSpPr>
          <p:cNvPr id="10" name="Text 8"/>
          <p:cNvSpPr txBox="1"/>
          <p:nvPr/>
        </p:nvSpPr>
        <p:spPr>
          <a:xfrm>
            <a:off x="2011680" y="358444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Which other neighbourhood traits, such as renting, low income and commuting, go with higher incident rates?</a:t>
            </a:r>
            <a:endParaRPr lang="en-US" sz="1800" dirty="0"/>
          </a:p>
        </p:txBody>
      </p:sp>
      <p:sp>
        <p:nvSpPr>
          <p:cNvPr id="11" name="q_card_2"/>
          <p:cNvSpPr/>
          <p:nvPr/>
        </p:nvSpPr>
        <p:spPr>
          <a:xfrm>
            <a:off x="548640" y="466344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12" name="Text 10"/>
          <p:cNvSpPr txBox="1"/>
          <p:nvPr/>
        </p:nvSpPr>
        <p:spPr>
          <a:xfrm>
            <a:off x="868680" y="466344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03</a:t>
            </a:r>
            <a:endParaRPr lang="en-US" sz="3200" dirty="0"/>
          </a:p>
        </p:txBody>
      </p:sp>
      <p:sp>
        <p:nvSpPr>
          <p:cNvPr id="13" name="Text 11"/>
          <p:cNvSpPr txBox="1"/>
          <p:nvPr/>
        </p:nvSpPr>
        <p:spPr>
          <a:xfrm>
            <a:off x="2011680" y="489204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WHEN</a:t>
            </a:r>
            <a:endParaRPr lang="en-US" sz="1300" dirty="0"/>
          </a:p>
        </p:txBody>
      </p:sp>
      <p:sp>
        <p:nvSpPr>
          <p:cNvPr id="14" name="Text 12"/>
          <p:cNvSpPr txBox="1"/>
          <p:nvPr/>
        </p:nvSpPr>
        <p:spPr>
          <a:xfrm>
            <a:off x="2011680" y="523036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When do incidents happen, by hour of day, day of week and month of year?</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Datasets obtained</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4044901852"/>
              </p:ext>
            </p:extLst>
          </p:nvPr>
        </p:nvGraphicFramePr>
        <p:xfrm>
          <a:off x="548640" y="1463040"/>
          <a:ext cx="11091672" cy="3145536"/>
        </p:xfrm>
        <a:graphic>
          <a:graphicData uri="http://schemas.openxmlformats.org/drawingml/2006/table">
            <a:tbl>
              <a:tblPr/>
              <a:tblGrid>
                <a:gridCol w="25146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361188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1399032">
                  <a:extLst>
                    <a:ext uri="{9D8B030D-6E8A-4147-A177-3AD203B41FA5}">
                      <a16:colId xmlns:a16="http://schemas.microsoft.com/office/drawing/2014/main" val="20004"/>
                    </a:ext>
                  </a:extLst>
                </a:gridCol>
              </a:tblGrid>
              <a:tr h="502920">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Dataset</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Source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What it holds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Size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Role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extLst>
                  <a:ext uri="{0D108BD9-81ED-4DB2-BD59-A6C34878D82A}">
                    <a16:rowId xmlns:a16="http://schemas.microsoft.com/office/drawing/2014/main" val="10000"/>
                  </a:ext>
                </a:extLst>
              </a:tr>
              <a:tr h="77724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Traffic Incidents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Location, description and time of each reported incident</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65,138 records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The events analysed</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1"/>
                  </a:ext>
                </a:extLst>
              </a:tr>
              <a:tr h="96012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Equity Index Overlay Statistics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Population, median income and 16 other measures per area (2021 Census), plus area boundaries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113 areas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Who lives where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Community District Boundaries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Community name, land-use class and development era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313 communities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Residential filter, area names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Data wrangling and cleaning</a:t>
            </a:r>
            <a:endParaRPr lang="en-US" sz="3200" dirty="0"/>
          </a:p>
        </p:txBody>
      </p:sp>
      <p:sp>
        <p:nvSpPr>
          <p:cNvPr id="3" name="step_card_0"/>
          <p:cNvSpPr/>
          <p:nvPr/>
        </p:nvSpPr>
        <p:spPr>
          <a:xfrm>
            <a:off x="548640" y="132588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4" name="step_num_0"/>
          <p:cNvSpPr/>
          <p:nvPr/>
        </p:nvSpPr>
        <p:spPr>
          <a:xfrm>
            <a:off x="777240" y="1554480"/>
            <a:ext cx="384048" cy="384048"/>
          </a:xfrm>
          <a:prstGeom prst="ellipse">
            <a:avLst/>
          </a:prstGeom>
          <a:solidFill>
            <a:srgbClr val="B4467E"/>
          </a:solidFill>
          <a:ln w="12700">
            <a:solidFill>
              <a:srgbClr val="B4467E"/>
            </a:solidFill>
            <a:prstDash val="solid"/>
          </a:ln>
        </p:spPr>
        <p:txBody>
          <a:bodyPr/>
          <a:lstStyle/>
          <a:p>
            <a:endParaRPr lang="en-CA"/>
          </a:p>
        </p:txBody>
      </p:sp>
      <p:sp>
        <p:nvSpPr>
          <p:cNvPr id="5" name="Text 3"/>
          <p:cNvSpPr txBox="1"/>
          <p:nvPr/>
        </p:nvSpPr>
        <p:spPr>
          <a:xfrm>
            <a:off x="777240" y="15544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1</a:t>
            </a:r>
            <a:endParaRPr lang="en-US" sz="1400" dirty="0"/>
          </a:p>
        </p:txBody>
      </p:sp>
      <p:sp>
        <p:nvSpPr>
          <p:cNvPr id="6" name="Text 4"/>
          <p:cNvSpPr txBox="1"/>
          <p:nvPr/>
        </p:nvSpPr>
        <p:spPr>
          <a:xfrm>
            <a:off x="1280160" y="155448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Located each incident</a:t>
            </a:r>
            <a:endParaRPr lang="en-US" sz="1700" dirty="0"/>
          </a:p>
        </p:txBody>
      </p:sp>
      <p:sp>
        <p:nvSpPr>
          <p:cNvPr id="7" name="Text 5"/>
          <p:cNvSpPr txBox="1"/>
          <p:nvPr/>
        </p:nvSpPr>
        <p:spPr>
          <a:xfrm>
            <a:off x="777240" y="2103120"/>
            <a:ext cx="3054096" cy="1463040"/>
          </a:xfrm>
          <a:prstGeom prst="rect">
            <a:avLst/>
          </a:prstGeom>
          <a:noFill/>
          <a:ln/>
        </p:spPr>
        <p:txBody>
          <a:bodyPr wrap="square" lIns="0" tIns="0" rIns="0" bIns="0" rtlCol="0" anchor="t"/>
          <a:lstStyle/>
          <a:p>
            <a:r>
              <a:rPr lang="en-CA" sz="1400" dirty="0">
                <a:solidFill>
                  <a:schemeClr val="tx1">
                    <a:lumMod val="75000"/>
                    <a:lumOff val="25000"/>
                  </a:schemeClr>
                </a:solidFill>
              </a:rPr>
              <a:t>Used </a:t>
            </a:r>
            <a:r>
              <a:rPr lang="en-CA" sz="1400" dirty="0" err="1">
                <a:solidFill>
                  <a:schemeClr val="tx1">
                    <a:lumMod val="75000"/>
                    <a:lumOff val="25000"/>
                  </a:schemeClr>
                </a:solidFill>
              </a:rPr>
              <a:t>GeoPandas</a:t>
            </a:r>
            <a:r>
              <a:rPr lang="en-CA" sz="1400" dirty="0">
                <a:solidFill>
                  <a:schemeClr val="tx1">
                    <a:lumMod val="75000"/>
                    <a:lumOff val="25000"/>
                  </a:schemeClr>
                </a:solidFill>
              </a:rPr>
              <a:t> in Python to read each area’s boundary outline and check which one contains each incident’s map point. 785 fall outside every area. The outlines also became the Shape Map.</a:t>
            </a:r>
            <a:endParaRPr lang="en-US" sz="1400" dirty="0">
              <a:solidFill>
                <a:schemeClr val="tx1">
                  <a:lumMod val="75000"/>
                  <a:lumOff val="25000"/>
                </a:schemeClr>
              </a:solidFill>
            </a:endParaRPr>
          </a:p>
        </p:txBody>
      </p:sp>
      <p:sp>
        <p:nvSpPr>
          <p:cNvPr id="8" name="step_card_1"/>
          <p:cNvSpPr/>
          <p:nvPr/>
        </p:nvSpPr>
        <p:spPr>
          <a:xfrm>
            <a:off x="4338828" y="132588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9" name="step_num_1"/>
          <p:cNvSpPr/>
          <p:nvPr/>
        </p:nvSpPr>
        <p:spPr>
          <a:xfrm>
            <a:off x="4567428" y="1554480"/>
            <a:ext cx="384048" cy="384048"/>
          </a:xfrm>
          <a:prstGeom prst="ellipse">
            <a:avLst/>
          </a:prstGeom>
          <a:solidFill>
            <a:srgbClr val="B4467E"/>
          </a:solidFill>
          <a:ln w="12700">
            <a:solidFill>
              <a:srgbClr val="B4467E"/>
            </a:solidFill>
            <a:prstDash val="solid"/>
          </a:ln>
        </p:spPr>
        <p:txBody>
          <a:bodyPr/>
          <a:lstStyle/>
          <a:p>
            <a:endParaRPr lang="en-CA"/>
          </a:p>
        </p:txBody>
      </p:sp>
      <p:sp>
        <p:nvSpPr>
          <p:cNvPr id="10" name="Text 8"/>
          <p:cNvSpPr txBox="1"/>
          <p:nvPr/>
        </p:nvSpPr>
        <p:spPr>
          <a:xfrm>
            <a:off x="4567428" y="15544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2</a:t>
            </a:r>
            <a:endParaRPr lang="en-US" sz="1400" dirty="0"/>
          </a:p>
        </p:txBody>
      </p:sp>
      <p:sp>
        <p:nvSpPr>
          <p:cNvPr id="11" name="Text 9"/>
          <p:cNvSpPr txBox="1"/>
          <p:nvPr/>
        </p:nvSpPr>
        <p:spPr>
          <a:xfrm>
            <a:off x="5070348" y="155448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Tidied the census data</a:t>
            </a:r>
            <a:endParaRPr lang="en-US" sz="1700" dirty="0"/>
          </a:p>
        </p:txBody>
      </p:sp>
      <p:sp>
        <p:nvSpPr>
          <p:cNvPr id="12" name="Text 10"/>
          <p:cNvSpPr txBox="1"/>
          <p:nvPr/>
        </p:nvSpPr>
        <p:spPr>
          <a:xfrm>
            <a:off x="4567428" y="210312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Reshaped the file from one row per measure into one row per area, removed commas from numbers and stored percentages as decimals.</a:t>
            </a:r>
            <a:endParaRPr lang="en-US" sz="1400" dirty="0"/>
          </a:p>
        </p:txBody>
      </p:sp>
      <p:sp>
        <p:nvSpPr>
          <p:cNvPr id="13" name="step_card_2"/>
          <p:cNvSpPr/>
          <p:nvPr/>
        </p:nvSpPr>
        <p:spPr>
          <a:xfrm>
            <a:off x="8129016" y="132588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14" name="step_num_2"/>
          <p:cNvSpPr/>
          <p:nvPr/>
        </p:nvSpPr>
        <p:spPr>
          <a:xfrm>
            <a:off x="8357616" y="1554480"/>
            <a:ext cx="384048" cy="384048"/>
          </a:xfrm>
          <a:prstGeom prst="ellipse">
            <a:avLst/>
          </a:prstGeom>
          <a:solidFill>
            <a:srgbClr val="B4467E"/>
          </a:solidFill>
          <a:ln w="12700">
            <a:solidFill>
              <a:srgbClr val="B4467E"/>
            </a:solidFill>
            <a:prstDash val="solid"/>
          </a:ln>
        </p:spPr>
        <p:txBody>
          <a:bodyPr/>
          <a:lstStyle/>
          <a:p>
            <a:endParaRPr lang="en-CA"/>
          </a:p>
        </p:txBody>
      </p:sp>
      <p:sp>
        <p:nvSpPr>
          <p:cNvPr id="15" name="Text 13"/>
          <p:cNvSpPr txBox="1"/>
          <p:nvPr/>
        </p:nvSpPr>
        <p:spPr>
          <a:xfrm>
            <a:off x="8357616" y="15544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3</a:t>
            </a:r>
            <a:endParaRPr lang="en-US" sz="1400" dirty="0"/>
          </a:p>
        </p:txBody>
      </p:sp>
      <p:sp>
        <p:nvSpPr>
          <p:cNvPr id="16" name="Text 14"/>
          <p:cNvSpPr txBox="1"/>
          <p:nvPr/>
        </p:nvSpPr>
        <p:spPr>
          <a:xfrm>
            <a:off x="8860536" y="155448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Sorted incidents</a:t>
            </a:r>
            <a:endParaRPr lang="en-US" sz="1700" dirty="0"/>
          </a:p>
        </p:txBody>
      </p:sp>
      <p:sp>
        <p:nvSpPr>
          <p:cNvPr id="17" name="Text 15"/>
          <p:cNvSpPr txBox="1"/>
          <p:nvPr/>
        </p:nvSpPr>
        <p:spPr>
          <a:xfrm>
            <a:off x="8357616" y="210312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Set each incident’s type from keywords in its description, and flagged highway incidents by street name, such as Deerfoot and Glenmore.</a:t>
            </a:r>
            <a:endParaRPr lang="en-US" sz="1400" dirty="0"/>
          </a:p>
        </p:txBody>
      </p:sp>
      <p:sp>
        <p:nvSpPr>
          <p:cNvPr id="18" name="step_card_3"/>
          <p:cNvSpPr/>
          <p:nvPr/>
        </p:nvSpPr>
        <p:spPr>
          <a:xfrm>
            <a:off x="548640" y="393192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19" name="step_num_3"/>
          <p:cNvSpPr/>
          <p:nvPr/>
        </p:nvSpPr>
        <p:spPr>
          <a:xfrm>
            <a:off x="777240" y="4160520"/>
            <a:ext cx="384048" cy="384048"/>
          </a:xfrm>
          <a:prstGeom prst="ellipse">
            <a:avLst/>
          </a:prstGeom>
          <a:solidFill>
            <a:srgbClr val="4E6596"/>
          </a:solidFill>
          <a:ln w="12700">
            <a:solidFill>
              <a:srgbClr val="4E6596"/>
            </a:solidFill>
            <a:prstDash val="solid"/>
          </a:ln>
        </p:spPr>
        <p:txBody>
          <a:bodyPr/>
          <a:lstStyle/>
          <a:p>
            <a:endParaRPr lang="en-CA"/>
          </a:p>
        </p:txBody>
      </p:sp>
      <p:sp>
        <p:nvSpPr>
          <p:cNvPr id="20" name="Text 18"/>
          <p:cNvSpPr txBox="1"/>
          <p:nvPr/>
        </p:nvSpPr>
        <p:spPr>
          <a:xfrm>
            <a:off x="777240" y="4160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4</a:t>
            </a:r>
            <a:endParaRPr lang="en-US" sz="1400" dirty="0"/>
          </a:p>
        </p:txBody>
      </p:sp>
      <p:sp>
        <p:nvSpPr>
          <p:cNvPr id="21" name="Text 19"/>
          <p:cNvSpPr txBox="1"/>
          <p:nvPr/>
        </p:nvSpPr>
        <p:spPr>
          <a:xfrm>
            <a:off x="1280160" y="416052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Kept full years</a:t>
            </a:r>
            <a:endParaRPr lang="en-US" sz="1700" dirty="0"/>
          </a:p>
        </p:txBody>
      </p:sp>
      <p:sp>
        <p:nvSpPr>
          <p:cNvPr id="22" name="Text 20"/>
          <p:cNvSpPr txBox="1"/>
          <p:nvPr/>
        </p:nvSpPr>
        <p:spPr>
          <a:xfrm>
            <a:off x="777240" y="470916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Filtered to 2017–2025 in Power Query, dropping partial 2016 and 2026 data. 58,536 incidents remain; months with missing records are noted.</a:t>
            </a:r>
            <a:endParaRPr lang="en-US" sz="1400" dirty="0"/>
          </a:p>
        </p:txBody>
      </p:sp>
      <p:sp>
        <p:nvSpPr>
          <p:cNvPr id="23" name="step_card_4"/>
          <p:cNvSpPr/>
          <p:nvPr/>
        </p:nvSpPr>
        <p:spPr>
          <a:xfrm>
            <a:off x="4338828" y="393192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24" name="step_num_4"/>
          <p:cNvSpPr/>
          <p:nvPr/>
        </p:nvSpPr>
        <p:spPr>
          <a:xfrm>
            <a:off x="4567428" y="4160520"/>
            <a:ext cx="384048" cy="384048"/>
          </a:xfrm>
          <a:prstGeom prst="ellipse">
            <a:avLst/>
          </a:prstGeom>
          <a:solidFill>
            <a:srgbClr val="4E6596"/>
          </a:solidFill>
          <a:ln w="12700">
            <a:solidFill>
              <a:srgbClr val="4E6596"/>
            </a:solidFill>
            <a:prstDash val="solid"/>
          </a:ln>
        </p:spPr>
        <p:txBody>
          <a:bodyPr/>
          <a:lstStyle/>
          <a:p>
            <a:endParaRPr lang="en-CA"/>
          </a:p>
        </p:txBody>
      </p:sp>
      <p:sp>
        <p:nvSpPr>
          <p:cNvPr id="25" name="Text 23"/>
          <p:cNvSpPr txBox="1"/>
          <p:nvPr/>
        </p:nvSpPr>
        <p:spPr>
          <a:xfrm>
            <a:off x="4567428" y="4160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5</a:t>
            </a:r>
            <a:endParaRPr lang="en-US" sz="1400" dirty="0"/>
          </a:p>
        </p:txBody>
      </p:sp>
      <p:sp>
        <p:nvSpPr>
          <p:cNvPr id="26" name="Text 24"/>
          <p:cNvSpPr txBox="1"/>
          <p:nvPr/>
        </p:nvSpPr>
        <p:spPr>
          <a:xfrm>
            <a:off x="5070348" y="416052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Made areas comparable</a:t>
            </a:r>
            <a:endParaRPr lang="en-US" sz="1700" dirty="0"/>
          </a:p>
        </p:txBody>
      </p:sp>
      <p:sp>
        <p:nvSpPr>
          <p:cNvPr id="27" name="Text 25"/>
          <p:cNvSpPr txBox="1"/>
          <p:nvPr/>
        </p:nvSpPr>
        <p:spPr>
          <a:xfrm>
            <a:off x="4567428" y="470916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Divided each area’s incidents by its 2021 population and nine years, counting only local roads in residential communities.</a:t>
            </a:r>
            <a:endParaRPr lang="en-US" sz="1400" dirty="0"/>
          </a:p>
        </p:txBody>
      </p:sp>
      <p:sp>
        <p:nvSpPr>
          <p:cNvPr id="28" name="step_card_5"/>
          <p:cNvSpPr/>
          <p:nvPr/>
        </p:nvSpPr>
        <p:spPr>
          <a:xfrm>
            <a:off x="8129016" y="393192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29" name="step_num_5"/>
          <p:cNvSpPr/>
          <p:nvPr/>
        </p:nvSpPr>
        <p:spPr>
          <a:xfrm>
            <a:off x="8357616" y="4160520"/>
            <a:ext cx="384048" cy="384048"/>
          </a:xfrm>
          <a:prstGeom prst="ellipse">
            <a:avLst/>
          </a:prstGeom>
          <a:solidFill>
            <a:srgbClr val="4E6596"/>
          </a:solidFill>
          <a:ln w="12700">
            <a:solidFill>
              <a:srgbClr val="4E6596"/>
            </a:solidFill>
            <a:prstDash val="solid"/>
          </a:ln>
        </p:spPr>
        <p:txBody>
          <a:bodyPr/>
          <a:lstStyle/>
          <a:p>
            <a:endParaRPr lang="en-CA"/>
          </a:p>
        </p:txBody>
      </p:sp>
      <p:sp>
        <p:nvSpPr>
          <p:cNvPr id="30" name="Text 28"/>
          <p:cNvSpPr txBox="1"/>
          <p:nvPr/>
        </p:nvSpPr>
        <p:spPr>
          <a:xfrm>
            <a:off x="8357616" y="4160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6</a:t>
            </a:r>
            <a:endParaRPr lang="en-US" sz="1400" dirty="0"/>
          </a:p>
        </p:txBody>
      </p:sp>
      <p:sp>
        <p:nvSpPr>
          <p:cNvPr id="31" name="Text 29"/>
          <p:cNvSpPr txBox="1"/>
          <p:nvPr/>
        </p:nvSpPr>
        <p:spPr>
          <a:xfrm>
            <a:off x="8860536" y="416052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Key measures in DAX</a:t>
            </a:r>
            <a:endParaRPr lang="en-US" sz="1700" dirty="0"/>
          </a:p>
        </p:txBody>
      </p:sp>
      <p:sp>
        <p:nvSpPr>
          <p:cNvPr id="32" name="Text 30"/>
          <p:cNvSpPr txBox="1"/>
          <p:nvPr/>
        </p:nvSpPr>
        <p:spPr>
          <a:xfrm>
            <a:off x="8357616" y="470916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Wrote Key measures in DAX, such as rate vs. city average, busiest hour, monthly rate and how each neighbourhood trait tracks incident rates.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p:cNvGrpSpPr/>
        <p:nvPr/>
      </p:nvGrpSpPr>
      <p:grpSpPr>
        <a:xfrm>
          <a:off x="0" y="0"/>
          <a:ext cx="0" cy="0"/>
          <a:chOff x="0" y="0"/>
          <a:chExt cx="0" cy="0"/>
        </a:xfrm>
      </p:grpSpPr>
      <p:sp>
        <p:nvSpPr>
          <p:cNvPr id="2" name="Text 0"/>
          <p:cNvSpPr/>
          <p:nvPr/>
        </p:nvSpPr>
        <p:spPr>
          <a:xfrm>
            <a:off x="198787" y="830579"/>
            <a:ext cx="10883392" cy="2387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E39BBE"/>
                </a:solidFill>
                <a:effectLst/>
                <a:uLnTx/>
                <a:uFillTx/>
                <a:latin typeface="Public Sans" pitchFamily="34" charset="0"/>
                <a:ea typeface="Public Sans" pitchFamily="34" charset="-122"/>
                <a:cs typeface="Public Sans" pitchFamily="34" charset="-120"/>
              </a:rPr>
              <a:t>DEMO · WALKTHROUGH</a:t>
            </a:r>
            <a:endParaRPr kumimoji="0" lang="en-US" sz="1200" b="0" i="0" u="none" strike="noStrike" kern="1200" cap="none" spc="0" normalizeH="0" baseline="0" noProof="0" dirty="0">
              <a:ln>
                <a:noFill/>
              </a:ln>
              <a:solidFill>
                <a:srgbClr val="2B2B30"/>
              </a:solidFill>
              <a:effectLst/>
              <a:uLnTx/>
              <a:uFillTx/>
              <a:ea typeface="+mn-ea"/>
              <a:cs typeface="+mn-cs"/>
            </a:endParaRPr>
          </a:p>
        </p:txBody>
      </p:sp>
      <p:sp>
        <p:nvSpPr>
          <p:cNvPr id="3" name="Text 1"/>
          <p:cNvSpPr>
            <a:spLocks noGrp="1"/>
          </p:cNvSpPr>
          <p:nvPr>
            <p:ph type="title"/>
          </p:nvPr>
        </p:nvSpPr>
        <p:spPr>
          <a:xfrm>
            <a:off x="198787" y="1135379"/>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F4EEE3"/>
                </a:solidFill>
                <a:latin typeface="Libre Baskerville" pitchFamily="18" charset="0"/>
                <a:ea typeface="Libre Baskerville" pitchFamily="18" charset="-122"/>
                <a:cs typeface="Libre Baskerville" pitchFamily="18" charset="-120"/>
              </a:rPr>
              <a:t>The dashboard so far</a:t>
            </a:r>
            <a:endParaRPr lang="en-US" sz="3200" dirty="0"/>
          </a:p>
        </p:txBody>
      </p:sp>
      <p:pic>
        <p:nvPicPr>
          <p:cNvPr id="4" name="Image 0" descr="Default dashboard view: income and incident-rate map of all 113 areas, empty area details panel, heatmap, monthly chart and neighbourhood-trait chart"/>
          <p:cNvPicPr>
            <a:picLocks noChangeAspect="1"/>
          </p:cNvPicPr>
          <p:nvPr/>
        </p:nvPicPr>
        <p:blipFill>
          <a:blip r:embed="rId3"/>
          <a:srcRect l="-146" r="-146"/>
          <a:stretch/>
        </p:blipFill>
        <p:spPr>
          <a:xfrm>
            <a:off x="87418" y="1781176"/>
            <a:ext cx="5950641" cy="3322318"/>
          </a:xfrm>
          <a:prstGeom prst="roundRect">
            <a:avLst>
              <a:gd name="adj" fmla="val 2444"/>
            </a:avLst>
          </a:prstGeom>
        </p:spPr>
      </p:pic>
      <p:sp>
        <p:nvSpPr>
          <p:cNvPr id="6" name="Text 3"/>
          <p:cNvSpPr/>
          <p:nvPr/>
        </p:nvSpPr>
        <p:spPr>
          <a:xfrm>
            <a:off x="146033" y="5152874"/>
            <a:ext cx="5284724" cy="2654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9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EEE3"/>
                </a:solidFill>
                <a:effectLst/>
                <a:uLnTx/>
                <a:uFillTx/>
                <a:latin typeface="Public Sans" pitchFamily="34" charset="0"/>
                <a:ea typeface="Public Sans" pitchFamily="34" charset="-122"/>
                <a:cs typeface="Public Sans" pitchFamily="34" charset="-120"/>
              </a:rPr>
              <a:t>Default view:</a:t>
            </a:r>
            <a:r>
              <a:rPr kumimoji="0" lang="en-US" sz="1400" b="0" i="0" u="none" strike="noStrike" kern="1200" cap="none" spc="0" normalizeH="0" baseline="0" noProof="0" dirty="0">
                <a:ln>
                  <a:noFill/>
                </a:ln>
                <a:solidFill>
                  <a:srgbClr val="CFC8BC"/>
                </a:solidFill>
                <a:effectLst/>
                <a:uLnTx/>
                <a:uFillTx/>
                <a:latin typeface="Public Sans" pitchFamily="34" charset="0"/>
                <a:ea typeface="Public Sans" pitchFamily="34" charset="-122"/>
                <a:cs typeface="Public Sans" pitchFamily="34" charset="-120"/>
              </a:rPr>
              <a:t> all 113 areas, every chart citywide</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pic>
        <p:nvPicPr>
          <p:cNvPr id="7" name="Image 1" descr="Dashboard after selecting the lower-income, high incident-rate legend square: 16 areas highlighted on the map, the details panel summarising the group, and the KPIs and charts filtered to those areas"/>
          <p:cNvPicPr>
            <a:picLocks noChangeAspect="1"/>
          </p:cNvPicPr>
          <p:nvPr/>
        </p:nvPicPr>
        <p:blipFill>
          <a:blip r:embed="rId4"/>
          <a:srcRect l="-348" r="-348"/>
          <a:stretch/>
        </p:blipFill>
        <p:spPr>
          <a:xfrm>
            <a:off x="6153943" y="1781176"/>
            <a:ext cx="5950641" cy="3322318"/>
          </a:xfrm>
          <a:prstGeom prst="roundRect">
            <a:avLst>
              <a:gd name="adj" fmla="val 2444"/>
            </a:avLst>
          </a:prstGeom>
        </p:spPr>
      </p:pic>
      <p:sp>
        <p:nvSpPr>
          <p:cNvPr id="9" name="Text 5"/>
          <p:cNvSpPr/>
          <p:nvPr/>
        </p:nvSpPr>
        <p:spPr>
          <a:xfrm>
            <a:off x="6248400" y="5169534"/>
            <a:ext cx="5284724" cy="5054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9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EEE3"/>
                </a:solidFill>
                <a:effectLst/>
                <a:uLnTx/>
                <a:uFillTx/>
                <a:latin typeface="Public Sans" pitchFamily="34" charset="0"/>
                <a:ea typeface="Public Sans" pitchFamily="34" charset="-122"/>
                <a:cs typeface="Public Sans" pitchFamily="34" charset="-120"/>
              </a:rPr>
              <a:t>One click:</a:t>
            </a:r>
            <a:r>
              <a:rPr kumimoji="0" lang="en-US" sz="1400" b="0" i="0" u="none" strike="noStrike" kern="1200" cap="none" spc="0" normalizeH="0" baseline="0" noProof="0" dirty="0">
                <a:ln>
                  <a:noFill/>
                </a:ln>
                <a:solidFill>
                  <a:srgbClr val="CFC8BC"/>
                </a:solidFill>
                <a:effectLst/>
                <a:uLnTx/>
                <a:uFillTx/>
                <a:latin typeface="Public Sans" pitchFamily="34" charset="0"/>
                <a:ea typeface="Public Sans" pitchFamily="34" charset="-122"/>
                <a:cs typeface="Public Sans" pitchFamily="34" charset="-120"/>
              </a:rPr>
              <a:t> 16 lower-income, high-rate areas, at 2.7× the city rate</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
        <p:nvSpPr>
          <p:cNvPr id="10" name="Text 6"/>
          <p:cNvSpPr/>
          <p:nvPr/>
        </p:nvSpPr>
        <p:spPr>
          <a:xfrm>
            <a:off x="198787" y="6256652"/>
            <a:ext cx="10883392"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r>
              <a:rPr kumimoji="0" lang="en-US" sz="1400" b="0" i="0" u="sng" strike="noStrike" kern="1200" cap="none" spc="0" normalizeH="0" baseline="0" noProof="0" dirty="0">
                <a:ln>
                  <a:noFill/>
                </a:ln>
                <a:solidFill>
                  <a:srgbClr val="E39BBE"/>
                </a:solidFill>
                <a:effectLst/>
                <a:uLnTx/>
                <a:uFillTx/>
                <a:latin typeface="Public Sans" pitchFamily="34" charset="0"/>
                <a:ea typeface="Public Sans" pitchFamily="34" charset="-122"/>
                <a:cs typeface="Public Sans" pitchFamily="34" charset="-120"/>
                <a:hlinkClick r:id="rId5">
                  <a:extLst>
                    <a:ext uri="{A12FA001-AC4F-418D-AE19-62706E023703}">
                      <ahyp:hlinkClr xmlns:ahyp="http://schemas.microsoft.com/office/drawing/2018/hyperlinkcolor" val="tx"/>
                    </a:ext>
                  </a:extLst>
                </a:hlinkClick>
              </a:rPr>
              <a:t>Open the live report in Power BI</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where and who</a:t>
            </a:r>
            <a:endParaRPr lang="en-US" sz="3200" dirty="0"/>
          </a:p>
        </p:txBody>
      </p:sp>
      <p:pic>
        <p:nvPicPr>
          <p:cNvPr id="3" name="Image 0" descr="Bivariate map of Calgary’s 113 areas coloured by median income and local incident rate, with a 3×3 legend showing how many areas fall in each group"/>
          <p:cNvPicPr>
            <a:picLocks noChangeAspect="1"/>
          </p:cNvPicPr>
          <p:nvPr/>
        </p:nvPicPr>
        <p:blipFill>
          <a:blip r:embed="rId3"/>
          <a:stretch>
            <a:fillRect/>
          </a:stretch>
        </p:blipFill>
        <p:spPr>
          <a:xfrm>
            <a:off x="548640" y="1325880"/>
            <a:ext cx="4559831" cy="4892040"/>
          </a:xfrm>
          <a:prstGeom prst="rect">
            <a:avLst/>
          </a:prstGeom>
        </p:spPr>
      </p:pic>
      <p:sp>
        <p:nvSpPr>
          <p:cNvPr id="4" name="Text 1"/>
          <p:cNvSpPr txBox="1"/>
          <p:nvPr/>
        </p:nvSpPr>
        <p:spPr>
          <a:xfrm>
            <a:off x="5577840" y="1371600"/>
            <a:ext cx="283464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B4467E"/>
                </a:solidFill>
                <a:effectLst/>
                <a:uLnTx/>
                <a:uFillTx/>
                <a:latin typeface="Libre Baskerville" pitchFamily="34" charset="0"/>
                <a:ea typeface="Libre Baskerville" pitchFamily="34" charset="-122"/>
                <a:cs typeface="Libre Baskerville" pitchFamily="34" charset="-120"/>
              </a:rPr>
              <a:t>16</a:t>
            </a:r>
            <a:endParaRPr kumimoji="0" lang="en-US" sz="34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5" name="Text 2"/>
          <p:cNvSpPr txBox="1"/>
          <p:nvPr/>
        </p:nvSpPr>
        <p:spPr>
          <a:xfrm>
            <a:off x="5577840" y="2011680"/>
            <a:ext cx="28346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lower-income areas have high incident rates (pink)</a:t>
            </a:r>
            <a:endParaRPr kumimoji="0" lang="en-US" sz="1500" b="0" i="0" u="none" strike="noStrike" kern="1200" cap="none" spc="0" normalizeH="0" baseline="0" noProof="0" dirty="0">
              <a:ln>
                <a:noFill/>
              </a:ln>
              <a:solidFill>
                <a:prstClr val="black"/>
              </a:solidFill>
              <a:effectLst/>
              <a:uLnTx/>
              <a:uFillTx/>
              <a:ea typeface="+mn-ea"/>
              <a:cs typeface="+mn-cs"/>
            </a:endParaRPr>
          </a:p>
        </p:txBody>
      </p:sp>
      <p:sp>
        <p:nvSpPr>
          <p:cNvPr id="6" name="Text 3"/>
          <p:cNvSpPr txBox="1"/>
          <p:nvPr/>
        </p:nvSpPr>
        <p:spPr>
          <a:xfrm>
            <a:off x="8686800" y="1371600"/>
            <a:ext cx="283464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4E6596"/>
                </a:solidFill>
                <a:effectLst/>
                <a:uLnTx/>
                <a:uFillTx/>
                <a:latin typeface="Libre Baskerville" pitchFamily="34" charset="0"/>
                <a:ea typeface="Libre Baskerville" pitchFamily="34" charset="-122"/>
                <a:cs typeface="Libre Baskerville" pitchFamily="34" charset="-120"/>
              </a:rPr>
              <a:t>16</a:t>
            </a:r>
            <a:endParaRPr kumimoji="0" lang="en-US" sz="3400" b="0" i="0" u="none" strike="noStrike" kern="1200" cap="none" spc="0" normalizeH="0" baseline="0" noProof="0" dirty="0">
              <a:ln>
                <a:noFill/>
              </a:ln>
              <a:solidFill>
                <a:prstClr val="black"/>
              </a:solidFill>
              <a:effectLst/>
              <a:uLnTx/>
              <a:uFillTx/>
              <a:ea typeface="+mn-ea"/>
              <a:cs typeface="+mn-cs"/>
            </a:endParaRPr>
          </a:p>
        </p:txBody>
      </p:sp>
      <p:sp>
        <p:nvSpPr>
          <p:cNvPr id="7" name="Text 4"/>
          <p:cNvSpPr txBox="1"/>
          <p:nvPr/>
        </p:nvSpPr>
        <p:spPr>
          <a:xfrm>
            <a:off x="8686800" y="2011680"/>
            <a:ext cx="28346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higher-income areas have low incident rates (blue)</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8" name="Text 5"/>
          <p:cNvSpPr txBox="1"/>
          <p:nvPr/>
        </p:nvSpPr>
        <p:spPr>
          <a:xfrm>
            <a:off x="5577840" y="2697480"/>
            <a:ext cx="6035040" cy="3657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2B2B30"/>
                </a:solidFill>
                <a:effectLst/>
                <a:uLnTx/>
                <a:uFillTx/>
                <a:latin typeface="Public Sans" pitchFamily="34" charset="0"/>
                <a:ea typeface="Public Sans" pitchFamily="34" charset="-122"/>
                <a:cs typeface="Public Sans" pitchFamily="34" charset="-120"/>
              </a:rPr>
              <a:t>The two largest groups on the map are mirror images of </a:t>
            </a:r>
            <a:r>
              <a:rPr kumimoji="0" lang="en-US" sz="1500" b="1" i="0" u="none" strike="noStrike" kern="1200" cap="none" spc="0" normalizeH="0" baseline="0" noProof="0">
                <a:ln>
                  <a:noFill/>
                </a:ln>
                <a:solidFill>
                  <a:srgbClr val="2B2B30"/>
                </a:solidFill>
                <a:effectLst/>
                <a:uLnTx/>
                <a:uFillTx/>
                <a:latin typeface="Public Sans" pitchFamily="34" charset="0"/>
                <a:ea typeface="Public Sans" pitchFamily="34" charset="-122"/>
                <a:cs typeface="Public Sans" pitchFamily="34" charset="-120"/>
              </a:rPr>
              <a:t>each other.</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9" name="Text 6"/>
          <p:cNvSpPr txBox="1"/>
          <p:nvPr/>
        </p:nvSpPr>
        <p:spPr>
          <a:xfrm>
            <a:off x="5577840" y="3337560"/>
            <a:ext cx="6035040"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2B2B30"/>
                </a:solidFill>
                <a:effectLst/>
                <a:uLnTx/>
                <a:uFillTx/>
                <a:latin typeface="Libre Baskerville" pitchFamily="34" charset="0"/>
                <a:ea typeface="Libre Baskerville" pitchFamily="34" charset="-122"/>
                <a:cs typeface="Libre Baskerville" pitchFamily="34" charset="-120"/>
              </a:rPr>
              <a:t>East vs. west</a:t>
            </a:r>
            <a:endParaRPr kumimoji="0" lang="en-US" sz="26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0" name="Text 7"/>
          <p:cNvSpPr txBox="1"/>
          <p:nvPr/>
        </p:nvSpPr>
        <p:spPr>
          <a:xfrm>
            <a:off x="5577840" y="3840480"/>
            <a:ext cx="6035040" cy="411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Pink areas line the east side of the city; blue areas fill the west and south.</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1" name="Text 8"/>
          <p:cNvSpPr txBox="1"/>
          <p:nvPr/>
        </p:nvSpPr>
        <p:spPr>
          <a:xfrm>
            <a:off x="5577840" y="4526280"/>
            <a:ext cx="6035040"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4A4A78"/>
                </a:solidFill>
                <a:effectLst/>
                <a:uLnTx/>
                <a:uFillTx/>
                <a:latin typeface="Libre Baskerville" pitchFamily="34" charset="0"/>
                <a:ea typeface="Libre Baskerville" pitchFamily="34" charset="-122"/>
                <a:cs typeface="Libre Baskerville" pitchFamily="34" charset="-120"/>
              </a:rPr>
              <a:t>11</a:t>
            </a:r>
            <a:endParaRPr kumimoji="0" lang="en-US" sz="26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2" name="Text 9"/>
          <p:cNvSpPr txBox="1"/>
          <p:nvPr/>
        </p:nvSpPr>
        <p:spPr>
          <a:xfrm>
            <a:off x="5577840" y="5029200"/>
            <a:ext cx="60350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higher-income areas still have high rates (dark purple), mostly in the city centre</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when</a:t>
            </a:r>
            <a:endParaRPr lang="en-US" sz="3200" dirty="0"/>
          </a:p>
        </p:txBody>
      </p:sp>
      <p:pic>
        <p:nvPicPr>
          <p:cNvPr id="3" name="Image 0" descr="Heatmap of incidents by day of week and hour, darkest on weekday afternoons from 3 to 6 PM"/>
          <p:cNvPicPr>
            <a:picLocks noChangeAspect="1"/>
          </p:cNvPicPr>
          <p:nvPr/>
        </p:nvPicPr>
        <p:blipFill>
          <a:blip r:embed="rId3"/>
          <a:stretch>
            <a:fillRect/>
          </a:stretch>
        </p:blipFill>
        <p:spPr>
          <a:xfrm>
            <a:off x="548640" y="1371600"/>
            <a:ext cx="5989320" cy="3190873"/>
          </a:xfrm>
          <a:prstGeom prst="rect">
            <a:avLst/>
          </a:prstGeom>
        </p:spPr>
      </p:pic>
      <p:pic>
        <p:nvPicPr>
          <p:cNvPr id="4" name="Image 1" descr="Column chart of incidents per 100,000 residents by month; September to February are above average, April is lowest"/>
          <p:cNvPicPr>
            <a:picLocks noChangeAspect="1"/>
          </p:cNvPicPr>
          <p:nvPr/>
        </p:nvPicPr>
        <p:blipFill>
          <a:blip r:embed="rId4"/>
          <a:stretch>
            <a:fillRect/>
          </a:stretch>
        </p:blipFill>
        <p:spPr>
          <a:xfrm>
            <a:off x="6888175" y="1371600"/>
            <a:ext cx="4754880" cy="3009699"/>
          </a:xfrm>
          <a:prstGeom prst="rect">
            <a:avLst/>
          </a:prstGeom>
        </p:spPr>
      </p:pic>
      <p:sp>
        <p:nvSpPr>
          <p:cNvPr id="5" name="Text 1"/>
          <p:cNvSpPr txBox="1"/>
          <p:nvPr/>
        </p:nvSpPr>
        <p:spPr>
          <a:xfrm>
            <a:off x="548640" y="4754880"/>
            <a:ext cx="598932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26% of incidents</a:t>
            </a:r>
            <a:r>
              <a:rPr lang="en-US" sz="1700" dirty="0">
                <a:solidFill>
                  <a:srgbClr val="4A4A52"/>
                </a:solidFill>
                <a:latin typeface="Public Sans" pitchFamily="34" charset="0"/>
                <a:ea typeface="Public Sans" pitchFamily="34" charset="-122"/>
                <a:cs typeface="Public Sans" pitchFamily="34" charset="-120"/>
              </a:rPr>
              <a:t> happen between 3 and 6 PM, peaking 5–6 PM. Sundays see about half of Wednesday’s total.</a:t>
            </a:r>
            <a:endParaRPr lang="en-US" sz="1700" dirty="0"/>
          </a:p>
        </p:txBody>
      </p:sp>
      <p:sp>
        <p:nvSpPr>
          <p:cNvPr id="6" name="Text 2"/>
          <p:cNvSpPr txBox="1"/>
          <p:nvPr/>
        </p:nvSpPr>
        <p:spPr>
          <a:xfrm>
            <a:off x="6888175" y="4754880"/>
            <a:ext cx="475488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December runs 1.6× April</a:t>
            </a:r>
            <a:r>
              <a:rPr lang="en-US" sz="1700" dirty="0">
                <a:solidFill>
                  <a:srgbClr val="4A4A52"/>
                </a:solidFill>
                <a:latin typeface="Public Sans" pitchFamily="34" charset="0"/>
                <a:ea typeface="Public Sans" pitchFamily="34" charset="-122"/>
                <a:cs typeface="Public Sans" pitchFamily="34" charset="-120"/>
              </a:rPr>
              <a:t> (55.5 vs. 35.0 per 100,000 residents a month). Fall and winter sit above average.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p:cNvGrpSpPr/>
        <p:nvPr/>
      </p:nvGrpSpPr>
      <p:grpSpPr>
        <a:xfrm>
          <a:off x="0" y="0"/>
          <a:ext cx="0" cy="0"/>
          <a:chOff x="0" y="0"/>
          <a:chExt cx="0" cy="0"/>
        </a:xfrm>
      </p:grpSpPr>
      <p:sp>
        <p:nvSpPr>
          <p:cNvPr id="2" name="Shape 0"/>
          <p:cNvSpPr/>
          <p:nvPr/>
        </p:nvSpPr>
        <p:spPr>
          <a:xfrm>
            <a:off x="8686800" y="1905000"/>
            <a:ext cx="863600" cy="863600"/>
          </a:xfrm>
          <a:prstGeom prst="rect">
            <a:avLst/>
          </a:prstGeom>
          <a:solidFill>
            <a:srgbClr val="D47BA3"/>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3" name="Shape 1"/>
          <p:cNvSpPr/>
          <p:nvPr/>
        </p:nvSpPr>
        <p:spPr>
          <a:xfrm>
            <a:off x="9601200" y="1905000"/>
            <a:ext cx="863600" cy="863600"/>
          </a:xfrm>
          <a:prstGeom prst="rect">
            <a:avLst/>
          </a:prstGeom>
          <a:solidFill>
            <a:srgbClr val="9E6B9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4" name="Shape 2"/>
          <p:cNvSpPr/>
          <p:nvPr/>
        </p:nvSpPr>
        <p:spPr>
          <a:xfrm>
            <a:off x="10515600" y="1905000"/>
            <a:ext cx="863600" cy="863600"/>
          </a:xfrm>
          <a:prstGeom prst="rect">
            <a:avLst/>
          </a:prstGeom>
          <a:solidFill>
            <a:srgbClr val="4A4A7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5" name="Shape 3"/>
          <p:cNvSpPr/>
          <p:nvPr/>
        </p:nvSpPr>
        <p:spPr>
          <a:xfrm>
            <a:off x="8686800" y="2819400"/>
            <a:ext cx="863600" cy="863600"/>
          </a:xfrm>
          <a:prstGeom prst="rect">
            <a:avLst/>
          </a:prstGeom>
          <a:solidFill>
            <a:srgbClr val="DBB7C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6" name="Shape 4"/>
          <p:cNvSpPr/>
          <p:nvPr/>
        </p:nvSpPr>
        <p:spPr>
          <a:xfrm>
            <a:off x="9601200" y="2819400"/>
            <a:ext cx="863600" cy="863600"/>
          </a:xfrm>
          <a:prstGeom prst="rect">
            <a:avLst/>
          </a:prstGeom>
          <a:solidFill>
            <a:srgbClr val="A3A3C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7" name="Shape 5"/>
          <p:cNvSpPr/>
          <p:nvPr/>
        </p:nvSpPr>
        <p:spPr>
          <a:xfrm>
            <a:off x="10515600" y="2819400"/>
            <a:ext cx="863600" cy="863600"/>
          </a:xfrm>
          <a:prstGeom prst="rect">
            <a:avLst/>
          </a:prstGeom>
          <a:solidFill>
            <a:srgbClr val="56709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8" name="Shape 6"/>
          <p:cNvSpPr/>
          <p:nvPr/>
        </p:nvSpPr>
        <p:spPr>
          <a:xfrm>
            <a:off x="8686800" y="3733800"/>
            <a:ext cx="863600" cy="863600"/>
          </a:xfrm>
          <a:prstGeom prst="rect">
            <a:avLst/>
          </a:prstGeom>
          <a:solidFill>
            <a:srgbClr val="EAE1D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9" name="Shape 7"/>
          <p:cNvSpPr/>
          <p:nvPr/>
        </p:nvSpPr>
        <p:spPr>
          <a:xfrm>
            <a:off x="9601200" y="3733800"/>
            <a:ext cx="863600" cy="863600"/>
          </a:xfrm>
          <a:prstGeom prst="rect">
            <a:avLst/>
          </a:prstGeom>
          <a:solidFill>
            <a:srgbClr val="B5C0D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0" name="Shape 8"/>
          <p:cNvSpPr/>
          <p:nvPr/>
        </p:nvSpPr>
        <p:spPr>
          <a:xfrm>
            <a:off x="10515600" y="3733800"/>
            <a:ext cx="863600" cy="863600"/>
          </a:xfrm>
          <a:prstGeom prst="rect">
            <a:avLst/>
          </a:prstGeom>
          <a:solidFill>
            <a:srgbClr val="6C83B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1" name="Text 9"/>
          <p:cNvSpPr>
            <a:spLocks noGrp="1"/>
          </p:cNvSpPr>
          <p:nvPr>
            <p:ph type="title"/>
          </p:nvPr>
        </p:nvSpPr>
        <p:spPr>
          <a:xfrm>
            <a:off x="812800" y="2771142"/>
            <a:ext cx="7194550" cy="695960"/>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4EEE3"/>
                </a:solidFill>
                <a:latin typeface="Libre Baskerville" pitchFamily="18" charset="0"/>
                <a:ea typeface="Libre Baskerville" pitchFamily="18" charset="-122"/>
                <a:cs typeface="Libre Baskerville" pitchFamily="18" charset="-120"/>
              </a:rPr>
              <a:t>Thank you</a:t>
            </a:r>
            <a:endParaRPr lang="en-US" sz="4800" dirty="0"/>
          </a:p>
        </p:txBody>
      </p:sp>
      <p:sp>
        <p:nvSpPr>
          <p:cNvPr id="12" name="Text 10"/>
          <p:cNvSpPr/>
          <p:nvPr/>
        </p:nvSpPr>
        <p:spPr>
          <a:xfrm>
            <a:off x="812800" y="3695700"/>
            <a:ext cx="7194550" cy="4165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E39BBE"/>
                </a:solidFill>
                <a:effectLst/>
                <a:uLnTx/>
                <a:uFillTx/>
                <a:latin typeface="Public Sans" pitchFamily="34" charset="0"/>
                <a:ea typeface="Public Sans" pitchFamily="34" charset="-122"/>
                <a:cs typeface="Public Sans" pitchFamily="34" charset="-120"/>
              </a:rPr>
              <a:t>Questions?</a:t>
            </a:r>
            <a:endParaRPr kumimoji="0" lang="en-US" sz="2200" b="0" i="0" u="none" strike="noStrike" kern="1200" cap="none" spc="0" normalizeH="0" baseline="0" noProof="0" dirty="0">
              <a:ln>
                <a:noFill/>
              </a:ln>
              <a:solidFill>
                <a:srgbClr val="2B2B30"/>
              </a:solidFill>
              <a:effectLst/>
              <a:uLnTx/>
              <a:uFillTx/>
              <a:ea typeface="+mn-ea"/>
              <a:cs typeface="+mn-cs"/>
            </a:endParaRPr>
          </a:p>
        </p:txBody>
      </p:sp>
      <p:sp>
        <p:nvSpPr>
          <p:cNvPr id="13" name="Text 11"/>
          <p:cNvSpPr/>
          <p:nvPr/>
        </p:nvSpPr>
        <p:spPr>
          <a:xfrm>
            <a:off x="812800" y="5999479"/>
            <a:ext cx="7194550"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algary Traffic Incidents – Project Showcase">
  <a:themeElements>
    <a:clrScheme name="Calgary Traffic Incidents – Project Showcase">
      <a:dk1>
        <a:srgbClr val="2B2B30"/>
      </a:dk1>
      <a:lt1>
        <a:srgbClr val="F4EEE3"/>
      </a:lt1>
      <a:dk2>
        <a:srgbClr val="5D5C5D"/>
      </a:dk2>
      <a:lt2>
        <a:srgbClr val="E0DBD1"/>
      </a:lt2>
      <a:accent1>
        <a:srgbClr val="A63E74"/>
      </a:accent1>
      <a:accent2>
        <a:srgbClr val="E39BBE"/>
      </a:accent2>
      <a:accent3>
        <a:srgbClr val="4E6596"/>
      </a:accent3>
      <a:accent4>
        <a:srgbClr val="D47BA3"/>
      </a:accent4>
      <a:accent5>
        <a:srgbClr val="9E6B92"/>
      </a:accent5>
      <a:accent6>
        <a:srgbClr val="4A4A78"/>
      </a:accent6>
      <a:hlink>
        <a:srgbClr val="0563C1"/>
      </a:hlink>
      <a:folHlink>
        <a:srgbClr val="954F72"/>
      </a:folHlink>
    </a:clrScheme>
    <a:fontScheme name="Calgary Traffic Incidents – Project Showcas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TotalTime>
  <Words>1537</Words>
  <Application>Microsoft Office PowerPoint</Application>
  <PresentationFormat>Widescreen</PresentationFormat>
  <Paragraphs>100</Paragraphs>
  <Slides>9</Slides>
  <Notes>9</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9</vt:i4>
      </vt:variant>
    </vt:vector>
  </HeadingPairs>
  <TitlesOfParts>
    <vt:vector size="15" baseType="lpstr">
      <vt:lpstr>Aptos</vt:lpstr>
      <vt:lpstr>Arial</vt:lpstr>
      <vt:lpstr>Libre Baskerville</vt:lpstr>
      <vt:lpstr>Public Sans</vt:lpstr>
      <vt:lpstr>Office Theme</vt:lpstr>
      <vt:lpstr>Calgary Traffic Incidents – Project Showcase</vt:lpstr>
      <vt:lpstr>PowerPoint Presentation</vt:lpstr>
      <vt:lpstr>Project overview</vt:lpstr>
      <vt:lpstr>Analysis questions</vt:lpstr>
      <vt:lpstr>Datasets obtained</vt:lpstr>
      <vt:lpstr>Data wrangling and cleaning</vt:lpstr>
      <vt:lpstr>The dashboard so far</vt:lpstr>
      <vt:lpstr>Findings: where and who</vt:lpstr>
      <vt:lpstr>Findings: when</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Calgary Traffic Incidents – Midpoint Report</dc:title>
  <dc:subject>PptxGenJS Presentation</dc:subject>
  <dc:creator>Adrian Julve</dc:creator>
  <cp:lastModifiedBy>Adrian Julve</cp:lastModifiedBy>
  <cp:revision>3</cp:revision>
  <dcterms:created xsi:type="dcterms:W3CDTF">2026-10-19T04:03:27Z</dcterms:created>
  <dcterms:modified xsi:type="dcterms:W3CDTF">2026-10-20T03:09:05Z</dcterms:modified>
</cp:coreProperties>
</file>