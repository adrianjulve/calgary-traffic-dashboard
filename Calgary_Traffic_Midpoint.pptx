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1"/>
            <p14:sldId id="262"/>
            <p14:sldId id="263"/>
          </p14:sldIdLst>
        </p14:section>
        <p14:section name="Next steps" id="{75CB5C99-DBEE-01FC-6830-C56481DFBFE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3" d="100"/>
          <a:sy n="163" d="100"/>
        </p:scale>
        <p:origin x="1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the times were in UTC, so I shifted them to Calgary time, allowing for daylight saving, and built hour, weekday and month columns. Fourth, I set each incident’s type from keywords in its description and flagged highway incidents by street name. Fifth, to compare areas fairly, I divided each area’s incidents by its population and the nine years, using only local roads in residential communities. Finally, I filtered to the nine complete years, which leaves 58,536 incidents.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as it stands. Across the top are four KPIs that update with the filters. The main visual is a bivariate map: each area is coloured by its median income and its incident rate at the same time, and clicking an area or a legend square fills in the details panel. On the right are the time patterns, and in the bottom right a chart linking incident rates to other neighbourhood traits. Everything responds to the year, incident type and community type filters.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data shows so far. Of the 37 lowest-income areas, 16 land in the highest incident-rate group, compared with 11 of the 38 highest-income areas. Grouped into fifths by income, the lowest-income fifth has about 1.7 times the local incident rate of the highest. But income alone is a weak signal: its correlation is only minus 0.22. Renter share, at plus 0.68, and the share of low-income adults and recent movers, both around 0.63, track incident rates much more closely. Car-oriented suburbs of detached homes have the lowest rates. So housing and mobility seem to matter more than income itself.</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second half, I have four next steps. First, the rate uses residents, which overstates places like downtown and the industrial east that pull in commuters, so I want to account for traffic volume. Second, I want to look at who is hurt, comparing pedestrian and cyclist incidents across income groups. Third, I’ll test whether the gap between income groups has grown since 2020. And finally, I’ll write up the limits: these are patterns across areas, not individual risk, and correlations don’t show cause. Thanks, and I’m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PROJECT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pPr marL="0" indent="0">
              <a:buNone/>
            </a:pPr>
            <a:r>
              <a:rPr lang="en-US" sz="1400" dirty="0">
                <a:solidFill>
                  <a:srgbClr val="C9C7CF"/>
                </a:solidFill>
                <a:latin typeface="Public Sans" pitchFamily="34" charset="0"/>
                <a:ea typeface="Public Sans" pitchFamily="34" charset="-122"/>
                <a:cs typeface="Public Sans" pitchFamily="34" charset="-120"/>
              </a:rPr>
              <a:t>Adrian Julve · Data 201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Python read each area’s boundary outline and checked which one contains each incident’s map point (a point-in-polygon test). 785 fall outside every area.</a:t>
            </a:r>
            <a:endParaRPr lang="en-US" sz="1400" dirty="0"/>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Used local time</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Shifted timestamps from UTC to Calgary time, 7 hours back in winter and 6 in summer, then built hour, weekday and month columns.</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F6F4F0"/>
                </a:solidFill>
                <a:latin typeface="Libre Baskerville" pitchFamily="34" charset="0"/>
                <a:ea typeface="Libre Baskerville" pitchFamily="34" charset="-122"/>
                <a:cs typeface="Libre Baskerville" pitchFamily="34" charset="-120"/>
              </a:rPr>
              <a:t>The dashboard so far</a:t>
            </a:r>
            <a:endParaRPr lang="en-US" sz="3200" dirty="0"/>
          </a:p>
        </p:txBody>
      </p:sp>
      <p:pic>
        <p:nvPicPr>
          <p:cNvPr id="3" name="Image 0" descr="Screenshot of the Power BI dashboard: KPI cards, bivariate income and incident-rate map, area details panel, day-by-hour heatmap, monthly chart and neighbourhood-trait correlation chart"/>
          <p:cNvPicPr>
            <a:picLocks noChangeAspect="1"/>
          </p:cNvPicPr>
          <p:nvPr/>
        </p:nvPicPr>
        <p:blipFill>
          <a:blip r:embed="rId3"/>
          <a:stretch>
            <a:fillRect/>
          </a:stretch>
        </p:blipFill>
        <p:spPr>
          <a:xfrm>
            <a:off x="548640" y="1371600"/>
            <a:ext cx="7863840" cy="4411157"/>
          </a:xfrm>
          <a:prstGeom prst="rect">
            <a:avLst/>
          </a:prstGeom>
        </p:spPr>
      </p:pic>
      <p:sp>
        <p:nvSpPr>
          <p:cNvPr id="4" name="Text 1"/>
          <p:cNvSpPr txBox="1"/>
          <p:nvPr/>
        </p:nvSpPr>
        <p:spPr>
          <a:xfrm>
            <a:off x="8778240" y="1417320"/>
            <a:ext cx="2834640" cy="320040"/>
          </a:xfrm>
          <a:prstGeom prst="rect">
            <a:avLst/>
          </a:prstGeom>
          <a:noFill/>
          <a:ln/>
        </p:spPr>
        <p:txBody>
          <a:bodyPr wrap="square" lIns="0" tIns="0" rIns="0" bIns="0" rtlCol="0" anchor="t"/>
          <a:lstStyle/>
          <a:p>
            <a:pPr marL="0" indent="0">
              <a:buNone/>
            </a:pPr>
            <a:r>
              <a:rPr lang="en-US" sz="1300" b="1" kern="0" spc="200" dirty="0">
                <a:solidFill>
                  <a:srgbClr val="E39BBE"/>
                </a:solidFill>
                <a:latin typeface="Public Sans" pitchFamily="34" charset="0"/>
                <a:ea typeface="Public Sans" pitchFamily="34" charset="-122"/>
                <a:cs typeface="Public Sans" pitchFamily="34" charset="-120"/>
              </a:rPr>
              <a:t>BUILT</a:t>
            </a:r>
            <a:endParaRPr lang="en-US" sz="1300" dirty="0"/>
          </a:p>
        </p:txBody>
      </p:sp>
      <p:sp>
        <p:nvSpPr>
          <p:cNvPr id="5" name="Text 2"/>
          <p:cNvSpPr txBox="1"/>
          <p:nvPr/>
        </p:nvSpPr>
        <p:spPr>
          <a:xfrm>
            <a:off x="8778240" y="1874520"/>
            <a:ext cx="2834640" cy="384048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4 KPIs that follow the filters</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Income × incident-rate map</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Click-through area details</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Day-by-hour heatmap</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Monthly pattern</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Neighbourhood-trait links</a:t>
            </a:r>
            <a:endParaRPr lang="en-US" sz="1500" dirty="0"/>
          </a:p>
          <a:p>
            <a:pPr marL="342900" indent="-342900">
              <a:spcAft>
                <a:spcPts val="900"/>
              </a:spcAft>
              <a:buSzPct val="100000"/>
              <a:buChar char="•"/>
            </a:pPr>
            <a:r>
              <a:rPr lang="en-US" sz="1500" dirty="0">
                <a:solidFill>
                  <a:srgbClr val="C9C7CF"/>
                </a:solidFill>
                <a:latin typeface="Public Sans" pitchFamily="34" charset="0"/>
                <a:ea typeface="Public Sans" pitchFamily="34" charset="-122"/>
                <a:cs typeface="Public Sans" pitchFamily="34" charset="-120"/>
              </a:rPr>
              <a:t>Year, type and community filters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417320"/>
            <a:ext cx="6035040" cy="640080"/>
          </a:xfrm>
          <a:prstGeom prst="rect">
            <a:avLst/>
          </a:prstGeom>
          <a:noFill/>
          <a:ln/>
        </p:spPr>
        <p:txBody>
          <a:bodyPr wrap="square" lIns="0" tIns="0" rIns="0" bIns="0" rtlCol="0" anchor="t"/>
          <a:lstStyle/>
          <a:p>
            <a:pPr marL="0" indent="0">
              <a:buNone/>
            </a:pPr>
            <a:r>
              <a:rPr lang="en-US" sz="3400" b="1" dirty="0">
                <a:solidFill>
                  <a:srgbClr val="B4467E"/>
                </a:solidFill>
                <a:latin typeface="Libre Baskerville" pitchFamily="34" charset="0"/>
                <a:ea typeface="Libre Baskerville" pitchFamily="34" charset="-122"/>
                <a:cs typeface="Libre Baskerville" pitchFamily="34" charset="-120"/>
              </a:rPr>
              <a:t>16 of 37</a:t>
            </a:r>
            <a:endParaRPr lang="en-US" sz="3400" dirty="0"/>
          </a:p>
        </p:txBody>
      </p:sp>
      <p:sp>
        <p:nvSpPr>
          <p:cNvPr id="5" name="Text 2"/>
          <p:cNvSpPr txBox="1"/>
          <p:nvPr/>
        </p:nvSpPr>
        <p:spPr>
          <a:xfrm>
            <a:off x="5577840" y="2075688"/>
            <a:ext cx="6035040" cy="731520"/>
          </a:xfrm>
          <a:prstGeom prst="rect">
            <a:avLst/>
          </a:prstGeom>
          <a:noFill/>
          <a:ln/>
        </p:spPr>
        <p:txBody>
          <a:bodyPr wrap="square" lIns="0" tIns="0" rIns="0" bIns="0" rtlCol="0" anchor="t"/>
          <a:lstStyle/>
          <a:p>
            <a:pPr marL="0" indent="0">
              <a:buNone/>
            </a:pPr>
            <a:r>
              <a:rPr lang="en-US" sz="1600" dirty="0">
                <a:solidFill>
                  <a:srgbClr val="4A4A52"/>
                </a:solidFill>
                <a:latin typeface="Public Sans" pitchFamily="34" charset="0"/>
                <a:ea typeface="Public Sans" pitchFamily="34" charset="-122"/>
                <a:cs typeface="Public Sans" pitchFamily="34" charset="-120"/>
              </a:rPr>
              <a:t>lower-income areas fall in the highest incident-rate third, vs. 11 of 38 higher-income areas</a:t>
            </a:r>
            <a:endParaRPr lang="en-US" sz="1600" dirty="0"/>
          </a:p>
        </p:txBody>
      </p:sp>
      <p:sp>
        <p:nvSpPr>
          <p:cNvPr id="6" name="Text 3"/>
          <p:cNvSpPr txBox="1"/>
          <p:nvPr/>
        </p:nvSpPr>
        <p:spPr>
          <a:xfrm>
            <a:off x="5577840" y="3017520"/>
            <a:ext cx="6035040" cy="640080"/>
          </a:xfrm>
          <a:prstGeom prst="rect">
            <a:avLst/>
          </a:prstGeom>
          <a:noFill/>
          <a:ln/>
        </p:spPr>
        <p:txBody>
          <a:bodyPr wrap="square" lIns="0" tIns="0" rIns="0" bIns="0" rtlCol="0" anchor="t"/>
          <a:lstStyle/>
          <a:p>
            <a:pPr marL="0" indent="0">
              <a:buNone/>
            </a:pPr>
            <a:r>
              <a:rPr lang="en-US" sz="3400" b="1" dirty="0">
                <a:solidFill>
                  <a:srgbClr val="B4467E"/>
                </a:solidFill>
                <a:latin typeface="Libre Baskerville" pitchFamily="34" charset="0"/>
                <a:ea typeface="Libre Baskerville" pitchFamily="34" charset="-122"/>
                <a:cs typeface="Libre Baskerville" pitchFamily="34" charset="-120"/>
              </a:rPr>
              <a:t>1.7×</a:t>
            </a:r>
            <a:endParaRPr lang="en-US" sz="3400" dirty="0"/>
          </a:p>
        </p:txBody>
      </p:sp>
      <p:sp>
        <p:nvSpPr>
          <p:cNvPr id="7" name="Text 4"/>
          <p:cNvSpPr txBox="1"/>
          <p:nvPr/>
        </p:nvSpPr>
        <p:spPr>
          <a:xfrm>
            <a:off x="5577840" y="3675888"/>
            <a:ext cx="6035040" cy="731520"/>
          </a:xfrm>
          <a:prstGeom prst="rect">
            <a:avLst/>
          </a:prstGeom>
          <a:noFill/>
          <a:ln/>
        </p:spPr>
        <p:txBody>
          <a:bodyPr wrap="square" lIns="0" tIns="0" rIns="0" bIns="0" rtlCol="0" anchor="t"/>
          <a:lstStyle/>
          <a:p>
            <a:pPr marL="0" indent="0">
              <a:buNone/>
            </a:pPr>
            <a:r>
              <a:rPr lang="en-US" sz="1600" dirty="0">
                <a:solidFill>
                  <a:srgbClr val="4A4A52"/>
                </a:solidFill>
                <a:latin typeface="Public Sans" pitchFamily="34" charset="0"/>
                <a:ea typeface="Public Sans" pitchFamily="34" charset="-122"/>
                <a:cs typeface="Public Sans" pitchFamily="34" charset="-120"/>
              </a:rPr>
              <a:t>the local incident rate in the lowest-income fifth (2.35 vs. 1.38 per 1,000 residents a year)</a:t>
            </a:r>
            <a:endParaRPr lang="en-US" sz="1600" dirty="0"/>
          </a:p>
        </p:txBody>
      </p:sp>
      <p:sp>
        <p:nvSpPr>
          <p:cNvPr id="8" name="Text 5"/>
          <p:cNvSpPr txBox="1"/>
          <p:nvPr/>
        </p:nvSpPr>
        <p:spPr>
          <a:xfrm>
            <a:off x="5577840" y="4617720"/>
            <a:ext cx="6035040" cy="640080"/>
          </a:xfrm>
          <a:prstGeom prst="rect">
            <a:avLst/>
          </a:prstGeom>
          <a:noFill/>
          <a:ln/>
        </p:spPr>
        <p:txBody>
          <a:bodyPr wrap="square" lIns="0" tIns="0" rIns="0" bIns="0" rtlCol="0" anchor="t"/>
          <a:lstStyle/>
          <a:p>
            <a:pPr marL="0" indent="0">
              <a:buNone/>
            </a:pPr>
            <a:r>
              <a:rPr lang="en-US" sz="3400" b="1" dirty="0">
                <a:solidFill>
                  <a:srgbClr val="4E6596"/>
                </a:solidFill>
                <a:latin typeface="Libre Baskerville" pitchFamily="34" charset="0"/>
                <a:ea typeface="Libre Baskerville" pitchFamily="34" charset="-122"/>
                <a:cs typeface="Libre Baskerville" pitchFamily="34" charset="-120"/>
              </a:rPr>
              <a:t>+0.68 vs. −0.22</a:t>
            </a:r>
            <a:endParaRPr lang="en-US" sz="3400" dirty="0"/>
          </a:p>
        </p:txBody>
      </p:sp>
      <p:sp>
        <p:nvSpPr>
          <p:cNvPr id="9" name="Text 6"/>
          <p:cNvSpPr txBox="1"/>
          <p:nvPr/>
        </p:nvSpPr>
        <p:spPr>
          <a:xfrm>
            <a:off x="5577840" y="5276088"/>
            <a:ext cx="6035040" cy="731520"/>
          </a:xfrm>
          <a:prstGeom prst="rect">
            <a:avLst/>
          </a:prstGeom>
          <a:noFill/>
          <a:ln/>
        </p:spPr>
        <p:txBody>
          <a:bodyPr wrap="square" lIns="0" tIns="0" rIns="0" bIns="0" rtlCol="0" anchor="t"/>
          <a:lstStyle/>
          <a:p>
            <a:pPr marL="0" indent="0">
              <a:buNone/>
            </a:pPr>
            <a:r>
              <a:rPr lang="en-US" sz="1600" dirty="0">
                <a:solidFill>
                  <a:srgbClr val="4A4A52"/>
                </a:solidFill>
                <a:latin typeface="Public Sans" pitchFamily="34" charset="0"/>
                <a:ea typeface="Public Sans" pitchFamily="34" charset="-122"/>
                <a:cs typeface="Public Sans" pitchFamily="34" charset="-120"/>
              </a:rPr>
              <a:t>renter share tracks incident rates far more closely than median income does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F6F4F0"/>
                </a:solidFill>
                <a:latin typeface="Libre Baskerville" pitchFamily="34" charset="0"/>
                <a:ea typeface="Libre Baskerville" pitchFamily="34" charset="-122"/>
                <a:cs typeface="Libre Baskerville" pitchFamily="34" charset="-120"/>
              </a:rPr>
              <a:t>Next steps</a:t>
            </a:r>
            <a:endParaRPr lang="en-US" sz="3200" dirty="0"/>
          </a:p>
        </p:txBody>
      </p:sp>
      <p:sp>
        <p:nvSpPr>
          <p:cNvPr id="3" name="next_card_0"/>
          <p:cNvSpPr/>
          <p:nvPr/>
        </p:nvSpPr>
        <p:spPr>
          <a:xfrm>
            <a:off x="548640" y="1371600"/>
            <a:ext cx="5396332" cy="1783080"/>
          </a:xfrm>
          <a:prstGeom prst="roundRect">
            <a:avLst>
              <a:gd name="adj" fmla="val 6154"/>
            </a:avLst>
          </a:prstGeom>
          <a:solidFill>
            <a:srgbClr val="36363C"/>
          </a:solidFill>
          <a:ln w="12700">
            <a:solidFill>
              <a:srgbClr val="36363C"/>
            </a:solidFill>
            <a:prstDash val="solid"/>
          </a:ln>
        </p:spPr>
        <p:txBody>
          <a:bodyPr/>
          <a:lstStyle/>
          <a:p>
            <a:endParaRPr lang="en-CA"/>
          </a:p>
        </p:txBody>
      </p:sp>
      <p:sp>
        <p:nvSpPr>
          <p:cNvPr id="4" name="Text 2"/>
          <p:cNvSpPr txBox="1"/>
          <p:nvPr/>
        </p:nvSpPr>
        <p:spPr>
          <a:xfrm>
            <a:off x="868680" y="1645920"/>
            <a:ext cx="4756252" cy="457200"/>
          </a:xfrm>
          <a:prstGeom prst="rect">
            <a:avLst/>
          </a:prstGeom>
          <a:noFill/>
          <a:ln/>
        </p:spPr>
        <p:txBody>
          <a:bodyPr wrap="square" lIns="0" tIns="0" rIns="0" bIns="0" rtlCol="0" anchor="t"/>
          <a:lstStyle/>
          <a:p>
            <a:pPr marL="0" indent="0">
              <a:buNone/>
            </a:pPr>
            <a:r>
              <a:rPr lang="en-US" sz="2000" b="1" dirty="0">
                <a:solidFill>
                  <a:srgbClr val="E39BBE"/>
                </a:solidFill>
                <a:latin typeface="Public Sans" pitchFamily="34" charset="0"/>
                <a:ea typeface="Public Sans" pitchFamily="34" charset="-122"/>
                <a:cs typeface="Public Sans" pitchFamily="34" charset="-120"/>
              </a:rPr>
              <a:t>Account for traffic, not just residents</a:t>
            </a:r>
            <a:endParaRPr lang="en-US" sz="2000" dirty="0"/>
          </a:p>
        </p:txBody>
      </p:sp>
      <p:sp>
        <p:nvSpPr>
          <p:cNvPr id="5" name="Text 3"/>
          <p:cNvSpPr txBox="1"/>
          <p:nvPr/>
        </p:nvSpPr>
        <p:spPr>
          <a:xfrm>
            <a:off x="868680" y="2176272"/>
            <a:ext cx="4756252" cy="777240"/>
          </a:xfrm>
          <a:prstGeom prst="rect">
            <a:avLst/>
          </a:prstGeom>
          <a:noFill/>
          <a:ln/>
        </p:spPr>
        <p:txBody>
          <a:bodyPr wrap="square" lIns="0" tIns="0" rIns="0" bIns="0" rtlCol="0" anchor="t"/>
          <a:lstStyle/>
          <a:p>
            <a:pPr marL="0" indent="0">
              <a:buNone/>
            </a:pPr>
            <a:r>
              <a:rPr lang="en-US" sz="1600" dirty="0">
                <a:solidFill>
                  <a:srgbClr val="C9C7CF"/>
                </a:solidFill>
                <a:latin typeface="Public Sans" pitchFamily="34" charset="0"/>
                <a:ea typeface="Public Sans" pitchFamily="34" charset="-122"/>
                <a:cs typeface="Public Sans" pitchFamily="34" charset="-120"/>
              </a:rPr>
              <a:t>Downtown and industrial areas draw commuters, so a resident-based rate overstates them.</a:t>
            </a:r>
            <a:endParaRPr lang="en-US" sz="1600" dirty="0"/>
          </a:p>
        </p:txBody>
      </p:sp>
      <p:sp>
        <p:nvSpPr>
          <p:cNvPr id="6" name="next_card_1"/>
          <p:cNvSpPr/>
          <p:nvPr/>
        </p:nvSpPr>
        <p:spPr>
          <a:xfrm>
            <a:off x="6246724" y="1371600"/>
            <a:ext cx="5396332" cy="1783080"/>
          </a:xfrm>
          <a:prstGeom prst="roundRect">
            <a:avLst>
              <a:gd name="adj" fmla="val 6154"/>
            </a:avLst>
          </a:prstGeom>
          <a:solidFill>
            <a:srgbClr val="36363C"/>
          </a:solidFill>
          <a:ln w="12700">
            <a:solidFill>
              <a:srgbClr val="36363C"/>
            </a:solidFill>
            <a:prstDash val="solid"/>
          </a:ln>
        </p:spPr>
        <p:txBody>
          <a:bodyPr/>
          <a:lstStyle/>
          <a:p>
            <a:endParaRPr lang="en-CA"/>
          </a:p>
        </p:txBody>
      </p:sp>
      <p:sp>
        <p:nvSpPr>
          <p:cNvPr id="7" name="Text 5"/>
          <p:cNvSpPr txBox="1"/>
          <p:nvPr/>
        </p:nvSpPr>
        <p:spPr>
          <a:xfrm>
            <a:off x="6566764" y="1645920"/>
            <a:ext cx="4756252" cy="457200"/>
          </a:xfrm>
          <a:prstGeom prst="rect">
            <a:avLst/>
          </a:prstGeom>
          <a:noFill/>
          <a:ln/>
        </p:spPr>
        <p:txBody>
          <a:bodyPr wrap="square" lIns="0" tIns="0" rIns="0" bIns="0" rtlCol="0" anchor="t"/>
          <a:lstStyle/>
          <a:p>
            <a:pPr marL="0" indent="0">
              <a:buNone/>
            </a:pPr>
            <a:r>
              <a:rPr lang="en-US" sz="2000" b="1" dirty="0">
                <a:solidFill>
                  <a:srgbClr val="E39BBE"/>
                </a:solidFill>
                <a:latin typeface="Public Sans" pitchFamily="34" charset="0"/>
                <a:ea typeface="Public Sans" pitchFamily="34" charset="-122"/>
                <a:cs typeface="Public Sans" pitchFamily="34" charset="-120"/>
              </a:rPr>
              <a:t>Look at who gets hurt</a:t>
            </a:r>
            <a:endParaRPr lang="en-US" sz="2000" dirty="0"/>
          </a:p>
        </p:txBody>
      </p:sp>
      <p:sp>
        <p:nvSpPr>
          <p:cNvPr id="8" name="Text 6"/>
          <p:cNvSpPr txBox="1"/>
          <p:nvPr/>
        </p:nvSpPr>
        <p:spPr>
          <a:xfrm>
            <a:off x="6566764" y="2176272"/>
            <a:ext cx="4756252" cy="777240"/>
          </a:xfrm>
          <a:prstGeom prst="rect">
            <a:avLst/>
          </a:prstGeom>
          <a:noFill/>
          <a:ln/>
        </p:spPr>
        <p:txBody>
          <a:bodyPr wrap="square" lIns="0" tIns="0" rIns="0" bIns="0" rtlCol="0" anchor="t"/>
          <a:lstStyle/>
          <a:p>
            <a:pPr marL="0" indent="0">
              <a:buNone/>
            </a:pPr>
            <a:r>
              <a:rPr lang="en-US" sz="1600" dirty="0">
                <a:solidFill>
                  <a:srgbClr val="C9C7CF"/>
                </a:solidFill>
                <a:latin typeface="Public Sans" pitchFamily="34" charset="0"/>
                <a:ea typeface="Public Sans" pitchFamily="34" charset="-122"/>
                <a:cs typeface="Public Sans" pitchFamily="34" charset="-120"/>
              </a:rPr>
              <a:t>Compare pedestrian and cyclist incidents across income groups.</a:t>
            </a:r>
            <a:endParaRPr lang="en-US" sz="1600" dirty="0"/>
          </a:p>
        </p:txBody>
      </p:sp>
      <p:sp>
        <p:nvSpPr>
          <p:cNvPr id="9" name="next_card_2"/>
          <p:cNvSpPr/>
          <p:nvPr/>
        </p:nvSpPr>
        <p:spPr>
          <a:xfrm>
            <a:off x="548640" y="3383280"/>
            <a:ext cx="5396332" cy="1783080"/>
          </a:xfrm>
          <a:prstGeom prst="roundRect">
            <a:avLst>
              <a:gd name="adj" fmla="val 6154"/>
            </a:avLst>
          </a:prstGeom>
          <a:solidFill>
            <a:srgbClr val="36363C"/>
          </a:solidFill>
          <a:ln w="12700">
            <a:solidFill>
              <a:srgbClr val="36363C"/>
            </a:solidFill>
            <a:prstDash val="solid"/>
          </a:ln>
        </p:spPr>
        <p:txBody>
          <a:bodyPr/>
          <a:lstStyle/>
          <a:p>
            <a:endParaRPr lang="en-CA"/>
          </a:p>
        </p:txBody>
      </p:sp>
      <p:sp>
        <p:nvSpPr>
          <p:cNvPr id="10" name="Text 8"/>
          <p:cNvSpPr txBox="1"/>
          <p:nvPr/>
        </p:nvSpPr>
        <p:spPr>
          <a:xfrm>
            <a:off x="868680" y="3657600"/>
            <a:ext cx="4756252" cy="457200"/>
          </a:xfrm>
          <a:prstGeom prst="rect">
            <a:avLst/>
          </a:prstGeom>
          <a:noFill/>
          <a:ln/>
        </p:spPr>
        <p:txBody>
          <a:bodyPr wrap="square" lIns="0" tIns="0" rIns="0" bIns="0" rtlCol="0" anchor="t"/>
          <a:lstStyle/>
          <a:p>
            <a:pPr marL="0" indent="0">
              <a:buNone/>
            </a:pPr>
            <a:r>
              <a:rPr lang="en-US" sz="2000" b="1" dirty="0">
                <a:solidFill>
                  <a:srgbClr val="9DB0DA"/>
                </a:solidFill>
                <a:latin typeface="Public Sans" pitchFamily="34" charset="0"/>
                <a:ea typeface="Public Sans" pitchFamily="34" charset="-122"/>
                <a:cs typeface="Public Sans" pitchFamily="34" charset="-120"/>
              </a:rPr>
              <a:t>Track the gap over time</a:t>
            </a:r>
            <a:endParaRPr lang="en-US" sz="2000" dirty="0"/>
          </a:p>
        </p:txBody>
      </p:sp>
      <p:sp>
        <p:nvSpPr>
          <p:cNvPr id="11" name="Text 9"/>
          <p:cNvSpPr txBox="1"/>
          <p:nvPr/>
        </p:nvSpPr>
        <p:spPr>
          <a:xfrm>
            <a:off x="868680" y="4187952"/>
            <a:ext cx="4756252" cy="777240"/>
          </a:xfrm>
          <a:prstGeom prst="rect">
            <a:avLst/>
          </a:prstGeom>
          <a:noFill/>
          <a:ln/>
        </p:spPr>
        <p:txBody>
          <a:bodyPr wrap="square" lIns="0" tIns="0" rIns="0" bIns="0" rtlCol="0" anchor="t"/>
          <a:lstStyle/>
          <a:p>
            <a:pPr marL="0" indent="0">
              <a:buNone/>
            </a:pPr>
            <a:r>
              <a:rPr lang="en-US" sz="1600" dirty="0">
                <a:solidFill>
                  <a:srgbClr val="C9C7CF"/>
                </a:solidFill>
                <a:latin typeface="Public Sans" pitchFamily="34" charset="0"/>
                <a:ea typeface="Public Sans" pitchFamily="34" charset="-122"/>
                <a:cs typeface="Public Sans" pitchFamily="34" charset="-120"/>
              </a:rPr>
              <a:t>Test whether the difference between income groups has grown since 2020.</a:t>
            </a:r>
            <a:endParaRPr lang="en-US" sz="1600" dirty="0"/>
          </a:p>
        </p:txBody>
      </p:sp>
      <p:sp>
        <p:nvSpPr>
          <p:cNvPr id="12" name="next_card_3"/>
          <p:cNvSpPr/>
          <p:nvPr/>
        </p:nvSpPr>
        <p:spPr>
          <a:xfrm>
            <a:off x="6246724" y="3383280"/>
            <a:ext cx="5396332" cy="1783080"/>
          </a:xfrm>
          <a:prstGeom prst="roundRect">
            <a:avLst>
              <a:gd name="adj" fmla="val 6154"/>
            </a:avLst>
          </a:prstGeom>
          <a:solidFill>
            <a:srgbClr val="36363C"/>
          </a:solidFill>
          <a:ln w="12700">
            <a:solidFill>
              <a:srgbClr val="36363C"/>
            </a:solidFill>
            <a:prstDash val="solid"/>
          </a:ln>
        </p:spPr>
        <p:txBody>
          <a:bodyPr/>
          <a:lstStyle/>
          <a:p>
            <a:endParaRPr lang="en-CA"/>
          </a:p>
        </p:txBody>
      </p:sp>
      <p:sp>
        <p:nvSpPr>
          <p:cNvPr id="13" name="Text 11"/>
          <p:cNvSpPr txBox="1"/>
          <p:nvPr/>
        </p:nvSpPr>
        <p:spPr>
          <a:xfrm>
            <a:off x="6566764" y="3657600"/>
            <a:ext cx="4756252" cy="457200"/>
          </a:xfrm>
          <a:prstGeom prst="rect">
            <a:avLst/>
          </a:prstGeom>
          <a:noFill/>
          <a:ln/>
        </p:spPr>
        <p:txBody>
          <a:bodyPr wrap="square" lIns="0" tIns="0" rIns="0" bIns="0" rtlCol="0" anchor="t"/>
          <a:lstStyle/>
          <a:p>
            <a:pPr marL="0" indent="0">
              <a:buNone/>
            </a:pPr>
            <a:r>
              <a:rPr lang="en-US" sz="2000" b="1" dirty="0">
                <a:solidFill>
                  <a:srgbClr val="9DB0DA"/>
                </a:solidFill>
                <a:latin typeface="Public Sans" pitchFamily="34" charset="0"/>
                <a:ea typeface="Public Sans" pitchFamily="34" charset="-122"/>
                <a:cs typeface="Public Sans" pitchFamily="34" charset="-120"/>
              </a:rPr>
              <a:t>Write up the limits</a:t>
            </a:r>
            <a:endParaRPr lang="en-US" sz="2000" dirty="0"/>
          </a:p>
        </p:txBody>
      </p:sp>
      <p:sp>
        <p:nvSpPr>
          <p:cNvPr id="14" name="Text 12"/>
          <p:cNvSpPr txBox="1"/>
          <p:nvPr/>
        </p:nvSpPr>
        <p:spPr>
          <a:xfrm>
            <a:off x="6566764" y="4187952"/>
            <a:ext cx="4756252" cy="777240"/>
          </a:xfrm>
          <a:prstGeom prst="rect">
            <a:avLst/>
          </a:prstGeom>
          <a:noFill/>
          <a:ln/>
        </p:spPr>
        <p:txBody>
          <a:bodyPr wrap="square" lIns="0" tIns="0" rIns="0" bIns="0" rtlCol="0" anchor="t"/>
          <a:lstStyle/>
          <a:p>
            <a:pPr marL="0" indent="0">
              <a:buNone/>
            </a:pPr>
            <a:r>
              <a:rPr lang="en-US" sz="1600" dirty="0">
                <a:solidFill>
                  <a:srgbClr val="C9C7CF"/>
                </a:solidFill>
                <a:latin typeface="Public Sans" pitchFamily="34" charset="0"/>
                <a:ea typeface="Public Sans" pitchFamily="34" charset="-122"/>
                <a:cs typeface="Public Sans" pitchFamily="34" charset="-120"/>
              </a:rPr>
              <a:t>These are area-level patterns, not individual risk, and correlation, not cause.</a:t>
            </a:r>
            <a:endParaRPr lang="en-US" sz="1600" dirty="0"/>
          </a:p>
        </p:txBody>
      </p:sp>
      <p:sp>
        <p:nvSpPr>
          <p:cNvPr id="15" name="Text 13"/>
          <p:cNvSpPr txBox="1"/>
          <p:nvPr/>
        </p:nvSpPr>
        <p:spPr>
          <a:xfrm>
            <a:off x="548640" y="5623560"/>
            <a:ext cx="5486400" cy="548640"/>
          </a:xfrm>
          <a:prstGeom prst="rect">
            <a:avLst/>
          </a:prstGeom>
          <a:noFill/>
          <a:ln/>
        </p:spPr>
        <p:txBody>
          <a:bodyPr wrap="square" lIns="0" tIns="0" rIns="0" bIns="0" rtlCol="0" anchor="t"/>
          <a:lstStyle/>
          <a:p>
            <a:pPr marL="0" indent="0">
              <a:buNone/>
            </a:pPr>
            <a:r>
              <a:rPr lang="en-US" sz="2600" dirty="0">
                <a:solidFill>
                  <a:srgbClr val="F6F4F0"/>
                </a:solidFill>
                <a:latin typeface="Libre Baskerville" pitchFamily="34" charset="0"/>
                <a:ea typeface="Libre Baskerville" pitchFamily="34" charset="-122"/>
                <a:cs typeface="Libre Baskerville" pitchFamily="34" charset="-120"/>
              </a:rPr>
              <a:t>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1562</Words>
  <Application>Microsoft Office PowerPoint</Application>
  <PresentationFormat>Widescreen</PresentationFormat>
  <Paragraphs>109</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Libre Baskerville</vt:lpstr>
      <vt:lpstr>Public Sans</vt:lpstr>
      <vt:lpstr>Office Theme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Next steps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2</cp:revision>
  <dcterms:created xsi:type="dcterms:W3CDTF">2026-10-19T04:03:27Z</dcterms:created>
  <dcterms:modified xsi:type="dcterms:W3CDTF">2026-10-19T04:06:12Z</dcterms:modified>
</cp:coreProperties>
</file>