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webextensions/webextension1.xml" ContentType="application/vnd.ms-office.webextension+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5" r:id="rId8"/>
    <p:sldId id="262" r:id="rId9"/>
    <p:sldId id="263" r:id="rId10"/>
    <p:sldId id="264"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3" d="100"/>
          <a:sy n="163" d="100"/>
        </p:scale>
        <p:origin x="17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797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Adrian. My project looks at traffic incidents in Calgary and asks whether they follow neighbourhood income and other socioeconomic conditions. The grid on the right is the colour key from my main map, which I’ll come back to. In the next five minutes I’ll cover the project, my questions, the data, how I cleaned it, and what the dashboard shows so far.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Traffic incidents aren’t random. They cluster on certain roads, at certain times, and in certain parts of the city. My project uses City of Calgary open data to ask whether neighbourhood income and related conditions, like renting, low income and how people commute, line up with where incidents happen. The study area is the whole city, split into 113 community service areas. I use nine complete years, 2017 to 2025, and the result is an interactive Power BI dashboard.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three questions. First, where: once we account for how many people live in an area, where do incidents concentrate, and does that match neighbourhood income? Second, who: beyond income, which neighbourhood traits, like renting, low income or commuting by car, go along with higher incident rates? Third, when: what times of day, days of the week and months of the year see the most incidents? Each question maps to a part of the dashboard.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datasets come from the City of Calgary’s open data portal, and all are obtained. Traffic Incidents is the core: 65,138 records, each with a location, description and timestamp. The Equity Index file covers 113 community service areas with population, median income and 16 other census measures, plus their boundaries. Community District Boundaries adds 313 communities with their land-use class, which lets me separate residential areas from industrial ones.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work so far has been getting the data ready. Each incident only came with a location, so I matched it to the neighbourhood it happened in. The census data needed rearranging into one row per area. Times were stored in a different time zone, so I converted them to Calgary time and added the hour, day and month. I grouped incidents by type and flagged major highways. To compare areas fairly, I counted incidents per 1,000 residents a year, using local roads in residential areas, so highways and industrial zones don’t skew the results. Finally, I kept only the nine complete years.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dashboard as it stands. Across the top are four KPIs that update with the filters. The main visual is a bivariate map: each area is coloured by its median income and its incident rate at the same time, and clicking an area or a legend square fills in the details panel. On the right are the time patterns, and in the bottom right a chart linking incident rates to other neighbourhood traits. Everything responds to the year, incident type and community type filters.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23591-F01B-32F9-BC15-97108F22EA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B26712-B7FF-2768-DFC6-8028E57399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F253FA-C53A-CCD7-541C-53FD925C4386}"/>
              </a:ext>
            </a:extLst>
          </p:cNvPr>
          <p:cNvSpPr>
            <a:spLocks noGrp="1"/>
          </p:cNvSpPr>
          <p:nvPr>
            <p:ph type="body" idx="1"/>
          </p:nvPr>
        </p:nvSpPr>
        <p:spPr/>
        <p:txBody>
          <a:bodyPr/>
          <a:lstStyle/>
          <a:p>
            <a:r>
              <a:rPr lang="en-US" dirty="0"/>
              <a:t>This is the dashboard as it stands. Across the top are four KPIs that update with the filters. The main visual is a bivariate map: each area is coloured by its median income and its incident rate at the same time, and clicking an area or a legend square fills in the details panel. On the right are the time patterns, and in the bottom right a chart linking incident rates to other neighbourhood traits. Everything responds to the year, incident type and community type filters.</a:t>
            </a:r>
          </a:p>
        </p:txBody>
      </p:sp>
      <p:sp>
        <p:nvSpPr>
          <p:cNvPr id="4" name="Slide Number Placeholder 3">
            <a:extLst>
              <a:ext uri="{FF2B5EF4-FFF2-40B4-BE49-F238E27FC236}">
                <a16:creationId xmlns:a16="http://schemas.microsoft.com/office/drawing/2014/main" id="{DEA626A7-E343-A0FB-9AA6-7C134D27F752}"/>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4461851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the data shows so far. Of the 37 lowest-income areas, 16 land in the highest incident-rate group, compared with 11 of the 38 highest-income areas. Grouped into fifths by income, the lowest-income fifth has about 1.7 times the local incident rate of the highest. But income alone is a weak signal: its correlation is only minus 0.22. Renter share, at plus 0.68, and the share of low-income adults and recent movers, both around 0.63, track incident rates much more closely. Car-oriented suburbs of detached homes have the lowest rates. So housing and mobility seem to matter more than income itself.</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 patterns are clear. The heatmap shows incidents concentrate on weekday afternoons: about a quarter of all incidents happen between 3 and 6 PM, and 5 to 6 PM is the single busiest hour, which lines up with the evening commute. Weekends are much quieter; Sunday has about half as many incidents as Wednesday. By month, the rate climbs through fall and peaks in November and December, at about 1.6 times April’s rate, which points to winter driving conditions and shorter daylight.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second half, I have four next steps. First, the rate uses residents, which overstates places like downtown and the industrial east that pull in commuters, so I want to account for traffic volume. Second, I want to look at who is hurt, comparing pedestrian and cyclist incidents across income groups. Third, I’ll test whether the gap between income groups has grown since 2020. And finally, I’ll write up the limits: these are patterns across areas, not individual risk, and correlations don’t show cause. Thanks, and I’m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67360"/>
          </a:xfrm>
          <a:prstGeom prst="rect">
            <a:avLst/>
          </a:prstGeom>
          <a:noFill/>
          <a:ln/>
        </p:spPr>
        <p:txBody>
          <a:bodyPr wrap="square" lIns="0" tIns="0" rIns="0" bIns="0" rtlCol="0" anchor="t"/>
          <a:lstStyle>
            <a:lvl1pPr marL="0" indent="0" algn="l">
              <a:lnSpc>
                <a:spcPct val="115000"/>
              </a:lnSpc>
              <a:buNone/>
              <a:defRPr lang="en-US" sz="3200" dirty="0">
                <a:solidFill>
                  <a:srgbClr val="2B2B30"/>
                </a:solidFill>
                <a:latin typeface="Libre Baskerville" pitchFamily="34" charset="0"/>
                <a:ea typeface="Libre Baskerville" pitchFamily="34" charset="-122"/>
                <a:cs typeface="Libre Baskervill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84960"/>
            <a:ext cx="10566400" cy="4460240"/>
          </a:xfrm>
          <a:prstGeom prst="rect">
            <a:avLst/>
          </a:prstGeom>
          <a:noFill/>
          <a:ln/>
        </p:spPr>
        <p:txBody>
          <a:bodyPr wrap="square" lIns="0" tIns="0" rIns="0" bIns="0" rtlCol="0" anchor="t"/>
          <a:lstStyle>
            <a:lvl1pPr marL="0" indent="0" algn="l">
              <a:lnSpc>
                <a:spcPct val="140000"/>
              </a:lnSpc>
              <a:buNone/>
              <a:defRPr lang="en-US" sz="1600" dirty="0">
                <a:solidFill>
                  <a:srgbClr val="2B2B30"/>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67360"/>
          </a:xfrm>
          <a:prstGeom prst="rect">
            <a:avLst/>
          </a:prstGeom>
          <a:noFill/>
          <a:ln/>
        </p:spPr>
        <p:txBody>
          <a:bodyPr wrap="square" lIns="0" tIns="0" rIns="0" bIns="0" rtlCol="0" anchor="t"/>
          <a:lstStyle>
            <a:lvl1pPr marL="0" indent="0" algn="l">
              <a:lnSpc>
                <a:spcPct val="115000"/>
              </a:lnSpc>
              <a:buNone/>
              <a:defRPr lang="en-US" sz="3200" dirty="0">
                <a:solidFill>
                  <a:srgbClr val="2B2B30"/>
                </a:solidFill>
                <a:latin typeface="Libre Baskerville" pitchFamily="34" charset="0"/>
                <a:ea typeface="Libre Baskerville" pitchFamily="34" charset="-122"/>
                <a:cs typeface="Libre Baskervill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84960"/>
            <a:ext cx="10566400" cy="4460240"/>
          </a:xfrm>
          <a:prstGeom prst="rect">
            <a:avLst/>
          </a:prstGeom>
          <a:noFill/>
          <a:ln/>
        </p:spPr>
        <p:txBody>
          <a:bodyPr wrap="square" lIns="0" tIns="0" rIns="0" bIns="0" rtlCol="0" anchor="t"/>
          <a:lstStyle>
            <a:lvl1pPr marL="0" indent="0" algn="l">
              <a:lnSpc>
                <a:spcPct val="140000"/>
              </a:lnSpc>
              <a:buNone/>
              <a:defRPr lang="en-US" sz="1600" dirty="0">
                <a:solidFill>
                  <a:srgbClr val="2B2B30"/>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11/relationships/webextension" Target="../webextensions/webextension1.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B30"/>
        </a:solidFill>
        <a:effectLst/>
      </p:bgPr>
    </p:bg>
    <p:spTree>
      <p:nvGrpSpPr>
        <p:cNvPr id="1" name=""/>
        <p:cNvGrpSpPr/>
        <p:nvPr/>
      </p:nvGrpSpPr>
      <p:grpSpPr>
        <a:xfrm>
          <a:off x="0" y="0"/>
          <a:ext cx="0" cy="0"/>
          <a:chOff x="0" y="0"/>
          <a:chExt cx="0" cy="0"/>
        </a:xfrm>
      </p:grpSpPr>
      <p:sp>
        <p:nvSpPr>
          <p:cNvPr id="2" name="Shape 0"/>
          <p:cNvSpPr/>
          <p:nvPr/>
        </p:nvSpPr>
        <p:spPr>
          <a:xfrm>
            <a:off x="8686800" y="1905000"/>
            <a:ext cx="863600" cy="863600"/>
          </a:xfrm>
          <a:prstGeom prst="rect">
            <a:avLst/>
          </a:prstGeom>
          <a:solidFill>
            <a:srgbClr val="D47BA3"/>
          </a:solidFill>
          <a:ln/>
        </p:spPr>
        <p:txBody>
          <a:bodyPr/>
          <a:lstStyle/>
          <a:p>
            <a:endParaRPr lang="en-CA"/>
          </a:p>
        </p:txBody>
      </p:sp>
      <p:sp>
        <p:nvSpPr>
          <p:cNvPr id="3" name="Shape 1"/>
          <p:cNvSpPr/>
          <p:nvPr/>
        </p:nvSpPr>
        <p:spPr>
          <a:xfrm>
            <a:off x="9601200" y="1905000"/>
            <a:ext cx="863600" cy="863600"/>
          </a:xfrm>
          <a:prstGeom prst="rect">
            <a:avLst/>
          </a:prstGeom>
          <a:solidFill>
            <a:srgbClr val="9E6B92"/>
          </a:solidFill>
          <a:ln/>
        </p:spPr>
        <p:txBody>
          <a:bodyPr/>
          <a:lstStyle/>
          <a:p>
            <a:endParaRPr lang="en-CA"/>
          </a:p>
        </p:txBody>
      </p:sp>
      <p:sp>
        <p:nvSpPr>
          <p:cNvPr id="4" name="Shape 2"/>
          <p:cNvSpPr/>
          <p:nvPr/>
        </p:nvSpPr>
        <p:spPr>
          <a:xfrm>
            <a:off x="10515600" y="1905000"/>
            <a:ext cx="863600" cy="863600"/>
          </a:xfrm>
          <a:prstGeom prst="rect">
            <a:avLst/>
          </a:prstGeom>
          <a:solidFill>
            <a:srgbClr val="4A4A78"/>
          </a:solidFill>
          <a:ln/>
        </p:spPr>
        <p:txBody>
          <a:bodyPr/>
          <a:lstStyle/>
          <a:p>
            <a:endParaRPr lang="en-CA"/>
          </a:p>
        </p:txBody>
      </p:sp>
      <p:sp>
        <p:nvSpPr>
          <p:cNvPr id="5" name="Shape 3"/>
          <p:cNvSpPr/>
          <p:nvPr/>
        </p:nvSpPr>
        <p:spPr>
          <a:xfrm>
            <a:off x="8686800" y="2819400"/>
            <a:ext cx="863600" cy="863600"/>
          </a:xfrm>
          <a:prstGeom prst="rect">
            <a:avLst/>
          </a:prstGeom>
          <a:solidFill>
            <a:srgbClr val="DBB7CF"/>
          </a:solidFill>
          <a:ln/>
        </p:spPr>
        <p:txBody>
          <a:bodyPr/>
          <a:lstStyle/>
          <a:p>
            <a:endParaRPr lang="en-CA"/>
          </a:p>
        </p:txBody>
      </p:sp>
      <p:sp>
        <p:nvSpPr>
          <p:cNvPr id="6" name="Shape 4"/>
          <p:cNvSpPr/>
          <p:nvPr/>
        </p:nvSpPr>
        <p:spPr>
          <a:xfrm>
            <a:off x="9601200" y="2819400"/>
            <a:ext cx="863600" cy="863600"/>
          </a:xfrm>
          <a:prstGeom prst="rect">
            <a:avLst/>
          </a:prstGeom>
          <a:solidFill>
            <a:srgbClr val="A3A3C8"/>
          </a:solidFill>
          <a:ln/>
        </p:spPr>
        <p:txBody>
          <a:bodyPr/>
          <a:lstStyle/>
          <a:p>
            <a:endParaRPr lang="en-CA"/>
          </a:p>
        </p:txBody>
      </p:sp>
      <p:sp>
        <p:nvSpPr>
          <p:cNvPr id="7" name="Shape 5"/>
          <p:cNvSpPr/>
          <p:nvPr/>
        </p:nvSpPr>
        <p:spPr>
          <a:xfrm>
            <a:off x="10515600" y="2819400"/>
            <a:ext cx="863600" cy="863600"/>
          </a:xfrm>
          <a:prstGeom prst="rect">
            <a:avLst/>
          </a:prstGeom>
          <a:solidFill>
            <a:srgbClr val="56709E"/>
          </a:solidFill>
          <a:ln/>
        </p:spPr>
        <p:txBody>
          <a:bodyPr/>
          <a:lstStyle/>
          <a:p>
            <a:endParaRPr lang="en-CA"/>
          </a:p>
        </p:txBody>
      </p:sp>
      <p:sp>
        <p:nvSpPr>
          <p:cNvPr id="8" name="Shape 6"/>
          <p:cNvSpPr/>
          <p:nvPr/>
        </p:nvSpPr>
        <p:spPr>
          <a:xfrm>
            <a:off x="8686800" y="3733800"/>
            <a:ext cx="863600" cy="863600"/>
          </a:xfrm>
          <a:prstGeom prst="rect">
            <a:avLst/>
          </a:prstGeom>
          <a:solidFill>
            <a:srgbClr val="E8E8E8"/>
          </a:solidFill>
          <a:ln/>
        </p:spPr>
        <p:txBody>
          <a:bodyPr/>
          <a:lstStyle/>
          <a:p>
            <a:endParaRPr lang="en-CA"/>
          </a:p>
        </p:txBody>
      </p:sp>
      <p:sp>
        <p:nvSpPr>
          <p:cNvPr id="9" name="Shape 7"/>
          <p:cNvSpPr/>
          <p:nvPr/>
        </p:nvSpPr>
        <p:spPr>
          <a:xfrm>
            <a:off x="9601200" y="3733800"/>
            <a:ext cx="863600" cy="863600"/>
          </a:xfrm>
          <a:prstGeom prst="rect">
            <a:avLst/>
          </a:prstGeom>
          <a:solidFill>
            <a:srgbClr val="B5C0DA"/>
          </a:solidFill>
          <a:ln/>
        </p:spPr>
        <p:txBody>
          <a:bodyPr/>
          <a:lstStyle/>
          <a:p>
            <a:endParaRPr lang="en-CA"/>
          </a:p>
        </p:txBody>
      </p:sp>
      <p:sp>
        <p:nvSpPr>
          <p:cNvPr id="10" name="Shape 8"/>
          <p:cNvSpPr/>
          <p:nvPr/>
        </p:nvSpPr>
        <p:spPr>
          <a:xfrm>
            <a:off x="10515600" y="3733800"/>
            <a:ext cx="863600" cy="863600"/>
          </a:xfrm>
          <a:prstGeom prst="rect">
            <a:avLst/>
          </a:prstGeom>
          <a:solidFill>
            <a:srgbClr val="6C83B5"/>
          </a:solidFill>
          <a:ln/>
        </p:spPr>
        <p:txBody>
          <a:bodyPr/>
          <a:lstStyle/>
          <a:p>
            <a:endParaRPr lang="en-CA"/>
          </a:p>
        </p:txBody>
      </p:sp>
      <p:sp>
        <p:nvSpPr>
          <p:cNvPr id="11" name="Text 9"/>
          <p:cNvSpPr/>
          <p:nvPr/>
        </p:nvSpPr>
        <p:spPr>
          <a:xfrm>
            <a:off x="812800" y="1766570"/>
            <a:ext cx="7194550"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E39BBE"/>
                </a:solidFill>
                <a:latin typeface="Public Sans" pitchFamily="34" charset="0"/>
                <a:ea typeface="Public Sans" pitchFamily="34" charset="-122"/>
                <a:cs typeface="Public Sans" pitchFamily="34" charset="-120"/>
              </a:rPr>
              <a:t>DATA PROJECT · MIDPOINT REPORT</a:t>
            </a:r>
            <a:endParaRPr lang="en-US" sz="1400" dirty="0"/>
          </a:p>
        </p:txBody>
      </p:sp>
      <p:sp>
        <p:nvSpPr>
          <p:cNvPr id="12" name="Text 10"/>
          <p:cNvSpPr>
            <a:spLocks noGrp="1"/>
          </p:cNvSpPr>
          <p:nvPr>
            <p:ph type="title"/>
          </p:nvPr>
        </p:nvSpPr>
        <p:spPr>
          <a:xfrm>
            <a:off x="812800" y="2269490"/>
            <a:ext cx="7325360" cy="1953260"/>
          </a:xfrm>
          <a:prstGeom prst="rect">
            <a:avLst/>
          </a:prstGeom>
          <a:noFill/>
          <a:ln/>
        </p:spPr>
        <p:txBody>
          <a:bodyPr wrap="square" lIns="0" tIns="0" rIns="0" bIns="0" rtlCol="0" anchor="t">
            <a:normAutofit/>
          </a:bodyPr>
          <a:lstStyle/>
          <a:p>
            <a:pPr marL="0" indent="0" algn="l">
              <a:lnSpc>
                <a:spcPts val="5060"/>
              </a:lnSpc>
              <a:buNone/>
            </a:pPr>
            <a:r>
              <a:rPr lang="en-US" sz="4400" b="1" i="0" dirty="0">
                <a:solidFill>
                  <a:srgbClr val="F6F4F0"/>
                </a:solidFill>
                <a:latin typeface="Libre Baskerville" pitchFamily="18" charset="0"/>
                <a:ea typeface="Libre Baskerville" pitchFamily="18" charset="-122"/>
                <a:cs typeface="Libre Baskerville" pitchFamily="18" charset="-120"/>
              </a:rPr>
              <a:t>Traffic Incidents Across Calgary’s Neighbourhoods</a:t>
            </a:r>
            <a:endParaRPr lang="en-US" sz="4400" dirty="0"/>
          </a:p>
        </p:txBody>
      </p:sp>
      <p:sp>
        <p:nvSpPr>
          <p:cNvPr id="13" name="Text 11"/>
          <p:cNvSpPr/>
          <p:nvPr/>
        </p:nvSpPr>
        <p:spPr>
          <a:xfrm>
            <a:off x="812800" y="4451350"/>
            <a:ext cx="7194550" cy="6654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C7CF"/>
                </a:solidFill>
                <a:latin typeface="Public Sans" pitchFamily="34" charset="0"/>
                <a:ea typeface="Public Sans" pitchFamily="34" charset="-122"/>
                <a:cs typeface="Public Sans" pitchFamily="34" charset="-120"/>
              </a:rPr>
              <a:t>Where, when and who: the socioeconomic patterns behind 58,536 incidents, 2017–2025</a:t>
            </a:r>
            <a:endParaRPr lang="en-US" sz="1800" dirty="0"/>
          </a:p>
        </p:txBody>
      </p:sp>
      <p:sp>
        <p:nvSpPr>
          <p:cNvPr id="14" name="Text 12"/>
          <p:cNvSpPr/>
          <p:nvPr/>
        </p:nvSpPr>
        <p:spPr>
          <a:xfrm>
            <a:off x="812800" y="5999480"/>
            <a:ext cx="719455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7CF"/>
                </a:solidFill>
                <a:latin typeface="Public Sans" pitchFamily="34" charset="0"/>
                <a:ea typeface="Public Sans" pitchFamily="34" charset="-122"/>
                <a:cs typeface="Public Sans" pitchFamily="34" charset="-120"/>
              </a:rPr>
              <a:t>Adrian Julve · [Course] · [Date]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2B2B30"/>
                </a:solidFill>
                <a:latin typeface="Libre Baskerville" pitchFamily="18" charset="0"/>
                <a:ea typeface="Libre Baskerville" pitchFamily="18" charset="-122"/>
                <a:cs typeface="Libre Baskerville" pitchFamily="18" charset="-120"/>
              </a:rPr>
              <a:t>Project overview</a:t>
            </a:r>
            <a:endParaRPr lang="en-US" sz="3200" dirty="0"/>
          </a:p>
        </p:txBody>
      </p:sp>
      <p:sp>
        <p:nvSpPr>
          <p:cNvPr id="3" name="Text 1"/>
          <p:cNvSpPr/>
          <p:nvPr/>
        </p:nvSpPr>
        <p:spPr>
          <a:xfrm>
            <a:off x="812800" y="2428875"/>
            <a:ext cx="9810750" cy="1156970"/>
          </a:xfrm>
          <a:prstGeom prst="rect">
            <a:avLst/>
          </a:prstGeom>
          <a:noFill/>
          <a:ln/>
        </p:spPr>
        <p:txBody>
          <a:bodyPr wrap="square" lIns="0" tIns="0" rIns="0" bIns="0" rtlCol="0" anchor="t">
            <a:normAutofit/>
          </a:bodyPr>
          <a:lstStyle/>
          <a:p>
            <a:pPr marL="0" indent="0" algn="l">
              <a:lnSpc>
                <a:spcPts val="2970"/>
              </a:lnSpc>
              <a:buNone/>
            </a:pPr>
            <a:r>
              <a:rPr lang="en-US" sz="2200" dirty="0">
                <a:solidFill>
                  <a:srgbClr val="2B2B30"/>
                </a:solidFill>
                <a:latin typeface="Public Sans" pitchFamily="34" charset="0"/>
                <a:ea typeface="Public Sans" pitchFamily="34" charset="-122"/>
                <a:cs typeface="Public Sans" pitchFamily="34" charset="-120"/>
              </a:rPr>
              <a:t>Traffic incidents aren’t spread evenly across Calgary. This project asks whether </a:t>
            </a:r>
            <a:r>
              <a:rPr lang="en-US" sz="2200" dirty="0">
                <a:solidFill>
                  <a:srgbClr val="B4467E"/>
                </a:solidFill>
                <a:latin typeface="Public Sans" pitchFamily="34" charset="0"/>
                <a:ea typeface="Public Sans" pitchFamily="34" charset="-122"/>
                <a:cs typeface="Public Sans" pitchFamily="34" charset="-120"/>
              </a:rPr>
              <a:t>neighbourhood income and other socioeconomic conditions</a:t>
            </a:r>
            <a:r>
              <a:rPr lang="en-US" sz="2200" dirty="0">
                <a:solidFill>
                  <a:srgbClr val="2B2B30"/>
                </a:solidFill>
                <a:latin typeface="Public Sans" pitchFamily="34" charset="0"/>
                <a:ea typeface="Public Sans" pitchFamily="34" charset="-122"/>
                <a:cs typeface="Public Sans" pitchFamily="34" charset="-120"/>
              </a:rPr>
              <a:t> help explain where, and when, they happen.</a:t>
            </a:r>
            <a:endParaRPr lang="en-US" sz="2200" dirty="0"/>
          </a:p>
        </p:txBody>
      </p:sp>
      <p:sp>
        <p:nvSpPr>
          <p:cNvPr id="4" name="Shape 2"/>
          <p:cNvSpPr/>
          <p:nvPr/>
        </p:nvSpPr>
        <p:spPr>
          <a:xfrm>
            <a:off x="815975" y="4712335"/>
            <a:ext cx="3380264" cy="1329690"/>
          </a:xfrm>
          <a:prstGeom prst="roundRect">
            <a:avLst>
              <a:gd name="adj" fmla="val 7402"/>
            </a:avLst>
          </a:prstGeom>
          <a:solidFill>
            <a:srgbClr val="FFFFFF"/>
          </a:solidFill>
          <a:ln w="6350">
            <a:solidFill>
              <a:srgbClr val="E2DDD6"/>
            </a:solidFill>
            <a:prstDash val="solid"/>
          </a:ln>
        </p:spPr>
        <p:txBody>
          <a:bodyPr/>
          <a:lstStyle/>
          <a:p>
            <a:endParaRPr lang="en-CA"/>
          </a:p>
        </p:txBody>
      </p:sp>
      <p:sp>
        <p:nvSpPr>
          <p:cNvPr id="5" name="Text 3"/>
          <p:cNvSpPr/>
          <p:nvPr/>
        </p:nvSpPr>
        <p:spPr>
          <a:xfrm>
            <a:off x="1071880" y="4968240"/>
            <a:ext cx="2954507"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E6596"/>
                </a:solidFill>
                <a:latin typeface="Public Sans" pitchFamily="34" charset="0"/>
                <a:ea typeface="Public Sans" pitchFamily="34" charset="-122"/>
                <a:cs typeface="Public Sans" pitchFamily="34" charset="-120"/>
              </a:rPr>
              <a:t>AREA</a:t>
            </a:r>
            <a:endParaRPr lang="en-US" sz="1200" dirty="0"/>
          </a:p>
        </p:txBody>
      </p:sp>
      <p:sp>
        <p:nvSpPr>
          <p:cNvPr id="6" name="Text 4"/>
          <p:cNvSpPr/>
          <p:nvPr/>
        </p:nvSpPr>
        <p:spPr>
          <a:xfrm>
            <a:off x="1071880" y="5257800"/>
            <a:ext cx="2954507" cy="5537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2B2B30"/>
                </a:solidFill>
                <a:latin typeface="Public Sans" pitchFamily="34" charset="0"/>
                <a:ea typeface="Public Sans" pitchFamily="34" charset="-122"/>
                <a:cs typeface="Public Sans" pitchFamily="34" charset="-120"/>
              </a:rPr>
              <a:t>City of Calgary, 113 community service areas</a:t>
            </a:r>
            <a:endParaRPr lang="en-US" sz="1600" dirty="0"/>
          </a:p>
        </p:txBody>
      </p:sp>
      <p:sp>
        <p:nvSpPr>
          <p:cNvPr id="7" name="Shape 5"/>
          <p:cNvSpPr/>
          <p:nvPr/>
        </p:nvSpPr>
        <p:spPr>
          <a:xfrm>
            <a:off x="4405789" y="4712335"/>
            <a:ext cx="3380343" cy="1329690"/>
          </a:xfrm>
          <a:prstGeom prst="roundRect">
            <a:avLst>
              <a:gd name="adj" fmla="val 7402"/>
            </a:avLst>
          </a:prstGeom>
          <a:solidFill>
            <a:srgbClr val="FFFFFF"/>
          </a:solidFill>
          <a:ln w="6350">
            <a:solidFill>
              <a:srgbClr val="E2DDD6"/>
            </a:solidFill>
            <a:prstDash val="solid"/>
          </a:ln>
        </p:spPr>
        <p:txBody>
          <a:bodyPr/>
          <a:lstStyle/>
          <a:p>
            <a:endParaRPr lang="en-CA"/>
          </a:p>
        </p:txBody>
      </p:sp>
      <p:sp>
        <p:nvSpPr>
          <p:cNvPr id="8" name="Text 6"/>
          <p:cNvSpPr/>
          <p:nvPr/>
        </p:nvSpPr>
        <p:spPr>
          <a:xfrm>
            <a:off x="4661694" y="4968240"/>
            <a:ext cx="295458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E6596"/>
                </a:solidFill>
                <a:latin typeface="Public Sans" pitchFamily="34" charset="0"/>
                <a:ea typeface="Public Sans" pitchFamily="34" charset="-122"/>
                <a:cs typeface="Public Sans" pitchFamily="34" charset="-120"/>
              </a:rPr>
              <a:t>PERIOD</a:t>
            </a:r>
            <a:endParaRPr lang="en-US" sz="1200" dirty="0"/>
          </a:p>
        </p:txBody>
      </p:sp>
      <p:sp>
        <p:nvSpPr>
          <p:cNvPr id="9" name="Text 7"/>
          <p:cNvSpPr/>
          <p:nvPr/>
        </p:nvSpPr>
        <p:spPr>
          <a:xfrm>
            <a:off x="4661694" y="5257800"/>
            <a:ext cx="2954589" cy="5537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2B2B30"/>
                </a:solidFill>
                <a:latin typeface="Public Sans" pitchFamily="34" charset="0"/>
                <a:ea typeface="Public Sans" pitchFamily="34" charset="-122"/>
                <a:cs typeface="Public Sans" pitchFamily="34" charset="-120"/>
              </a:rPr>
              <a:t>2017–2025, nine complete years</a:t>
            </a:r>
            <a:endParaRPr lang="en-US" sz="1600" dirty="0"/>
          </a:p>
        </p:txBody>
      </p:sp>
      <p:sp>
        <p:nvSpPr>
          <p:cNvPr id="10" name="Shape 8"/>
          <p:cNvSpPr/>
          <p:nvPr/>
        </p:nvSpPr>
        <p:spPr>
          <a:xfrm>
            <a:off x="7995682" y="4712335"/>
            <a:ext cx="3380343" cy="1329690"/>
          </a:xfrm>
          <a:prstGeom prst="roundRect">
            <a:avLst>
              <a:gd name="adj" fmla="val 7402"/>
            </a:avLst>
          </a:prstGeom>
          <a:solidFill>
            <a:srgbClr val="FFFFFF"/>
          </a:solidFill>
          <a:ln w="6350">
            <a:solidFill>
              <a:srgbClr val="E2DDD6"/>
            </a:solidFill>
            <a:prstDash val="solid"/>
          </a:ln>
        </p:spPr>
        <p:txBody>
          <a:bodyPr/>
          <a:lstStyle/>
          <a:p>
            <a:endParaRPr lang="en-CA"/>
          </a:p>
        </p:txBody>
      </p:sp>
      <p:sp>
        <p:nvSpPr>
          <p:cNvPr id="11" name="Text 9"/>
          <p:cNvSpPr/>
          <p:nvPr/>
        </p:nvSpPr>
        <p:spPr>
          <a:xfrm>
            <a:off x="8251587" y="4968240"/>
            <a:ext cx="295458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E6596"/>
                </a:solidFill>
                <a:latin typeface="Public Sans" pitchFamily="34" charset="0"/>
                <a:ea typeface="Public Sans" pitchFamily="34" charset="-122"/>
                <a:cs typeface="Public Sans" pitchFamily="34" charset="-120"/>
              </a:rPr>
              <a:t>OUTPUT</a:t>
            </a:r>
            <a:endParaRPr lang="en-US" sz="1200" dirty="0"/>
          </a:p>
        </p:txBody>
      </p:sp>
      <p:sp>
        <p:nvSpPr>
          <p:cNvPr id="12" name="Text 10"/>
          <p:cNvSpPr/>
          <p:nvPr/>
        </p:nvSpPr>
        <p:spPr>
          <a:xfrm>
            <a:off x="8251587" y="5257800"/>
            <a:ext cx="2954589" cy="5537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2B2B30"/>
                </a:solidFill>
                <a:latin typeface="Public Sans" pitchFamily="34" charset="0"/>
                <a:ea typeface="Public Sans" pitchFamily="34" charset="-122"/>
                <a:cs typeface="Public Sans" pitchFamily="34" charset="-120"/>
              </a:rPr>
              <a:t>An interactive, single-page Power BI dashboard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8E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2B2B30"/>
                </a:solidFill>
                <a:latin typeface="Libre Baskerville" pitchFamily="18" charset="0"/>
                <a:ea typeface="Libre Baskerville" pitchFamily="18" charset="-122"/>
                <a:cs typeface="Libre Baskerville" pitchFamily="18" charset="-120"/>
              </a:rPr>
              <a:t>Analysis questions</a:t>
            </a:r>
            <a:endParaRPr lang="en-US" sz="3200" dirty="0"/>
          </a:p>
        </p:txBody>
      </p:sp>
      <p:sp>
        <p:nvSpPr>
          <p:cNvPr id="3" name="Shape 1"/>
          <p:cNvSpPr/>
          <p:nvPr/>
        </p:nvSpPr>
        <p:spPr>
          <a:xfrm>
            <a:off x="812800" y="2301241"/>
            <a:ext cx="10566400" cy="1231900"/>
          </a:xfrm>
          <a:prstGeom prst="roundRect">
            <a:avLst>
              <a:gd name="adj" fmla="val 8247"/>
            </a:avLst>
          </a:prstGeom>
          <a:solidFill>
            <a:srgbClr val="F6F4F0"/>
          </a:solidFill>
          <a:ln/>
        </p:spPr>
        <p:txBody>
          <a:bodyPr/>
          <a:lstStyle/>
          <a:p>
            <a:endParaRPr lang="en-CA"/>
          </a:p>
        </p:txBody>
      </p:sp>
      <p:sp>
        <p:nvSpPr>
          <p:cNvPr id="4" name="Text 2"/>
          <p:cNvSpPr/>
          <p:nvPr/>
        </p:nvSpPr>
        <p:spPr>
          <a:xfrm>
            <a:off x="1066800" y="2632711"/>
            <a:ext cx="812800" cy="59436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B4467E"/>
                </a:solidFill>
                <a:latin typeface="Libre Baskerville" pitchFamily="18" charset="0"/>
                <a:ea typeface="Libre Baskerville" pitchFamily="18" charset="-122"/>
                <a:cs typeface="Libre Baskerville" pitchFamily="18" charset="-120"/>
              </a:rPr>
              <a:t>01</a:t>
            </a:r>
            <a:endParaRPr lang="en-US" sz="3200" dirty="0"/>
          </a:p>
        </p:txBody>
      </p:sp>
      <p:sp>
        <p:nvSpPr>
          <p:cNvPr id="5" name="Text 3"/>
          <p:cNvSpPr/>
          <p:nvPr/>
        </p:nvSpPr>
        <p:spPr>
          <a:xfrm>
            <a:off x="2082800" y="2504441"/>
            <a:ext cx="931367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E6596"/>
                </a:solidFill>
                <a:latin typeface="Public Sans" pitchFamily="34" charset="0"/>
                <a:ea typeface="Public Sans" pitchFamily="34" charset="-122"/>
                <a:cs typeface="Public Sans" pitchFamily="34" charset="-120"/>
              </a:rPr>
              <a:t>WHERE</a:t>
            </a:r>
            <a:endParaRPr lang="en-US" sz="1200" dirty="0"/>
          </a:p>
        </p:txBody>
      </p:sp>
      <p:sp>
        <p:nvSpPr>
          <p:cNvPr id="6" name="Text 4"/>
          <p:cNvSpPr/>
          <p:nvPr/>
        </p:nvSpPr>
        <p:spPr>
          <a:xfrm>
            <a:off x="2082800" y="2768600"/>
            <a:ext cx="9313672" cy="586740"/>
          </a:xfrm>
          <a:prstGeom prst="rect">
            <a:avLst/>
          </a:prstGeom>
          <a:noFill/>
          <a:ln/>
        </p:spPr>
        <p:txBody>
          <a:bodyPr wrap="square" lIns="0" tIns="0" rIns="0" bIns="0" rtlCol="0" anchor="t">
            <a:normAutofit/>
          </a:bodyPr>
          <a:lstStyle/>
          <a:p>
            <a:pPr marL="0" indent="0" algn="l">
              <a:lnSpc>
                <a:spcPts val="2210"/>
              </a:lnSpc>
              <a:buNone/>
            </a:pPr>
            <a:r>
              <a:rPr lang="en-US" sz="1700" dirty="0">
                <a:solidFill>
                  <a:srgbClr val="2B2B30"/>
                </a:solidFill>
                <a:latin typeface="Public Sans" pitchFamily="34" charset="0"/>
                <a:ea typeface="Public Sans" pitchFamily="34" charset="-122"/>
                <a:cs typeface="Public Sans" pitchFamily="34" charset="-120"/>
              </a:rPr>
              <a:t>Where do incidents concentrate once population is accounted for, and does that match neighbourhood income?</a:t>
            </a:r>
            <a:endParaRPr lang="en-US" sz="1700" dirty="0"/>
          </a:p>
        </p:txBody>
      </p:sp>
      <p:sp>
        <p:nvSpPr>
          <p:cNvPr id="7" name="Shape 5"/>
          <p:cNvSpPr/>
          <p:nvPr/>
        </p:nvSpPr>
        <p:spPr>
          <a:xfrm>
            <a:off x="812800" y="3685541"/>
            <a:ext cx="10566400" cy="1231900"/>
          </a:xfrm>
          <a:prstGeom prst="roundRect">
            <a:avLst>
              <a:gd name="adj" fmla="val 8247"/>
            </a:avLst>
          </a:prstGeom>
          <a:solidFill>
            <a:srgbClr val="F6F4F0"/>
          </a:solidFill>
          <a:ln/>
        </p:spPr>
        <p:txBody>
          <a:bodyPr/>
          <a:lstStyle/>
          <a:p>
            <a:endParaRPr lang="en-CA"/>
          </a:p>
        </p:txBody>
      </p:sp>
      <p:sp>
        <p:nvSpPr>
          <p:cNvPr id="8" name="Text 6"/>
          <p:cNvSpPr/>
          <p:nvPr/>
        </p:nvSpPr>
        <p:spPr>
          <a:xfrm>
            <a:off x="1066800" y="4017011"/>
            <a:ext cx="812800" cy="59436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B4467E"/>
                </a:solidFill>
                <a:latin typeface="Libre Baskerville" pitchFamily="18" charset="0"/>
                <a:ea typeface="Libre Baskerville" pitchFamily="18" charset="-122"/>
                <a:cs typeface="Libre Baskerville" pitchFamily="18" charset="-120"/>
              </a:rPr>
              <a:t>02</a:t>
            </a:r>
            <a:endParaRPr lang="en-US" sz="3200" dirty="0"/>
          </a:p>
        </p:txBody>
      </p:sp>
      <p:sp>
        <p:nvSpPr>
          <p:cNvPr id="9" name="Text 7"/>
          <p:cNvSpPr/>
          <p:nvPr/>
        </p:nvSpPr>
        <p:spPr>
          <a:xfrm>
            <a:off x="2082800" y="3888741"/>
            <a:ext cx="931367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E6596"/>
                </a:solidFill>
                <a:latin typeface="Public Sans" pitchFamily="34" charset="0"/>
                <a:ea typeface="Public Sans" pitchFamily="34" charset="-122"/>
                <a:cs typeface="Public Sans" pitchFamily="34" charset="-120"/>
              </a:rPr>
              <a:t>WHO</a:t>
            </a:r>
            <a:endParaRPr lang="en-US" sz="1200" dirty="0"/>
          </a:p>
        </p:txBody>
      </p:sp>
      <p:sp>
        <p:nvSpPr>
          <p:cNvPr id="10" name="Text 8"/>
          <p:cNvSpPr/>
          <p:nvPr/>
        </p:nvSpPr>
        <p:spPr>
          <a:xfrm>
            <a:off x="2082800" y="4152900"/>
            <a:ext cx="9313672" cy="586740"/>
          </a:xfrm>
          <a:prstGeom prst="rect">
            <a:avLst/>
          </a:prstGeom>
          <a:noFill/>
          <a:ln/>
        </p:spPr>
        <p:txBody>
          <a:bodyPr wrap="square" lIns="0" tIns="0" rIns="0" bIns="0" rtlCol="0" anchor="t">
            <a:normAutofit/>
          </a:bodyPr>
          <a:lstStyle/>
          <a:p>
            <a:pPr marL="0" indent="0" algn="l">
              <a:lnSpc>
                <a:spcPts val="2210"/>
              </a:lnSpc>
              <a:buNone/>
            </a:pPr>
            <a:r>
              <a:rPr lang="en-US" sz="1700" dirty="0">
                <a:solidFill>
                  <a:srgbClr val="2B2B30"/>
                </a:solidFill>
                <a:latin typeface="Public Sans" pitchFamily="34" charset="0"/>
                <a:ea typeface="Public Sans" pitchFamily="34" charset="-122"/>
                <a:cs typeface="Public Sans" pitchFamily="34" charset="-120"/>
              </a:rPr>
              <a:t>Which other neighbourhood traits, such as renting, low income and commuting, go with higher incident rates?</a:t>
            </a:r>
            <a:endParaRPr lang="en-US" sz="1700" dirty="0"/>
          </a:p>
        </p:txBody>
      </p:sp>
      <p:sp>
        <p:nvSpPr>
          <p:cNvPr id="11" name="Shape 9"/>
          <p:cNvSpPr/>
          <p:nvPr/>
        </p:nvSpPr>
        <p:spPr>
          <a:xfrm>
            <a:off x="812800" y="5069841"/>
            <a:ext cx="10566400" cy="975360"/>
          </a:xfrm>
          <a:prstGeom prst="roundRect">
            <a:avLst>
              <a:gd name="adj" fmla="val 10417"/>
            </a:avLst>
          </a:prstGeom>
          <a:solidFill>
            <a:srgbClr val="F6F4F0"/>
          </a:solidFill>
          <a:ln/>
        </p:spPr>
        <p:txBody>
          <a:bodyPr/>
          <a:lstStyle/>
          <a:p>
            <a:endParaRPr lang="en-CA"/>
          </a:p>
        </p:txBody>
      </p:sp>
      <p:sp>
        <p:nvSpPr>
          <p:cNvPr id="12" name="Text 10"/>
          <p:cNvSpPr/>
          <p:nvPr/>
        </p:nvSpPr>
        <p:spPr>
          <a:xfrm>
            <a:off x="1066800" y="5273041"/>
            <a:ext cx="812800" cy="59436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B4467E"/>
                </a:solidFill>
                <a:latin typeface="Libre Baskerville" pitchFamily="18" charset="0"/>
                <a:ea typeface="Libre Baskerville" pitchFamily="18" charset="-122"/>
                <a:cs typeface="Libre Baskerville" pitchFamily="18" charset="-120"/>
              </a:rPr>
              <a:t>03</a:t>
            </a:r>
            <a:endParaRPr lang="en-US" sz="3200" dirty="0"/>
          </a:p>
        </p:txBody>
      </p:sp>
      <p:sp>
        <p:nvSpPr>
          <p:cNvPr id="13" name="Text 11"/>
          <p:cNvSpPr/>
          <p:nvPr/>
        </p:nvSpPr>
        <p:spPr>
          <a:xfrm>
            <a:off x="2082800" y="5285105"/>
            <a:ext cx="931367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E6596"/>
                </a:solidFill>
                <a:latin typeface="Public Sans" pitchFamily="34" charset="0"/>
                <a:ea typeface="Public Sans" pitchFamily="34" charset="-122"/>
                <a:cs typeface="Public Sans" pitchFamily="34" charset="-120"/>
              </a:rPr>
              <a:t>WHEN</a:t>
            </a:r>
            <a:endParaRPr lang="en-US" sz="1200" dirty="0"/>
          </a:p>
        </p:txBody>
      </p:sp>
      <p:sp>
        <p:nvSpPr>
          <p:cNvPr id="14" name="Text 12"/>
          <p:cNvSpPr/>
          <p:nvPr/>
        </p:nvSpPr>
        <p:spPr>
          <a:xfrm>
            <a:off x="2082800" y="5549266"/>
            <a:ext cx="9313672" cy="306070"/>
          </a:xfrm>
          <a:prstGeom prst="rect">
            <a:avLst/>
          </a:prstGeom>
          <a:noFill/>
          <a:ln/>
        </p:spPr>
        <p:txBody>
          <a:bodyPr wrap="square" lIns="0" tIns="0" rIns="0" bIns="0" rtlCol="0" anchor="t">
            <a:normAutofit/>
          </a:bodyPr>
          <a:lstStyle/>
          <a:p>
            <a:pPr marL="0" indent="0" algn="l">
              <a:lnSpc>
                <a:spcPts val="2210"/>
              </a:lnSpc>
              <a:buNone/>
            </a:pPr>
            <a:r>
              <a:rPr lang="en-US" sz="1700" dirty="0">
                <a:solidFill>
                  <a:srgbClr val="2B2B30"/>
                </a:solidFill>
                <a:latin typeface="Public Sans" pitchFamily="34" charset="0"/>
                <a:ea typeface="Public Sans" pitchFamily="34" charset="-122"/>
                <a:cs typeface="Public Sans" pitchFamily="34" charset="-120"/>
              </a:rPr>
              <a:t>When do incidents happen, by hour of day, day of week and month of year?</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2B2B30"/>
                </a:solidFill>
                <a:latin typeface="Libre Baskerville" pitchFamily="18" charset="0"/>
                <a:ea typeface="Libre Baskerville" pitchFamily="18" charset="-122"/>
                <a:cs typeface="Libre Baskerville" pitchFamily="18" charset="-120"/>
              </a:rPr>
              <a:t>Datasets obtained</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95121"/>
          <a:ext cx="10556241" cy="2839720"/>
        </p:xfrm>
        <a:graphic>
          <a:graphicData uri="http://schemas.openxmlformats.org/drawingml/2006/table">
            <a:tbl>
              <a:tblPr/>
              <a:tblGrid>
                <a:gridCol w="2322373">
                  <a:extLst>
                    <a:ext uri="{9D8B030D-6E8A-4147-A177-3AD203B41FA5}">
                      <a16:colId xmlns:a16="http://schemas.microsoft.com/office/drawing/2014/main" val="20000"/>
                    </a:ext>
                  </a:extLst>
                </a:gridCol>
                <a:gridCol w="2005686">
                  <a:extLst>
                    <a:ext uri="{9D8B030D-6E8A-4147-A177-3AD203B41FA5}">
                      <a16:colId xmlns:a16="http://schemas.microsoft.com/office/drawing/2014/main" val="20001"/>
                    </a:ext>
                  </a:extLst>
                </a:gridCol>
                <a:gridCol w="3061310">
                  <a:extLst>
                    <a:ext uri="{9D8B030D-6E8A-4147-A177-3AD203B41FA5}">
                      <a16:colId xmlns:a16="http://schemas.microsoft.com/office/drawing/2014/main" val="20002"/>
                    </a:ext>
                  </a:extLst>
                </a:gridCol>
                <a:gridCol w="1477874">
                  <a:extLst>
                    <a:ext uri="{9D8B030D-6E8A-4147-A177-3AD203B41FA5}">
                      <a16:colId xmlns:a16="http://schemas.microsoft.com/office/drawing/2014/main" val="20003"/>
                    </a:ext>
                  </a:extLst>
                </a:gridCol>
                <a:gridCol w="1688998">
                  <a:extLst>
                    <a:ext uri="{9D8B030D-6E8A-4147-A177-3AD203B41FA5}">
                      <a16:colId xmlns:a16="http://schemas.microsoft.com/office/drawing/2014/main" val="20004"/>
                    </a:ext>
                  </a:extLst>
                </a:gridCol>
              </a:tblGrid>
              <a:tr h="487045">
                <a:tc>
                  <a:txBody>
                    <a:bodyPr/>
                    <a:lstStyle/>
                    <a:p>
                      <a:pPr marL="0" indent="0">
                        <a:lnSpc>
                          <a:spcPts val="1820"/>
                        </a:lnSpc>
                        <a:buNone/>
                      </a:pPr>
                      <a:r>
                        <a:rPr lang="en-US" sz="1300" b="1" dirty="0">
                          <a:solidFill>
                            <a:srgbClr val="F6F4F0"/>
                          </a:solidFill>
                          <a:latin typeface="Public Sans" pitchFamily="34" charset="0"/>
                          <a:ea typeface="Public Sans" pitchFamily="34" charset="-122"/>
                          <a:cs typeface="Public Sans" pitchFamily="34" charset="-120"/>
                        </a:rPr>
                        <a:t>Dataset</a:t>
                      </a:r>
                      <a:endParaRPr lang="en-US" sz="1300" dirty="0">
                        <a:latin typeface="Public Sans" charset="0"/>
                        <a:ea typeface="Public Sans" charset="0"/>
                        <a:cs typeface="Public Sans" charset="0"/>
                      </a:endParaRPr>
                    </a:p>
                  </a:txBody>
                  <a:tcPr marL="139700" marR="139700" marT="127000" marB="127000">
                    <a:lnL w="12700" cap="flat" cmpd="sng" algn="ctr">
                      <a:solidFill>
                        <a:srgbClr val="C4C3BF"/>
                      </a:solidFill>
                      <a:prstDash val="solid"/>
                      <a:round/>
                      <a:headEnd type="none" w="med" len="med"/>
                      <a:tailEnd type="none" w="med" len="med"/>
                    </a:lnL>
                    <a:lnR w="12700" cap="flat" cmpd="sng" algn="ctr">
                      <a:solidFill>
                        <a:srgbClr val="26262A"/>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26262A"/>
                      </a:solidFill>
                      <a:prstDash val="solid"/>
                      <a:round/>
                      <a:headEnd type="none" w="med" len="med"/>
                      <a:tailEnd type="none" w="med" len="med"/>
                    </a:lnB>
                    <a:solidFill>
                      <a:srgbClr val="2B2B30"/>
                    </a:solidFill>
                  </a:tcPr>
                </a:tc>
                <a:tc>
                  <a:txBody>
                    <a:bodyPr/>
                    <a:lstStyle/>
                    <a:p>
                      <a:pPr marL="0" indent="0">
                        <a:lnSpc>
                          <a:spcPts val="1820"/>
                        </a:lnSpc>
                        <a:buNone/>
                      </a:pPr>
                      <a:r>
                        <a:rPr lang="en-US" sz="1300" b="1" dirty="0">
                          <a:solidFill>
                            <a:srgbClr val="F6F4F0"/>
                          </a:solidFill>
                          <a:latin typeface="Public Sans" pitchFamily="34" charset="0"/>
                          <a:ea typeface="Public Sans" pitchFamily="34" charset="-122"/>
                          <a:cs typeface="Public Sans" pitchFamily="34" charset="-120"/>
                        </a:rPr>
                        <a:t>Source</a:t>
                      </a:r>
                      <a:endParaRPr lang="en-US" sz="1300" dirty="0">
                        <a:latin typeface="Public Sans" charset="0"/>
                        <a:ea typeface="Public Sans" charset="0"/>
                        <a:cs typeface="Public Sans" charset="0"/>
                      </a:endParaRPr>
                    </a:p>
                  </a:txBody>
                  <a:tcPr marL="139700" marR="139700" marT="127000" marB="127000">
                    <a:lnL w="12700" cap="flat" cmpd="sng" algn="ctr">
                      <a:solidFill>
                        <a:srgbClr val="26262A"/>
                      </a:solidFill>
                      <a:prstDash val="solid"/>
                      <a:round/>
                      <a:headEnd type="none" w="med" len="med"/>
                      <a:tailEnd type="none" w="med" len="med"/>
                    </a:lnL>
                    <a:lnR w="12700" cap="flat" cmpd="sng" algn="ctr">
                      <a:solidFill>
                        <a:srgbClr val="26262A"/>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26262A"/>
                      </a:solidFill>
                      <a:prstDash val="solid"/>
                      <a:round/>
                      <a:headEnd type="none" w="med" len="med"/>
                      <a:tailEnd type="none" w="med" len="med"/>
                    </a:lnB>
                    <a:solidFill>
                      <a:srgbClr val="2B2B30"/>
                    </a:solidFill>
                  </a:tcPr>
                </a:tc>
                <a:tc>
                  <a:txBody>
                    <a:bodyPr/>
                    <a:lstStyle/>
                    <a:p>
                      <a:pPr marL="0" indent="0">
                        <a:lnSpc>
                          <a:spcPts val="1820"/>
                        </a:lnSpc>
                        <a:buNone/>
                      </a:pPr>
                      <a:r>
                        <a:rPr lang="en-US" sz="1300" b="1" dirty="0">
                          <a:solidFill>
                            <a:srgbClr val="F6F4F0"/>
                          </a:solidFill>
                          <a:latin typeface="Public Sans" pitchFamily="34" charset="0"/>
                          <a:ea typeface="Public Sans" pitchFamily="34" charset="-122"/>
                          <a:cs typeface="Public Sans" pitchFamily="34" charset="-120"/>
                        </a:rPr>
                        <a:t>What it holds</a:t>
                      </a:r>
                      <a:endParaRPr lang="en-US" sz="1300" dirty="0">
                        <a:latin typeface="Public Sans" charset="0"/>
                        <a:ea typeface="Public Sans" charset="0"/>
                        <a:cs typeface="Public Sans" charset="0"/>
                      </a:endParaRPr>
                    </a:p>
                  </a:txBody>
                  <a:tcPr marL="139700" marR="139700" marT="127000" marB="127000">
                    <a:lnL w="12700" cap="flat" cmpd="sng" algn="ctr">
                      <a:solidFill>
                        <a:srgbClr val="26262A"/>
                      </a:solidFill>
                      <a:prstDash val="solid"/>
                      <a:round/>
                      <a:headEnd type="none" w="med" len="med"/>
                      <a:tailEnd type="none" w="med" len="med"/>
                    </a:lnL>
                    <a:lnR w="12700" cap="flat" cmpd="sng" algn="ctr">
                      <a:solidFill>
                        <a:srgbClr val="26262A"/>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26262A"/>
                      </a:solidFill>
                      <a:prstDash val="solid"/>
                      <a:round/>
                      <a:headEnd type="none" w="med" len="med"/>
                      <a:tailEnd type="none" w="med" len="med"/>
                    </a:lnB>
                    <a:solidFill>
                      <a:srgbClr val="2B2B30"/>
                    </a:solidFill>
                  </a:tcPr>
                </a:tc>
                <a:tc>
                  <a:txBody>
                    <a:bodyPr/>
                    <a:lstStyle/>
                    <a:p>
                      <a:pPr marL="0" indent="0">
                        <a:lnSpc>
                          <a:spcPts val="1820"/>
                        </a:lnSpc>
                        <a:buNone/>
                      </a:pPr>
                      <a:r>
                        <a:rPr lang="en-US" sz="1300" b="1" dirty="0">
                          <a:solidFill>
                            <a:srgbClr val="F6F4F0"/>
                          </a:solidFill>
                          <a:latin typeface="Public Sans" pitchFamily="34" charset="0"/>
                          <a:ea typeface="Public Sans" pitchFamily="34" charset="-122"/>
                          <a:cs typeface="Public Sans" pitchFamily="34" charset="-120"/>
                        </a:rPr>
                        <a:t>Size</a:t>
                      </a:r>
                      <a:endParaRPr lang="en-US" sz="1300" dirty="0">
                        <a:latin typeface="Public Sans" charset="0"/>
                        <a:ea typeface="Public Sans" charset="0"/>
                        <a:cs typeface="Public Sans" charset="0"/>
                      </a:endParaRPr>
                    </a:p>
                  </a:txBody>
                  <a:tcPr marL="139700" marR="139700" marT="127000" marB="127000">
                    <a:lnL w="12700" cap="flat" cmpd="sng" algn="ctr">
                      <a:solidFill>
                        <a:srgbClr val="26262A"/>
                      </a:solidFill>
                      <a:prstDash val="solid"/>
                      <a:round/>
                      <a:headEnd type="none" w="med" len="med"/>
                      <a:tailEnd type="none" w="med" len="med"/>
                    </a:lnL>
                    <a:lnR w="12700" cap="flat" cmpd="sng" algn="ctr">
                      <a:solidFill>
                        <a:srgbClr val="26262A"/>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26262A"/>
                      </a:solidFill>
                      <a:prstDash val="solid"/>
                      <a:round/>
                      <a:headEnd type="none" w="med" len="med"/>
                      <a:tailEnd type="none" w="med" len="med"/>
                    </a:lnB>
                    <a:solidFill>
                      <a:srgbClr val="2B2B30"/>
                    </a:solidFill>
                  </a:tcPr>
                </a:tc>
                <a:tc>
                  <a:txBody>
                    <a:bodyPr/>
                    <a:lstStyle/>
                    <a:p>
                      <a:pPr marL="0" indent="0">
                        <a:lnSpc>
                          <a:spcPts val="1820"/>
                        </a:lnSpc>
                        <a:buNone/>
                      </a:pPr>
                      <a:r>
                        <a:rPr lang="en-US" sz="1300" b="1" dirty="0">
                          <a:solidFill>
                            <a:srgbClr val="F6F4F0"/>
                          </a:solidFill>
                          <a:latin typeface="Public Sans" pitchFamily="34" charset="0"/>
                          <a:ea typeface="Public Sans" pitchFamily="34" charset="-122"/>
                          <a:cs typeface="Public Sans" pitchFamily="34" charset="-120"/>
                        </a:rPr>
                        <a:t>Role</a:t>
                      </a:r>
                      <a:endParaRPr lang="en-US" sz="1300" dirty="0">
                        <a:latin typeface="Public Sans" charset="0"/>
                        <a:ea typeface="Public Sans" charset="0"/>
                        <a:cs typeface="Public Sans" charset="0"/>
                      </a:endParaRPr>
                    </a:p>
                  </a:txBody>
                  <a:tcPr marL="139700" marR="139700" marT="127000" marB="127000">
                    <a:lnL w="12700" cap="flat" cmpd="sng" algn="ctr">
                      <a:solidFill>
                        <a:srgbClr val="26262A"/>
                      </a:solidFill>
                      <a:prstDash val="solid"/>
                      <a:round/>
                      <a:headEnd type="none" w="med" len="med"/>
                      <a:tailEnd type="none" w="med" len="med"/>
                    </a:lnL>
                    <a:lnR w="12700" cap="flat" cmpd="sng" algn="ctr">
                      <a:solidFill>
                        <a:srgbClr val="26262A"/>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26262A"/>
                      </a:solidFill>
                      <a:prstDash val="solid"/>
                      <a:round/>
                      <a:headEnd type="none" w="med" len="med"/>
                      <a:tailEnd type="none" w="med" len="med"/>
                    </a:lnB>
                    <a:solidFill>
                      <a:srgbClr val="2B2B30"/>
                    </a:solidFill>
                  </a:tcPr>
                </a:tc>
                <a:extLst>
                  <a:ext uri="{0D108BD9-81ED-4DB2-BD59-A6C34878D82A}">
                    <a16:rowId xmlns:a16="http://schemas.microsoft.com/office/drawing/2014/main" val="10000"/>
                  </a:ext>
                </a:extLst>
              </a:tr>
              <a:tr h="709930">
                <a:tc>
                  <a:txBody>
                    <a:bodyPr/>
                    <a:lstStyle/>
                    <a:p>
                      <a:pPr marL="0" indent="0">
                        <a:lnSpc>
                          <a:spcPts val="1820"/>
                        </a:lnSpc>
                        <a:buNone/>
                      </a:pPr>
                      <a:r>
                        <a:rPr lang="en-US" sz="1300" dirty="0">
                          <a:solidFill>
                            <a:srgbClr val="2B2B30"/>
                          </a:solidFill>
                          <a:latin typeface="Public Sans" pitchFamily="34" charset="0"/>
                          <a:ea typeface="Public Sans" pitchFamily="34" charset="-122"/>
                          <a:cs typeface="Public Sans" pitchFamily="34" charset="-120"/>
                        </a:rPr>
                        <a:t>Traffic Incidents</a:t>
                      </a:r>
                      <a:endParaRPr lang="en-US" sz="1300" dirty="0">
                        <a:latin typeface="Public Sans" charset="0"/>
                        <a:ea typeface="Public Sans" charset="0"/>
                        <a:cs typeface="Public Sans" charset="0"/>
                      </a:endParaRPr>
                    </a:p>
                  </a:txBody>
                  <a:tcPr marL="139700" marR="139700" marT="127000" marB="127000">
                    <a:lnL w="12700" cap="flat" cmpd="sng" algn="ctr">
                      <a:solidFill>
                        <a:srgbClr val="C4C3BF"/>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262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2B2B30"/>
                          </a:solidFill>
                          <a:latin typeface="Public Sans" pitchFamily="34" charset="0"/>
                          <a:ea typeface="Public Sans" pitchFamily="34" charset="-122"/>
                          <a:cs typeface="Public Sans" pitchFamily="34" charset="-120"/>
                        </a:rPr>
                        <a:t>City of Calgary Open Data</a:t>
                      </a:r>
                      <a:endParaRPr lang="en-US" sz="1300" dirty="0">
                        <a:latin typeface="Public Sans" charset="0"/>
                        <a:ea typeface="Public Sans" charset="0"/>
                        <a:cs typeface="Public Sans" charset="0"/>
                      </a:endParaRPr>
                    </a:p>
                  </a:txBody>
                  <a:tcPr marL="139700" marR="1397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262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2B2B30"/>
                          </a:solidFill>
                          <a:latin typeface="Public Sans" pitchFamily="34" charset="0"/>
                          <a:ea typeface="Public Sans" pitchFamily="34" charset="-122"/>
                          <a:cs typeface="Public Sans" pitchFamily="34" charset="-120"/>
                        </a:rPr>
                        <a:t>Location, description and time of each reported incident</a:t>
                      </a:r>
                      <a:endParaRPr lang="en-US" sz="1300" dirty="0">
                        <a:latin typeface="Public Sans" charset="0"/>
                        <a:ea typeface="Public Sans" charset="0"/>
                        <a:cs typeface="Public Sans" charset="0"/>
                      </a:endParaRPr>
                    </a:p>
                  </a:txBody>
                  <a:tcPr marL="139700" marR="1397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262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2B2B30"/>
                          </a:solidFill>
                          <a:latin typeface="Public Sans" pitchFamily="34" charset="0"/>
                          <a:ea typeface="Public Sans" pitchFamily="34" charset="-122"/>
                          <a:cs typeface="Public Sans" pitchFamily="34" charset="-120"/>
                        </a:rPr>
                        <a:t>65,138 records</a:t>
                      </a:r>
                      <a:endParaRPr lang="en-US" sz="1300" dirty="0">
                        <a:latin typeface="Public Sans" charset="0"/>
                        <a:ea typeface="Public Sans" charset="0"/>
                        <a:cs typeface="Public Sans" charset="0"/>
                      </a:endParaRPr>
                    </a:p>
                  </a:txBody>
                  <a:tcPr marL="139700" marR="1397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262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2B2B30"/>
                          </a:solidFill>
                          <a:latin typeface="Public Sans" pitchFamily="34" charset="0"/>
                          <a:ea typeface="Public Sans" pitchFamily="34" charset="-122"/>
                          <a:cs typeface="Public Sans" pitchFamily="34" charset="-120"/>
                        </a:rPr>
                        <a:t>The events analysed</a:t>
                      </a:r>
                      <a:endParaRPr lang="en-US" sz="1300" dirty="0">
                        <a:latin typeface="Public Sans" charset="0"/>
                        <a:ea typeface="Public Sans" charset="0"/>
                        <a:cs typeface="Public Sans" charset="0"/>
                      </a:endParaRPr>
                    </a:p>
                  </a:txBody>
                  <a:tcPr marL="139700" marR="1397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26262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32815">
                <a:tc>
                  <a:txBody>
                    <a:bodyPr/>
                    <a:lstStyle/>
                    <a:p>
                      <a:pPr marL="0" indent="0">
                        <a:lnSpc>
                          <a:spcPts val="1820"/>
                        </a:lnSpc>
                        <a:buNone/>
                      </a:pPr>
                      <a:r>
                        <a:rPr lang="en-US" sz="1300" dirty="0">
                          <a:solidFill>
                            <a:srgbClr val="2B2B30"/>
                          </a:solidFill>
                          <a:latin typeface="Public Sans" pitchFamily="34" charset="0"/>
                          <a:ea typeface="Public Sans" pitchFamily="34" charset="-122"/>
                          <a:cs typeface="Public Sans" pitchFamily="34" charset="-120"/>
                        </a:rPr>
                        <a:t>Equity Index Overlay Statistics</a:t>
                      </a:r>
                      <a:endParaRPr lang="en-US" sz="1300" dirty="0">
                        <a:latin typeface="Public Sans" charset="0"/>
                        <a:ea typeface="Public Sans" charset="0"/>
                        <a:cs typeface="Public Sans" charset="0"/>
                      </a:endParaRPr>
                    </a:p>
                  </a:txBody>
                  <a:tcPr marL="139700" marR="139700" marT="127000" marB="1270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F0"/>
                    </a:solidFill>
                  </a:tcPr>
                </a:tc>
                <a:tc>
                  <a:txBody>
                    <a:bodyPr/>
                    <a:lstStyle/>
                    <a:p>
                      <a:pPr marL="0" indent="0">
                        <a:lnSpc>
                          <a:spcPts val="1820"/>
                        </a:lnSpc>
                        <a:buNone/>
                      </a:pPr>
                      <a:r>
                        <a:rPr lang="en-US" sz="1300" dirty="0">
                          <a:solidFill>
                            <a:srgbClr val="2B2B30"/>
                          </a:solidFill>
                          <a:latin typeface="Public Sans" pitchFamily="34" charset="0"/>
                          <a:ea typeface="Public Sans" pitchFamily="34" charset="-122"/>
                          <a:cs typeface="Public Sans" pitchFamily="34" charset="-120"/>
                        </a:rPr>
                        <a:t>City of Calgary Open Data</a:t>
                      </a:r>
                      <a:endParaRPr lang="en-US" sz="1300" dirty="0">
                        <a:latin typeface="Public Sans" charset="0"/>
                        <a:ea typeface="Public Sans" charset="0"/>
                        <a:cs typeface="Public Sans" charset="0"/>
                      </a:endParaRPr>
                    </a:p>
                  </a:txBody>
                  <a:tcPr marL="139700" marR="139700" marT="127000" marB="1270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F0"/>
                    </a:solidFill>
                  </a:tcPr>
                </a:tc>
                <a:tc>
                  <a:txBody>
                    <a:bodyPr/>
                    <a:lstStyle/>
                    <a:p>
                      <a:pPr marL="0" indent="0">
                        <a:lnSpc>
                          <a:spcPts val="1820"/>
                        </a:lnSpc>
                        <a:buNone/>
                      </a:pPr>
                      <a:r>
                        <a:rPr lang="en-US" sz="1300" dirty="0">
                          <a:solidFill>
                            <a:srgbClr val="2B2B30"/>
                          </a:solidFill>
                          <a:latin typeface="Public Sans" pitchFamily="34" charset="0"/>
                          <a:ea typeface="Public Sans" pitchFamily="34" charset="-122"/>
                          <a:cs typeface="Public Sans" pitchFamily="34" charset="-120"/>
                        </a:rPr>
                        <a:t>Population, median income and 16 other measures per area (2021 Census), plus area boundaries</a:t>
                      </a:r>
                      <a:endParaRPr lang="en-US" sz="1300" dirty="0">
                        <a:latin typeface="Public Sans" charset="0"/>
                        <a:ea typeface="Public Sans" charset="0"/>
                        <a:cs typeface="Public Sans" charset="0"/>
                      </a:endParaRPr>
                    </a:p>
                  </a:txBody>
                  <a:tcPr marL="139700" marR="139700" marT="127000" marB="1270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F0"/>
                    </a:solidFill>
                  </a:tcPr>
                </a:tc>
                <a:tc>
                  <a:txBody>
                    <a:bodyPr/>
                    <a:lstStyle/>
                    <a:p>
                      <a:pPr marL="0" indent="0">
                        <a:lnSpc>
                          <a:spcPts val="1820"/>
                        </a:lnSpc>
                        <a:buNone/>
                      </a:pPr>
                      <a:r>
                        <a:rPr lang="en-US" sz="1300" dirty="0">
                          <a:solidFill>
                            <a:srgbClr val="2B2B30"/>
                          </a:solidFill>
                          <a:latin typeface="Public Sans" pitchFamily="34" charset="0"/>
                          <a:ea typeface="Public Sans" pitchFamily="34" charset="-122"/>
                          <a:cs typeface="Public Sans" pitchFamily="34" charset="-120"/>
                        </a:rPr>
                        <a:t>113 areas</a:t>
                      </a:r>
                      <a:endParaRPr lang="en-US" sz="1300" dirty="0">
                        <a:latin typeface="Public Sans" charset="0"/>
                        <a:ea typeface="Public Sans" charset="0"/>
                        <a:cs typeface="Public Sans" charset="0"/>
                      </a:endParaRPr>
                    </a:p>
                  </a:txBody>
                  <a:tcPr marL="139700" marR="139700" marT="127000" marB="1270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F0"/>
                    </a:solidFill>
                  </a:tcPr>
                </a:tc>
                <a:tc>
                  <a:txBody>
                    <a:bodyPr/>
                    <a:lstStyle/>
                    <a:p>
                      <a:pPr marL="0" indent="0">
                        <a:lnSpc>
                          <a:spcPts val="1820"/>
                        </a:lnSpc>
                        <a:buNone/>
                      </a:pPr>
                      <a:r>
                        <a:rPr lang="en-US" sz="1300" dirty="0">
                          <a:solidFill>
                            <a:srgbClr val="2B2B30"/>
                          </a:solidFill>
                          <a:latin typeface="Public Sans" pitchFamily="34" charset="0"/>
                          <a:ea typeface="Public Sans" pitchFamily="34" charset="-122"/>
                          <a:cs typeface="Public Sans" pitchFamily="34" charset="-120"/>
                        </a:rPr>
                        <a:t>Who lives where</a:t>
                      </a:r>
                      <a:endParaRPr lang="en-US" sz="1300" dirty="0">
                        <a:latin typeface="Public Sans" charset="0"/>
                        <a:ea typeface="Public Sans" charset="0"/>
                        <a:cs typeface="Public Sans" charset="0"/>
                      </a:endParaRPr>
                    </a:p>
                  </a:txBody>
                  <a:tcPr marL="139700" marR="139700" marT="127000" marB="12700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F0"/>
                    </a:solidFill>
                  </a:tcPr>
                </a:tc>
                <a:extLst>
                  <a:ext uri="{0D108BD9-81ED-4DB2-BD59-A6C34878D82A}">
                    <a16:rowId xmlns:a16="http://schemas.microsoft.com/office/drawing/2014/main" val="10002"/>
                  </a:ext>
                </a:extLst>
              </a:tr>
              <a:tr h="709930">
                <a:tc>
                  <a:txBody>
                    <a:bodyPr/>
                    <a:lstStyle/>
                    <a:p>
                      <a:pPr marL="0" indent="0">
                        <a:lnSpc>
                          <a:spcPts val="1820"/>
                        </a:lnSpc>
                        <a:buNone/>
                      </a:pPr>
                      <a:r>
                        <a:rPr lang="en-US" sz="1300" dirty="0">
                          <a:solidFill>
                            <a:srgbClr val="2B2B30"/>
                          </a:solidFill>
                          <a:latin typeface="Public Sans" pitchFamily="34" charset="0"/>
                          <a:ea typeface="Public Sans" pitchFamily="34" charset="-122"/>
                          <a:cs typeface="Public Sans" pitchFamily="34" charset="-120"/>
                        </a:rPr>
                        <a:t>Community District Boundaries</a:t>
                      </a:r>
                      <a:endParaRPr lang="en-US" sz="1300" dirty="0">
                        <a:latin typeface="Public Sans" charset="0"/>
                        <a:ea typeface="Public Sans" charset="0"/>
                        <a:cs typeface="Public Sans" charset="0"/>
                      </a:endParaRPr>
                    </a:p>
                  </a:txBody>
                  <a:tcPr marL="139700" marR="139700" marT="127000" marB="127000">
                    <a:lnL w="12700" cap="flat" cmpd="sng" algn="ctr">
                      <a:solidFill>
                        <a:srgbClr val="C4C3BF"/>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2B2B30"/>
                          </a:solidFill>
                          <a:latin typeface="Public Sans" pitchFamily="34" charset="0"/>
                          <a:ea typeface="Public Sans" pitchFamily="34" charset="-122"/>
                          <a:cs typeface="Public Sans" pitchFamily="34" charset="-120"/>
                        </a:rPr>
                        <a:t>City of Calgary Open Data</a:t>
                      </a:r>
                      <a:endParaRPr lang="en-US" sz="1300" dirty="0">
                        <a:latin typeface="Public Sans" charset="0"/>
                        <a:ea typeface="Public Sans" charset="0"/>
                        <a:cs typeface="Public Sans" charset="0"/>
                      </a:endParaRPr>
                    </a:p>
                  </a:txBody>
                  <a:tcPr marL="139700" marR="1397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2B2B30"/>
                          </a:solidFill>
                          <a:latin typeface="Public Sans" pitchFamily="34" charset="0"/>
                          <a:ea typeface="Public Sans" pitchFamily="34" charset="-122"/>
                          <a:cs typeface="Public Sans" pitchFamily="34" charset="-120"/>
                        </a:rPr>
                        <a:t>Community name, land-use class and development era</a:t>
                      </a:r>
                      <a:endParaRPr lang="en-US" sz="1300" dirty="0">
                        <a:latin typeface="Public Sans" charset="0"/>
                        <a:ea typeface="Public Sans" charset="0"/>
                        <a:cs typeface="Public Sans" charset="0"/>
                      </a:endParaRPr>
                    </a:p>
                  </a:txBody>
                  <a:tcPr marL="139700" marR="1397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2B2B30"/>
                          </a:solidFill>
                          <a:latin typeface="Public Sans" pitchFamily="34" charset="0"/>
                          <a:ea typeface="Public Sans" pitchFamily="34" charset="-122"/>
                          <a:cs typeface="Public Sans" pitchFamily="34" charset="-120"/>
                        </a:rPr>
                        <a:t>313 communities</a:t>
                      </a:r>
                      <a:endParaRPr lang="en-US" sz="1300" dirty="0">
                        <a:latin typeface="Public Sans" charset="0"/>
                        <a:ea typeface="Public Sans" charset="0"/>
                        <a:cs typeface="Public Sans" charset="0"/>
                      </a:endParaRPr>
                    </a:p>
                  </a:txBody>
                  <a:tcPr marL="139700" marR="1397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2B2B30"/>
                          </a:solidFill>
                          <a:latin typeface="Public Sans" pitchFamily="34" charset="0"/>
                          <a:ea typeface="Public Sans" pitchFamily="34" charset="-122"/>
                          <a:cs typeface="Public Sans" pitchFamily="34" charset="-120"/>
                        </a:rPr>
                        <a:t>Residential filter, area names</a:t>
                      </a:r>
                      <a:endParaRPr lang="en-US" sz="1300" dirty="0">
                        <a:latin typeface="Public Sans" charset="0"/>
                        <a:ea typeface="Public Sans" charset="0"/>
                        <a:cs typeface="Public Sans" charset="0"/>
                      </a:endParaRPr>
                    </a:p>
                  </a:txBody>
                  <a:tcPr marL="139700" marR="1397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2B2B30"/>
                </a:solidFill>
                <a:latin typeface="Libre Baskerville" pitchFamily="18" charset="0"/>
                <a:ea typeface="Libre Baskerville" pitchFamily="18" charset="-122"/>
                <a:cs typeface="Libre Baskerville" pitchFamily="18" charset="-120"/>
              </a:rPr>
              <a:t>Data wrangling and cleaning</a:t>
            </a:r>
            <a:endParaRPr lang="en-US" sz="3200" dirty="0"/>
          </a:p>
        </p:txBody>
      </p:sp>
      <p:sp>
        <p:nvSpPr>
          <p:cNvPr id="3" name="Shape 1"/>
          <p:cNvSpPr/>
          <p:nvPr/>
        </p:nvSpPr>
        <p:spPr>
          <a:xfrm>
            <a:off x="812800" y="1534161"/>
            <a:ext cx="3386614" cy="1292860"/>
          </a:xfrm>
          <a:prstGeom prst="roundRect">
            <a:avLst>
              <a:gd name="adj" fmla="val 5894"/>
            </a:avLst>
          </a:prstGeom>
          <a:solidFill>
            <a:srgbClr val="FFFFFF"/>
          </a:solidFill>
          <a:ln/>
        </p:spPr>
        <p:txBody>
          <a:bodyPr/>
          <a:lstStyle/>
          <a:p>
            <a:endParaRPr lang="en-CA"/>
          </a:p>
        </p:txBody>
      </p:sp>
      <p:sp>
        <p:nvSpPr>
          <p:cNvPr id="4" name="Shape 2"/>
          <p:cNvSpPr/>
          <p:nvPr/>
        </p:nvSpPr>
        <p:spPr>
          <a:xfrm>
            <a:off x="812800" y="1534161"/>
            <a:ext cx="3386614" cy="1292860"/>
          </a:xfrm>
          <a:custGeom>
            <a:avLst/>
            <a:gdLst/>
            <a:ahLst/>
            <a:cxnLst/>
            <a:rect l="l" t="t" r="r" b="b"/>
            <a:pathLst>
              <a:path w="3386614" h="1292860">
                <a:moveTo>
                  <a:pt x="0" y="76200"/>
                </a:moveTo>
                <a:lnTo>
                  <a:pt x="0" y="76200"/>
                </a:lnTo>
                <a:arcTo wR="76200" hR="76200" stAng="10800000" swAng="5400000"/>
                <a:lnTo>
                  <a:pt x="3310414" y="0"/>
                </a:lnTo>
                <a:arcTo wR="76200" hR="76200" stAng="16200000" swAng="5400000"/>
                <a:lnTo>
                  <a:pt x="3386614" y="76200"/>
                </a:lnTo>
                <a:arcTo wR="76200" hR="38100" stAng="0" swAng="-5400000"/>
                <a:lnTo>
                  <a:pt x="76200" y="38100"/>
                </a:lnTo>
                <a:arcTo wR="76200" hR="38100" stAng="16200000" swAng="-5400000"/>
                <a:close/>
              </a:path>
            </a:pathLst>
          </a:custGeom>
          <a:solidFill>
            <a:srgbClr val="B4467E"/>
          </a:solidFill>
          <a:ln/>
        </p:spPr>
        <p:txBody>
          <a:bodyPr/>
          <a:lstStyle/>
          <a:p>
            <a:endParaRPr lang="en-CA"/>
          </a:p>
        </p:txBody>
      </p:sp>
      <p:sp>
        <p:nvSpPr>
          <p:cNvPr id="5" name="Text 3"/>
          <p:cNvSpPr/>
          <p:nvPr/>
        </p:nvSpPr>
        <p:spPr>
          <a:xfrm>
            <a:off x="1041400" y="1798321"/>
            <a:ext cx="301729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2B30"/>
                </a:solidFill>
                <a:latin typeface="Public Sans" pitchFamily="34" charset="0"/>
                <a:ea typeface="Public Sans" pitchFamily="34" charset="-122"/>
                <a:cs typeface="Public Sans" pitchFamily="34" charset="-120"/>
              </a:rPr>
              <a:t>Linked incidents to areas</a:t>
            </a:r>
            <a:endParaRPr lang="en-US" sz="1600" dirty="0"/>
          </a:p>
        </p:txBody>
      </p:sp>
      <p:sp>
        <p:nvSpPr>
          <p:cNvPr id="6" name="Text 4"/>
          <p:cNvSpPr/>
          <p:nvPr/>
        </p:nvSpPr>
        <p:spPr>
          <a:xfrm>
            <a:off x="1041400" y="2118361"/>
            <a:ext cx="3017296"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4A52"/>
                </a:solidFill>
                <a:latin typeface="Public Sans" pitchFamily="34" charset="0"/>
                <a:ea typeface="Public Sans" pitchFamily="34" charset="-122"/>
                <a:cs typeface="Public Sans" pitchFamily="34" charset="-120"/>
              </a:rPr>
              <a:t>Matched each incident’s location to the neighbourhood it happened in.</a:t>
            </a:r>
            <a:endParaRPr lang="en-US" sz="1400" dirty="0"/>
          </a:p>
        </p:txBody>
      </p:sp>
      <p:sp>
        <p:nvSpPr>
          <p:cNvPr id="7" name="Shape 5"/>
          <p:cNvSpPr/>
          <p:nvPr/>
        </p:nvSpPr>
        <p:spPr>
          <a:xfrm>
            <a:off x="4402614" y="1534161"/>
            <a:ext cx="3386693" cy="1292860"/>
          </a:xfrm>
          <a:prstGeom prst="roundRect">
            <a:avLst>
              <a:gd name="adj" fmla="val 5894"/>
            </a:avLst>
          </a:prstGeom>
          <a:solidFill>
            <a:srgbClr val="FFFFFF"/>
          </a:solidFill>
          <a:ln/>
        </p:spPr>
        <p:txBody>
          <a:bodyPr/>
          <a:lstStyle/>
          <a:p>
            <a:endParaRPr lang="en-CA"/>
          </a:p>
        </p:txBody>
      </p:sp>
      <p:sp>
        <p:nvSpPr>
          <p:cNvPr id="8" name="Shape 6"/>
          <p:cNvSpPr/>
          <p:nvPr/>
        </p:nvSpPr>
        <p:spPr>
          <a:xfrm>
            <a:off x="4402614" y="1534161"/>
            <a:ext cx="3386693" cy="1292860"/>
          </a:xfrm>
          <a:custGeom>
            <a:avLst/>
            <a:gdLst/>
            <a:ahLst/>
            <a:cxnLst/>
            <a:rect l="l" t="t" r="r" b="b"/>
            <a:pathLst>
              <a:path w="3386693" h="1292860">
                <a:moveTo>
                  <a:pt x="0" y="76200"/>
                </a:moveTo>
                <a:lnTo>
                  <a:pt x="0" y="76200"/>
                </a:lnTo>
                <a:arcTo wR="76200" hR="76200" stAng="10800000" swAng="5400000"/>
                <a:lnTo>
                  <a:pt x="3310493" y="0"/>
                </a:lnTo>
                <a:arcTo wR="76200" hR="76200" stAng="16200000" swAng="5400000"/>
                <a:lnTo>
                  <a:pt x="3386693" y="76200"/>
                </a:lnTo>
                <a:arcTo wR="76200" hR="38100" stAng="0" swAng="-5400000"/>
                <a:lnTo>
                  <a:pt x="76200" y="38100"/>
                </a:lnTo>
                <a:arcTo wR="76200" hR="38100" stAng="16200000" swAng="-5400000"/>
                <a:close/>
              </a:path>
            </a:pathLst>
          </a:custGeom>
          <a:solidFill>
            <a:srgbClr val="B4467E"/>
          </a:solidFill>
          <a:ln/>
        </p:spPr>
        <p:txBody>
          <a:bodyPr/>
          <a:lstStyle/>
          <a:p>
            <a:endParaRPr lang="en-CA"/>
          </a:p>
        </p:txBody>
      </p:sp>
      <p:sp>
        <p:nvSpPr>
          <p:cNvPr id="9" name="Text 7"/>
          <p:cNvSpPr/>
          <p:nvPr/>
        </p:nvSpPr>
        <p:spPr>
          <a:xfrm>
            <a:off x="4631214" y="1798321"/>
            <a:ext cx="301737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2B30"/>
                </a:solidFill>
                <a:latin typeface="Public Sans" pitchFamily="34" charset="0"/>
                <a:ea typeface="Public Sans" pitchFamily="34" charset="-122"/>
                <a:cs typeface="Public Sans" pitchFamily="34" charset="-120"/>
              </a:rPr>
              <a:t>Tidied the census data</a:t>
            </a:r>
            <a:endParaRPr lang="en-US" sz="1600" dirty="0"/>
          </a:p>
        </p:txBody>
      </p:sp>
      <p:sp>
        <p:nvSpPr>
          <p:cNvPr id="10" name="Text 8"/>
          <p:cNvSpPr/>
          <p:nvPr/>
        </p:nvSpPr>
        <p:spPr>
          <a:xfrm>
            <a:off x="4631214" y="2118361"/>
            <a:ext cx="3017378"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4A52"/>
                </a:solidFill>
                <a:latin typeface="Public Sans" pitchFamily="34" charset="0"/>
                <a:ea typeface="Public Sans" pitchFamily="34" charset="-122"/>
                <a:cs typeface="Public Sans" pitchFamily="34" charset="-120"/>
              </a:rPr>
              <a:t>Rearranged it into one row per area and fixed the number formats.</a:t>
            </a:r>
            <a:endParaRPr lang="en-US" sz="1400" dirty="0"/>
          </a:p>
        </p:txBody>
      </p:sp>
      <p:sp>
        <p:nvSpPr>
          <p:cNvPr id="11" name="Shape 9"/>
          <p:cNvSpPr/>
          <p:nvPr/>
        </p:nvSpPr>
        <p:spPr>
          <a:xfrm>
            <a:off x="7992507" y="1534161"/>
            <a:ext cx="3386693" cy="1292860"/>
          </a:xfrm>
          <a:prstGeom prst="roundRect">
            <a:avLst>
              <a:gd name="adj" fmla="val 5894"/>
            </a:avLst>
          </a:prstGeom>
          <a:solidFill>
            <a:srgbClr val="FFFFFF"/>
          </a:solidFill>
          <a:ln/>
        </p:spPr>
        <p:txBody>
          <a:bodyPr/>
          <a:lstStyle/>
          <a:p>
            <a:endParaRPr lang="en-CA"/>
          </a:p>
        </p:txBody>
      </p:sp>
      <p:sp>
        <p:nvSpPr>
          <p:cNvPr id="12" name="Shape 10"/>
          <p:cNvSpPr/>
          <p:nvPr/>
        </p:nvSpPr>
        <p:spPr>
          <a:xfrm>
            <a:off x="7992507" y="1534161"/>
            <a:ext cx="3386693" cy="1292860"/>
          </a:xfrm>
          <a:custGeom>
            <a:avLst/>
            <a:gdLst/>
            <a:ahLst/>
            <a:cxnLst/>
            <a:rect l="l" t="t" r="r" b="b"/>
            <a:pathLst>
              <a:path w="3386693" h="1292860">
                <a:moveTo>
                  <a:pt x="0" y="76200"/>
                </a:moveTo>
                <a:lnTo>
                  <a:pt x="0" y="76200"/>
                </a:lnTo>
                <a:arcTo wR="76200" hR="76200" stAng="10800000" swAng="5400000"/>
                <a:lnTo>
                  <a:pt x="3310493" y="0"/>
                </a:lnTo>
                <a:arcTo wR="76200" hR="76200" stAng="16200000" swAng="5400000"/>
                <a:lnTo>
                  <a:pt x="3386693" y="76200"/>
                </a:lnTo>
                <a:arcTo wR="76200" hR="38100" stAng="0" swAng="-5400000"/>
                <a:lnTo>
                  <a:pt x="76200" y="38100"/>
                </a:lnTo>
                <a:arcTo wR="76200" hR="38100" stAng="16200000" swAng="-5400000"/>
                <a:close/>
              </a:path>
            </a:pathLst>
          </a:custGeom>
          <a:solidFill>
            <a:srgbClr val="B4467E"/>
          </a:solidFill>
          <a:ln/>
        </p:spPr>
        <p:txBody>
          <a:bodyPr/>
          <a:lstStyle/>
          <a:p>
            <a:endParaRPr lang="en-CA"/>
          </a:p>
        </p:txBody>
      </p:sp>
      <p:sp>
        <p:nvSpPr>
          <p:cNvPr id="13" name="Text 11"/>
          <p:cNvSpPr/>
          <p:nvPr/>
        </p:nvSpPr>
        <p:spPr>
          <a:xfrm>
            <a:off x="8221107" y="1798321"/>
            <a:ext cx="301737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2B30"/>
                </a:solidFill>
                <a:latin typeface="Public Sans" pitchFamily="34" charset="0"/>
                <a:ea typeface="Public Sans" pitchFamily="34" charset="-122"/>
                <a:cs typeface="Public Sans" pitchFamily="34" charset="-120"/>
              </a:rPr>
              <a:t>Used local time</a:t>
            </a:r>
            <a:endParaRPr lang="en-US" sz="1600" dirty="0"/>
          </a:p>
        </p:txBody>
      </p:sp>
      <p:sp>
        <p:nvSpPr>
          <p:cNvPr id="14" name="Text 12"/>
          <p:cNvSpPr/>
          <p:nvPr/>
        </p:nvSpPr>
        <p:spPr>
          <a:xfrm>
            <a:off x="8221107" y="2118361"/>
            <a:ext cx="3017378"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4A52"/>
                </a:solidFill>
                <a:latin typeface="Public Sans" pitchFamily="34" charset="0"/>
                <a:ea typeface="Public Sans" pitchFamily="34" charset="-122"/>
                <a:cs typeface="Public Sans" pitchFamily="34" charset="-120"/>
              </a:rPr>
              <a:t>Converted times to Calgary time, then added hour, day and month.</a:t>
            </a:r>
            <a:endParaRPr lang="en-US" sz="1400" dirty="0"/>
          </a:p>
        </p:txBody>
      </p:sp>
      <p:sp>
        <p:nvSpPr>
          <p:cNvPr id="15" name="Shape 13"/>
          <p:cNvSpPr/>
          <p:nvPr/>
        </p:nvSpPr>
        <p:spPr>
          <a:xfrm>
            <a:off x="812800" y="3030221"/>
            <a:ext cx="3386614" cy="1532890"/>
          </a:xfrm>
          <a:prstGeom prst="roundRect">
            <a:avLst>
              <a:gd name="adj" fmla="val 4971"/>
            </a:avLst>
          </a:prstGeom>
          <a:solidFill>
            <a:srgbClr val="FFFFFF"/>
          </a:solidFill>
          <a:ln/>
        </p:spPr>
        <p:txBody>
          <a:bodyPr/>
          <a:lstStyle/>
          <a:p>
            <a:endParaRPr lang="en-CA"/>
          </a:p>
        </p:txBody>
      </p:sp>
      <p:sp>
        <p:nvSpPr>
          <p:cNvPr id="16" name="Shape 14"/>
          <p:cNvSpPr/>
          <p:nvPr/>
        </p:nvSpPr>
        <p:spPr>
          <a:xfrm>
            <a:off x="812800" y="3030221"/>
            <a:ext cx="3386614" cy="1532890"/>
          </a:xfrm>
          <a:custGeom>
            <a:avLst/>
            <a:gdLst/>
            <a:ahLst/>
            <a:cxnLst/>
            <a:rect l="l" t="t" r="r" b="b"/>
            <a:pathLst>
              <a:path w="3386614" h="1532890">
                <a:moveTo>
                  <a:pt x="0" y="76200"/>
                </a:moveTo>
                <a:lnTo>
                  <a:pt x="0" y="76200"/>
                </a:lnTo>
                <a:arcTo wR="76200" hR="76200" stAng="10800000" swAng="5400000"/>
                <a:lnTo>
                  <a:pt x="3310414" y="0"/>
                </a:lnTo>
                <a:arcTo wR="76200" hR="76200" stAng="16200000" swAng="5400000"/>
                <a:lnTo>
                  <a:pt x="3386614" y="76200"/>
                </a:lnTo>
                <a:arcTo wR="76200" hR="38100" stAng="0" swAng="-5400000"/>
                <a:lnTo>
                  <a:pt x="76200" y="38100"/>
                </a:lnTo>
                <a:arcTo wR="76200" hR="38100" stAng="16200000" swAng="-5400000"/>
                <a:close/>
              </a:path>
            </a:pathLst>
          </a:custGeom>
          <a:solidFill>
            <a:srgbClr val="4E6596"/>
          </a:solidFill>
          <a:ln/>
        </p:spPr>
        <p:txBody>
          <a:bodyPr/>
          <a:lstStyle/>
          <a:p>
            <a:endParaRPr lang="en-CA"/>
          </a:p>
        </p:txBody>
      </p:sp>
      <p:sp>
        <p:nvSpPr>
          <p:cNvPr id="17" name="Text 15"/>
          <p:cNvSpPr/>
          <p:nvPr/>
        </p:nvSpPr>
        <p:spPr>
          <a:xfrm>
            <a:off x="1041400" y="3294382"/>
            <a:ext cx="301729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2B30"/>
                </a:solidFill>
                <a:latin typeface="Public Sans" pitchFamily="34" charset="0"/>
                <a:ea typeface="Public Sans" pitchFamily="34" charset="-122"/>
                <a:cs typeface="Public Sans" pitchFamily="34" charset="-120"/>
              </a:rPr>
              <a:t>Sorted incidents</a:t>
            </a:r>
            <a:endParaRPr lang="en-US" sz="1600" dirty="0"/>
          </a:p>
        </p:txBody>
      </p:sp>
      <p:sp>
        <p:nvSpPr>
          <p:cNvPr id="18" name="Text 16"/>
          <p:cNvSpPr/>
          <p:nvPr/>
        </p:nvSpPr>
        <p:spPr>
          <a:xfrm>
            <a:off x="1041400" y="3614421"/>
            <a:ext cx="3017296" cy="50546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4A52"/>
                </a:solidFill>
                <a:latin typeface="Public Sans" pitchFamily="34" charset="0"/>
                <a:ea typeface="Public Sans" pitchFamily="34" charset="-122"/>
                <a:cs typeface="Public Sans" pitchFamily="34" charset="-120"/>
              </a:rPr>
              <a:t>Grouped them by type and flagged major highways like Deerfoot Trail.</a:t>
            </a:r>
            <a:endParaRPr lang="en-US" sz="1400" dirty="0"/>
          </a:p>
        </p:txBody>
      </p:sp>
      <p:sp>
        <p:nvSpPr>
          <p:cNvPr id="19" name="Shape 17"/>
          <p:cNvSpPr/>
          <p:nvPr/>
        </p:nvSpPr>
        <p:spPr>
          <a:xfrm>
            <a:off x="4402614" y="3030221"/>
            <a:ext cx="3386693" cy="1532890"/>
          </a:xfrm>
          <a:prstGeom prst="roundRect">
            <a:avLst>
              <a:gd name="adj" fmla="val 4971"/>
            </a:avLst>
          </a:prstGeom>
          <a:solidFill>
            <a:srgbClr val="FFFFFF"/>
          </a:solidFill>
          <a:ln/>
        </p:spPr>
        <p:txBody>
          <a:bodyPr/>
          <a:lstStyle/>
          <a:p>
            <a:endParaRPr lang="en-CA"/>
          </a:p>
        </p:txBody>
      </p:sp>
      <p:sp>
        <p:nvSpPr>
          <p:cNvPr id="20" name="Shape 18"/>
          <p:cNvSpPr/>
          <p:nvPr/>
        </p:nvSpPr>
        <p:spPr>
          <a:xfrm>
            <a:off x="4402614" y="3030221"/>
            <a:ext cx="3386693" cy="1532890"/>
          </a:xfrm>
          <a:custGeom>
            <a:avLst/>
            <a:gdLst/>
            <a:ahLst/>
            <a:cxnLst/>
            <a:rect l="l" t="t" r="r" b="b"/>
            <a:pathLst>
              <a:path w="3386693" h="1532890">
                <a:moveTo>
                  <a:pt x="0" y="76200"/>
                </a:moveTo>
                <a:lnTo>
                  <a:pt x="0" y="76200"/>
                </a:lnTo>
                <a:arcTo wR="76200" hR="76200" stAng="10800000" swAng="5400000"/>
                <a:lnTo>
                  <a:pt x="3310493" y="0"/>
                </a:lnTo>
                <a:arcTo wR="76200" hR="76200" stAng="16200000" swAng="5400000"/>
                <a:lnTo>
                  <a:pt x="3386693" y="76200"/>
                </a:lnTo>
                <a:arcTo wR="76200" hR="38100" stAng="0" swAng="-5400000"/>
                <a:lnTo>
                  <a:pt x="76200" y="38100"/>
                </a:lnTo>
                <a:arcTo wR="76200" hR="38100" stAng="16200000" swAng="-5400000"/>
                <a:close/>
              </a:path>
            </a:pathLst>
          </a:custGeom>
          <a:solidFill>
            <a:srgbClr val="4E6596"/>
          </a:solidFill>
          <a:ln/>
        </p:spPr>
        <p:txBody>
          <a:bodyPr/>
          <a:lstStyle/>
          <a:p>
            <a:endParaRPr lang="en-CA"/>
          </a:p>
        </p:txBody>
      </p:sp>
      <p:sp>
        <p:nvSpPr>
          <p:cNvPr id="21" name="Text 19"/>
          <p:cNvSpPr/>
          <p:nvPr/>
        </p:nvSpPr>
        <p:spPr>
          <a:xfrm>
            <a:off x="4631214" y="3294382"/>
            <a:ext cx="301737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2B30"/>
                </a:solidFill>
                <a:latin typeface="Public Sans" pitchFamily="34" charset="0"/>
                <a:ea typeface="Public Sans" pitchFamily="34" charset="-122"/>
                <a:cs typeface="Public Sans" pitchFamily="34" charset="-120"/>
              </a:rPr>
              <a:t>Made areas comparable</a:t>
            </a:r>
            <a:endParaRPr lang="en-US" sz="1600" dirty="0"/>
          </a:p>
        </p:txBody>
      </p:sp>
      <p:sp>
        <p:nvSpPr>
          <p:cNvPr id="22" name="Text 20"/>
          <p:cNvSpPr/>
          <p:nvPr/>
        </p:nvSpPr>
        <p:spPr>
          <a:xfrm>
            <a:off x="4631214" y="3614421"/>
            <a:ext cx="3017378" cy="74549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4A52"/>
                </a:solidFill>
                <a:latin typeface="Public Sans" pitchFamily="34" charset="0"/>
                <a:ea typeface="Public Sans" pitchFamily="34" charset="-122"/>
                <a:cs typeface="Public Sans" pitchFamily="34" charset="-120"/>
              </a:rPr>
              <a:t>Counted incidents per 1,000 residents a year, on local roads in residential areas.</a:t>
            </a:r>
            <a:endParaRPr lang="en-US" sz="1400" dirty="0"/>
          </a:p>
        </p:txBody>
      </p:sp>
      <p:sp>
        <p:nvSpPr>
          <p:cNvPr id="23" name="Shape 21"/>
          <p:cNvSpPr/>
          <p:nvPr/>
        </p:nvSpPr>
        <p:spPr>
          <a:xfrm>
            <a:off x="7992507" y="3030221"/>
            <a:ext cx="3386693" cy="1532890"/>
          </a:xfrm>
          <a:prstGeom prst="roundRect">
            <a:avLst>
              <a:gd name="adj" fmla="val 4971"/>
            </a:avLst>
          </a:prstGeom>
          <a:solidFill>
            <a:srgbClr val="FFFFFF"/>
          </a:solidFill>
          <a:ln/>
        </p:spPr>
        <p:txBody>
          <a:bodyPr/>
          <a:lstStyle/>
          <a:p>
            <a:endParaRPr lang="en-CA"/>
          </a:p>
        </p:txBody>
      </p:sp>
      <p:sp>
        <p:nvSpPr>
          <p:cNvPr id="24" name="Shape 22"/>
          <p:cNvSpPr/>
          <p:nvPr/>
        </p:nvSpPr>
        <p:spPr>
          <a:xfrm>
            <a:off x="7992507" y="3030221"/>
            <a:ext cx="3386693" cy="1532890"/>
          </a:xfrm>
          <a:custGeom>
            <a:avLst/>
            <a:gdLst/>
            <a:ahLst/>
            <a:cxnLst/>
            <a:rect l="l" t="t" r="r" b="b"/>
            <a:pathLst>
              <a:path w="3386693" h="1532890">
                <a:moveTo>
                  <a:pt x="0" y="76200"/>
                </a:moveTo>
                <a:lnTo>
                  <a:pt x="0" y="76200"/>
                </a:lnTo>
                <a:arcTo wR="76200" hR="76200" stAng="10800000" swAng="5400000"/>
                <a:lnTo>
                  <a:pt x="3310493" y="0"/>
                </a:lnTo>
                <a:arcTo wR="76200" hR="76200" stAng="16200000" swAng="5400000"/>
                <a:lnTo>
                  <a:pt x="3386693" y="76200"/>
                </a:lnTo>
                <a:arcTo wR="76200" hR="38100" stAng="0" swAng="-5400000"/>
                <a:lnTo>
                  <a:pt x="76200" y="38100"/>
                </a:lnTo>
                <a:arcTo wR="76200" hR="38100" stAng="16200000" swAng="-5400000"/>
                <a:close/>
              </a:path>
            </a:pathLst>
          </a:custGeom>
          <a:solidFill>
            <a:srgbClr val="4E6596"/>
          </a:solidFill>
          <a:ln/>
        </p:spPr>
        <p:txBody>
          <a:bodyPr/>
          <a:lstStyle/>
          <a:p>
            <a:endParaRPr lang="en-CA"/>
          </a:p>
        </p:txBody>
      </p:sp>
      <p:sp>
        <p:nvSpPr>
          <p:cNvPr id="25" name="Text 23"/>
          <p:cNvSpPr/>
          <p:nvPr/>
        </p:nvSpPr>
        <p:spPr>
          <a:xfrm>
            <a:off x="8221107" y="3294382"/>
            <a:ext cx="301737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2B30"/>
                </a:solidFill>
                <a:latin typeface="Public Sans" pitchFamily="34" charset="0"/>
                <a:ea typeface="Public Sans" pitchFamily="34" charset="-122"/>
                <a:cs typeface="Public Sans" pitchFamily="34" charset="-120"/>
              </a:rPr>
              <a:t>Kept full years</a:t>
            </a:r>
            <a:endParaRPr lang="en-US" sz="1600" dirty="0"/>
          </a:p>
        </p:txBody>
      </p:sp>
      <p:sp>
        <p:nvSpPr>
          <p:cNvPr id="26" name="Text 24"/>
          <p:cNvSpPr/>
          <p:nvPr/>
        </p:nvSpPr>
        <p:spPr>
          <a:xfrm>
            <a:off x="8221107" y="3614421"/>
            <a:ext cx="3017378" cy="74549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4A52"/>
                </a:solidFill>
                <a:latin typeface="Public Sans" pitchFamily="34" charset="0"/>
                <a:ea typeface="Public Sans" pitchFamily="34" charset="-122"/>
                <a:cs typeface="Public Sans" pitchFamily="34" charset="-120"/>
              </a:rPr>
              <a:t>Used 2017–2025 only, 58,536 incidents, and noted months missing from the data.</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B2B3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F6F4F0"/>
                </a:solidFill>
                <a:latin typeface="Libre Baskerville" pitchFamily="18" charset="0"/>
                <a:ea typeface="Libre Baskerville" pitchFamily="18" charset="-122"/>
                <a:cs typeface="Libre Baskerville" pitchFamily="18" charset="-120"/>
              </a:rPr>
              <a:t>The dashboard so far</a:t>
            </a:r>
            <a:endParaRPr lang="en-US" sz="3200" dirty="0"/>
          </a:p>
        </p:txBody>
      </p:sp>
      <p:sp>
        <p:nvSpPr>
          <p:cNvPr id="5" name="Text 2"/>
          <p:cNvSpPr/>
          <p:nvPr/>
        </p:nvSpPr>
        <p:spPr>
          <a:xfrm>
            <a:off x="8991600" y="1534161"/>
            <a:ext cx="245922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39BBE"/>
                </a:solidFill>
                <a:latin typeface="Public Sans" pitchFamily="34" charset="0"/>
                <a:ea typeface="Public Sans" pitchFamily="34" charset="-122"/>
                <a:cs typeface="Public Sans" pitchFamily="34" charset="-120"/>
              </a:rPr>
              <a:t>BUILT</a:t>
            </a:r>
            <a:endParaRPr lang="en-US" sz="1200" dirty="0"/>
          </a:p>
        </p:txBody>
      </p:sp>
      <p:sp>
        <p:nvSpPr>
          <p:cNvPr id="6" name="Text 3"/>
          <p:cNvSpPr/>
          <p:nvPr/>
        </p:nvSpPr>
        <p:spPr>
          <a:xfrm>
            <a:off x="9089644" y="1874521"/>
            <a:ext cx="2353564" cy="2402840"/>
          </a:xfrm>
          <a:prstGeom prst="rect">
            <a:avLst/>
          </a:prstGeom>
          <a:noFill/>
          <a:ln/>
        </p:spPr>
        <p:txBody>
          <a:bodyPr wrap="square" lIns="0" tIns="0" rIns="0" bIns="0" rtlCol="0" anchor="t">
            <a:normAutofit/>
          </a:bodyPr>
          <a:lstStyle/>
          <a:p>
            <a:pPr marL="155956" indent="-155956" algn="l">
              <a:lnSpc>
                <a:spcPts val="2080"/>
              </a:lnSpc>
              <a:buSzPct val="100000"/>
              <a:buChar char="•"/>
            </a:pPr>
            <a:r>
              <a:rPr lang="en-US" sz="1300" dirty="0">
                <a:solidFill>
                  <a:srgbClr val="C9C7CF"/>
                </a:solidFill>
                <a:latin typeface="Public Sans" pitchFamily="34" charset="0"/>
                <a:ea typeface="Public Sans" pitchFamily="34" charset="-122"/>
                <a:cs typeface="Public Sans" pitchFamily="34" charset="-120"/>
              </a:rPr>
              <a:t>4 KPIs that follow the filters</a:t>
            </a:r>
            <a:endParaRPr lang="en-US" sz="1300" dirty="0"/>
          </a:p>
          <a:p>
            <a:pPr marL="155956" indent="-155956" algn="l">
              <a:lnSpc>
                <a:spcPts val="2080"/>
              </a:lnSpc>
              <a:buSzPct val="100000"/>
              <a:buChar char="•"/>
            </a:pPr>
            <a:r>
              <a:rPr lang="en-US" sz="1300" dirty="0">
                <a:solidFill>
                  <a:srgbClr val="C9C7CF"/>
                </a:solidFill>
                <a:latin typeface="Public Sans" pitchFamily="34" charset="0"/>
                <a:ea typeface="Public Sans" pitchFamily="34" charset="-122"/>
                <a:cs typeface="Public Sans" pitchFamily="34" charset="-120"/>
              </a:rPr>
              <a:t>Income × incident-rate map</a:t>
            </a:r>
            <a:endParaRPr lang="en-US" sz="1300" dirty="0"/>
          </a:p>
          <a:p>
            <a:pPr marL="155956" indent="-155956" algn="l">
              <a:lnSpc>
                <a:spcPts val="2080"/>
              </a:lnSpc>
              <a:buSzPct val="100000"/>
              <a:buChar char="•"/>
            </a:pPr>
            <a:r>
              <a:rPr lang="en-US" sz="1300" dirty="0">
                <a:solidFill>
                  <a:srgbClr val="C9C7CF"/>
                </a:solidFill>
                <a:latin typeface="Public Sans" pitchFamily="34" charset="0"/>
                <a:ea typeface="Public Sans" pitchFamily="34" charset="-122"/>
                <a:cs typeface="Public Sans" pitchFamily="34" charset="-120"/>
              </a:rPr>
              <a:t>Click-through area details</a:t>
            </a:r>
            <a:endParaRPr lang="en-US" sz="1300" dirty="0"/>
          </a:p>
          <a:p>
            <a:pPr marL="155956" indent="-155956" algn="l">
              <a:lnSpc>
                <a:spcPts val="2080"/>
              </a:lnSpc>
              <a:buSzPct val="100000"/>
              <a:buChar char="•"/>
            </a:pPr>
            <a:r>
              <a:rPr lang="en-US" sz="1300" dirty="0">
                <a:solidFill>
                  <a:srgbClr val="C9C7CF"/>
                </a:solidFill>
                <a:latin typeface="Public Sans" pitchFamily="34" charset="0"/>
                <a:ea typeface="Public Sans" pitchFamily="34" charset="-122"/>
                <a:cs typeface="Public Sans" pitchFamily="34" charset="-120"/>
              </a:rPr>
              <a:t>Day-by-hour heatmap</a:t>
            </a:r>
            <a:endParaRPr lang="en-US" sz="1300" dirty="0"/>
          </a:p>
          <a:p>
            <a:pPr marL="155956" indent="-155956" algn="l">
              <a:lnSpc>
                <a:spcPts val="2080"/>
              </a:lnSpc>
              <a:buSzPct val="100000"/>
              <a:buChar char="•"/>
            </a:pPr>
            <a:r>
              <a:rPr lang="en-US" sz="1300" dirty="0">
                <a:solidFill>
                  <a:srgbClr val="C9C7CF"/>
                </a:solidFill>
                <a:latin typeface="Public Sans" pitchFamily="34" charset="0"/>
                <a:ea typeface="Public Sans" pitchFamily="34" charset="-122"/>
                <a:cs typeface="Public Sans" pitchFamily="34" charset="-120"/>
              </a:rPr>
              <a:t>Monthly pattern</a:t>
            </a:r>
            <a:endParaRPr lang="en-US" sz="1300" dirty="0"/>
          </a:p>
          <a:p>
            <a:pPr marL="155956" indent="-155956" algn="l">
              <a:lnSpc>
                <a:spcPts val="2080"/>
              </a:lnSpc>
              <a:buSzPct val="100000"/>
              <a:buChar char="•"/>
            </a:pPr>
            <a:r>
              <a:rPr lang="en-US" sz="1300" dirty="0">
                <a:solidFill>
                  <a:srgbClr val="C9C7CF"/>
                </a:solidFill>
                <a:latin typeface="Public Sans" pitchFamily="34" charset="0"/>
                <a:ea typeface="Public Sans" pitchFamily="34" charset="-122"/>
                <a:cs typeface="Public Sans" pitchFamily="34" charset="-120"/>
              </a:rPr>
              <a:t>Neighbourhood-trait links</a:t>
            </a:r>
            <a:endParaRPr lang="en-US" sz="1300" dirty="0"/>
          </a:p>
          <a:p>
            <a:pPr marL="155956" indent="-155956" algn="l">
              <a:lnSpc>
                <a:spcPts val="2080"/>
              </a:lnSpc>
              <a:buSzPct val="100000"/>
              <a:buChar char="•"/>
            </a:pPr>
            <a:r>
              <a:rPr lang="en-US" sz="1300" dirty="0">
                <a:solidFill>
                  <a:srgbClr val="C9C7CF"/>
                </a:solidFill>
                <a:latin typeface="Public Sans" pitchFamily="34" charset="0"/>
                <a:ea typeface="Public Sans" pitchFamily="34" charset="-122"/>
                <a:cs typeface="Public Sans" pitchFamily="34" charset="-120"/>
              </a:rPr>
              <a:t>Year, type and community filters</a:t>
            </a:r>
            <a:endParaRPr lang="en-US" sz="1300" dirty="0"/>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8" name="Add-in 7" title="Microsoft Power BI">
                <a:extLst>
                  <a:ext uri="{FF2B5EF4-FFF2-40B4-BE49-F238E27FC236}">
                    <a16:creationId xmlns:a16="http://schemas.microsoft.com/office/drawing/2014/main" id="{C1681881-4E28-BCC9-FC72-9AF915AE8FAE}"/>
                  </a:ext>
                </a:extLst>
              </p:cNvPr>
              <p:cNvGraphicFramePr>
                <a:graphicFrameLocks noGrp="1"/>
              </p:cNvGraphicFramePr>
              <p:nvPr>
                <p:extLst>
                  <p:ext uri="{D42A27DB-BD31-4B8C-83A1-F6EECF244321}">
                    <p14:modId xmlns:p14="http://schemas.microsoft.com/office/powerpoint/2010/main" val="1822799972"/>
                  </p:ext>
                </p:extLst>
              </p:nvPr>
            </p:nvGraphicFramePr>
            <p:xfrm>
              <a:off x="748792" y="1395046"/>
              <a:ext cx="8025930" cy="4706816"/>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8" name="Add-in 7" title="Microsoft Power BI">
                <a:extLst>
                  <a:ext uri="{FF2B5EF4-FFF2-40B4-BE49-F238E27FC236}">
                    <a16:creationId xmlns:a16="http://schemas.microsoft.com/office/drawing/2014/main" id="{C1681881-4E28-BCC9-FC72-9AF915AE8FAE}"/>
                  </a:ext>
                </a:extLst>
              </p:cNvPr>
              <p:cNvPicPr>
                <a:picLocks noGrp="1" noRot="1" noChangeAspect="1" noMove="1" noResize="1" noEditPoints="1" noAdjustHandles="1" noChangeArrowheads="1" noChangeShapeType="1"/>
              </p:cNvPicPr>
              <p:nvPr/>
            </p:nvPicPr>
            <p:blipFill>
              <a:blip r:embed="rId4"/>
              <a:stretch>
                <a:fillRect/>
              </a:stretch>
            </p:blipFill>
            <p:spPr>
              <a:xfrm>
                <a:off x="748792" y="1395046"/>
                <a:ext cx="8025930" cy="4706816"/>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bg>
      <p:bgPr>
        <a:solidFill>
          <a:srgbClr val="2B2B30"/>
        </a:solidFill>
        <a:effectLst/>
      </p:bgPr>
    </p:bg>
    <p:spTree>
      <p:nvGrpSpPr>
        <p:cNvPr id="1" name="">
          <a:extLst>
            <a:ext uri="{FF2B5EF4-FFF2-40B4-BE49-F238E27FC236}">
              <a16:creationId xmlns:a16="http://schemas.microsoft.com/office/drawing/2014/main" id="{C67B4D88-DE1F-41BB-E51C-36DF6E0E114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D734A86-C35F-5609-7B1E-D6FE8092F396}"/>
              </a:ext>
            </a:extLst>
          </p:cNvPr>
          <p:cNvSpPr>
            <a:spLocks noGrp="1"/>
          </p:cNvSpPr>
          <p:nvPr>
            <p:ph type="title"/>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F6F4F0"/>
                </a:solidFill>
                <a:latin typeface="Libre Baskerville" pitchFamily="18" charset="0"/>
                <a:ea typeface="Libre Baskerville" pitchFamily="18" charset="-122"/>
                <a:cs typeface="Libre Baskerville" pitchFamily="18" charset="-120"/>
              </a:rPr>
              <a:t>The dashboard so far</a:t>
            </a:r>
            <a:endParaRPr lang="en-US" sz="3200" dirty="0"/>
          </a:p>
        </p:txBody>
      </p:sp>
      <p:pic>
        <p:nvPicPr>
          <p:cNvPr id="3" name="Image 0">
            <a:extLst>
              <a:ext uri="{FF2B5EF4-FFF2-40B4-BE49-F238E27FC236}">
                <a16:creationId xmlns:a16="http://schemas.microsoft.com/office/drawing/2014/main" id="{704B56A5-BD5C-993F-1F89-BAE7A546F39D}"/>
              </a:ext>
            </a:extLst>
          </p:cNvPr>
          <p:cNvPicPr>
            <a:picLocks noChangeAspect="1"/>
          </p:cNvPicPr>
          <p:nvPr/>
        </p:nvPicPr>
        <p:blipFill>
          <a:blip r:embed="rId3"/>
          <a:srcRect t="623" b="623"/>
          <a:stretch/>
        </p:blipFill>
        <p:spPr>
          <a:xfrm>
            <a:off x="819150" y="1540511"/>
            <a:ext cx="7861300" cy="4406900"/>
          </a:xfrm>
          <a:prstGeom prst="roundRect">
            <a:avLst>
              <a:gd name="adj" fmla="val 1585"/>
            </a:avLst>
          </a:prstGeom>
        </p:spPr>
      </p:pic>
      <p:sp>
        <p:nvSpPr>
          <p:cNvPr id="4" name="Shape 1">
            <a:extLst>
              <a:ext uri="{FF2B5EF4-FFF2-40B4-BE49-F238E27FC236}">
                <a16:creationId xmlns:a16="http://schemas.microsoft.com/office/drawing/2014/main" id="{5B7DA20B-951B-44AD-ABD4-842BF3D4DF7C}"/>
              </a:ext>
            </a:extLst>
          </p:cNvPr>
          <p:cNvSpPr/>
          <p:nvPr/>
        </p:nvSpPr>
        <p:spPr>
          <a:xfrm>
            <a:off x="815975" y="1537336"/>
            <a:ext cx="7867650" cy="4413250"/>
          </a:xfrm>
          <a:prstGeom prst="roundRect">
            <a:avLst>
              <a:gd name="adj" fmla="val 1655"/>
            </a:avLst>
          </a:prstGeom>
          <a:noFill/>
          <a:ln w="6350">
            <a:solidFill>
              <a:srgbClr val="55555C"/>
            </a:solidFill>
            <a:prstDash val="solid"/>
          </a:ln>
        </p:spPr>
        <p:txBody>
          <a:bodyPr/>
          <a:lstStyle/>
          <a:p>
            <a:endParaRPr lang="en-CA"/>
          </a:p>
        </p:txBody>
      </p:sp>
      <p:sp>
        <p:nvSpPr>
          <p:cNvPr id="5" name="Text 2">
            <a:extLst>
              <a:ext uri="{FF2B5EF4-FFF2-40B4-BE49-F238E27FC236}">
                <a16:creationId xmlns:a16="http://schemas.microsoft.com/office/drawing/2014/main" id="{241D38AE-3EBA-9EB5-EA29-C1DB9862DACC}"/>
              </a:ext>
            </a:extLst>
          </p:cNvPr>
          <p:cNvSpPr/>
          <p:nvPr/>
        </p:nvSpPr>
        <p:spPr>
          <a:xfrm>
            <a:off x="8991600" y="1534161"/>
            <a:ext cx="245922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39BBE"/>
                </a:solidFill>
                <a:latin typeface="Public Sans" pitchFamily="34" charset="0"/>
                <a:ea typeface="Public Sans" pitchFamily="34" charset="-122"/>
                <a:cs typeface="Public Sans" pitchFamily="34" charset="-120"/>
              </a:rPr>
              <a:t>BUILT</a:t>
            </a:r>
            <a:endParaRPr lang="en-US" sz="1200" dirty="0"/>
          </a:p>
        </p:txBody>
      </p:sp>
      <p:sp>
        <p:nvSpPr>
          <p:cNvPr id="6" name="Text 3">
            <a:extLst>
              <a:ext uri="{FF2B5EF4-FFF2-40B4-BE49-F238E27FC236}">
                <a16:creationId xmlns:a16="http://schemas.microsoft.com/office/drawing/2014/main" id="{5B062CD1-4DB5-2969-0206-2BD60DABF900}"/>
              </a:ext>
            </a:extLst>
          </p:cNvPr>
          <p:cNvSpPr/>
          <p:nvPr/>
        </p:nvSpPr>
        <p:spPr>
          <a:xfrm>
            <a:off x="9089644" y="1874521"/>
            <a:ext cx="2353564" cy="2402840"/>
          </a:xfrm>
          <a:prstGeom prst="rect">
            <a:avLst/>
          </a:prstGeom>
          <a:noFill/>
          <a:ln/>
        </p:spPr>
        <p:txBody>
          <a:bodyPr wrap="square" lIns="0" tIns="0" rIns="0" bIns="0" rtlCol="0" anchor="t">
            <a:normAutofit/>
          </a:bodyPr>
          <a:lstStyle/>
          <a:p>
            <a:pPr marL="155956" indent="-155956" algn="l">
              <a:lnSpc>
                <a:spcPts val="2080"/>
              </a:lnSpc>
              <a:buSzPct val="100000"/>
              <a:buChar char="•"/>
            </a:pPr>
            <a:r>
              <a:rPr lang="en-US" sz="1300" dirty="0">
                <a:solidFill>
                  <a:srgbClr val="C9C7CF"/>
                </a:solidFill>
                <a:latin typeface="Public Sans" pitchFamily="34" charset="0"/>
                <a:ea typeface="Public Sans" pitchFamily="34" charset="-122"/>
                <a:cs typeface="Public Sans" pitchFamily="34" charset="-120"/>
              </a:rPr>
              <a:t>4 KPIs that follow the filters</a:t>
            </a:r>
            <a:endParaRPr lang="en-US" sz="1300" dirty="0"/>
          </a:p>
          <a:p>
            <a:pPr marL="155956" indent="-155956" algn="l">
              <a:lnSpc>
                <a:spcPts val="2080"/>
              </a:lnSpc>
              <a:buSzPct val="100000"/>
              <a:buChar char="•"/>
            </a:pPr>
            <a:r>
              <a:rPr lang="en-US" sz="1300" dirty="0">
                <a:solidFill>
                  <a:srgbClr val="C9C7CF"/>
                </a:solidFill>
                <a:latin typeface="Public Sans" pitchFamily="34" charset="0"/>
                <a:ea typeface="Public Sans" pitchFamily="34" charset="-122"/>
                <a:cs typeface="Public Sans" pitchFamily="34" charset="-120"/>
              </a:rPr>
              <a:t>Income × incident-rate map</a:t>
            </a:r>
            <a:endParaRPr lang="en-US" sz="1300" dirty="0"/>
          </a:p>
          <a:p>
            <a:pPr marL="155956" indent="-155956" algn="l">
              <a:lnSpc>
                <a:spcPts val="2080"/>
              </a:lnSpc>
              <a:buSzPct val="100000"/>
              <a:buChar char="•"/>
            </a:pPr>
            <a:r>
              <a:rPr lang="en-US" sz="1300" dirty="0">
                <a:solidFill>
                  <a:srgbClr val="C9C7CF"/>
                </a:solidFill>
                <a:latin typeface="Public Sans" pitchFamily="34" charset="0"/>
                <a:ea typeface="Public Sans" pitchFamily="34" charset="-122"/>
                <a:cs typeface="Public Sans" pitchFamily="34" charset="-120"/>
              </a:rPr>
              <a:t>Click-through area details</a:t>
            </a:r>
            <a:endParaRPr lang="en-US" sz="1300" dirty="0"/>
          </a:p>
          <a:p>
            <a:pPr marL="155956" indent="-155956" algn="l">
              <a:lnSpc>
                <a:spcPts val="2080"/>
              </a:lnSpc>
              <a:buSzPct val="100000"/>
              <a:buChar char="•"/>
            </a:pPr>
            <a:r>
              <a:rPr lang="en-US" sz="1300" dirty="0">
                <a:solidFill>
                  <a:srgbClr val="C9C7CF"/>
                </a:solidFill>
                <a:latin typeface="Public Sans" pitchFamily="34" charset="0"/>
                <a:ea typeface="Public Sans" pitchFamily="34" charset="-122"/>
                <a:cs typeface="Public Sans" pitchFamily="34" charset="-120"/>
              </a:rPr>
              <a:t>Day-by-hour heatmap</a:t>
            </a:r>
            <a:endParaRPr lang="en-US" sz="1300" dirty="0"/>
          </a:p>
          <a:p>
            <a:pPr marL="155956" indent="-155956" algn="l">
              <a:lnSpc>
                <a:spcPts val="2080"/>
              </a:lnSpc>
              <a:buSzPct val="100000"/>
              <a:buChar char="•"/>
            </a:pPr>
            <a:r>
              <a:rPr lang="en-US" sz="1300" dirty="0">
                <a:solidFill>
                  <a:srgbClr val="C9C7CF"/>
                </a:solidFill>
                <a:latin typeface="Public Sans" pitchFamily="34" charset="0"/>
                <a:ea typeface="Public Sans" pitchFamily="34" charset="-122"/>
                <a:cs typeface="Public Sans" pitchFamily="34" charset="-120"/>
              </a:rPr>
              <a:t>Monthly pattern</a:t>
            </a:r>
            <a:endParaRPr lang="en-US" sz="1300" dirty="0"/>
          </a:p>
          <a:p>
            <a:pPr marL="155956" indent="-155956" algn="l">
              <a:lnSpc>
                <a:spcPts val="2080"/>
              </a:lnSpc>
              <a:buSzPct val="100000"/>
              <a:buChar char="•"/>
            </a:pPr>
            <a:r>
              <a:rPr lang="en-US" sz="1300" dirty="0">
                <a:solidFill>
                  <a:srgbClr val="C9C7CF"/>
                </a:solidFill>
                <a:latin typeface="Public Sans" pitchFamily="34" charset="0"/>
                <a:ea typeface="Public Sans" pitchFamily="34" charset="-122"/>
                <a:cs typeface="Public Sans" pitchFamily="34" charset="-120"/>
              </a:rPr>
              <a:t>Neighbourhood-trait links</a:t>
            </a:r>
            <a:endParaRPr lang="en-US" sz="1300" dirty="0"/>
          </a:p>
          <a:p>
            <a:pPr marL="155956" indent="-155956" algn="l">
              <a:lnSpc>
                <a:spcPts val="2080"/>
              </a:lnSpc>
              <a:buSzPct val="100000"/>
              <a:buChar char="•"/>
            </a:pPr>
            <a:r>
              <a:rPr lang="en-US" sz="1300" dirty="0">
                <a:solidFill>
                  <a:srgbClr val="C9C7CF"/>
                </a:solidFill>
                <a:latin typeface="Public Sans" pitchFamily="34" charset="0"/>
                <a:ea typeface="Public Sans" pitchFamily="34" charset="-122"/>
                <a:cs typeface="Public Sans" pitchFamily="34" charset="-120"/>
              </a:rPr>
              <a:t>Year, type and community filters</a:t>
            </a:r>
            <a:endParaRPr lang="en-US" sz="1300" dirty="0"/>
          </a:p>
        </p:txBody>
      </p:sp>
    </p:spTree>
    <p:extLst>
      <p:ext uri="{BB962C8B-B14F-4D97-AF65-F5344CB8AC3E}">
        <p14:creationId xmlns:p14="http://schemas.microsoft.com/office/powerpoint/2010/main" val="156657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6F4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2B2B30"/>
                </a:solidFill>
                <a:latin typeface="Libre Baskerville" pitchFamily="18" charset="0"/>
                <a:ea typeface="Libre Baskerville" pitchFamily="18" charset="-122"/>
                <a:cs typeface="Libre Baskerville" pitchFamily="18" charset="-120"/>
              </a:rPr>
              <a:t>Findings: where and who</a:t>
            </a:r>
            <a:endParaRPr lang="en-US" sz="3200" dirty="0"/>
          </a:p>
        </p:txBody>
      </p:sp>
      <p:pic>
        <p:nvPicPr>
          <p:cNvPr id="3" name="Image 0" descr="Bivariate map of Calgary’s 113 areas coloured by median income and local incident rate, with a 3×3 legend showing how many areas fall in each group"/>
          <p:cNvPicPr>
            <a:picLocks noChangeAspect="1"/>
          </p:cNvPicPr>
          <p:nvPr/>
        </p:nvPicPr>
        <p:blipFill>
          <a:blip r:embed="rId3"/>
          <a:srcRect l="-6" r="-6"/>
          <a:stretch/>
        </p:blipFill>
        <p:spPr>
          <a:xfrm>
            <a:off x="812800" y="1534161"/>
            <a:ext cx="4191000" cy="4495800"/>
          </a:xfrm>
          <a:prstGeom prst="roundRect">
            <a:avLst>
              <a:gd name="adj" fmla="val 1818"/>
            </a:avLst>
          </a:prstGeom>
        </p:spPr>
      </p:pic>
      <p:sp>
        <p:nvSpPr>
          <p:cNvPr id="4" name="Text 1"/>
          <p:cNvSpPr/>
          <p:nvPr/>
        </p:nvSpPr>
        <p:spPr>
          <a:xfrm>
            <a:off x="5410200" y="1534161"/>
            <a:ext cx="6148070"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B4467E"/>
                </a:solidFill>
                <a:latin typeface="Libre Baskerville" pitchFamily="18" charset="0"/>
                <a:ea typeface="Libre Baskerville" pitchFamily="18" charset="-122"/>
                <a:cs typeface="Libre Baskerville" pitchFamily="18" charset="-120"/>
              </a:rPr>
              <a:t>16 of 37</a:t>
            </a:r>
            <a:endParaRPr lang="en-US" sz="3600" dirty="0"/>
          </a:p>
        </p:txBody>
      </p:sp>
      <p:sp>
        <p:nvSpPr>
          <p:cNvPr id="5" name="Text 2"/>
          <p:cNvSpPr/>
          <p:nvPr/>
        </p:nvSpPr>
        <p:spPr>
          <a:xfrm>
            <a:off x="5410200" y="2075182"/>
            <a:ext cx="6148070"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4A4A52"/>
                </a:solidFill>
                <a:latin typeface="Public Sans" pitchFamily="34" charset="0"/>
                <a:ea typeface="Public Sans" pitchFamily="34" charset="-122"/>
                <a:cs typeface="Public Sans" pitchFamily="34" charset="-120"/>
              </a:rPr>
              <a:t>lower-income areas fall in the highest incident-rate third, vs. 11 of 38 higher-income areas</a:t>
            </a:r>
            <a:endParaRPr lang="en-US" sz="1500" dirty="0"/>
          </a:p>
        </p:txBody>
      </p:sp>
      <p:sp>
        <p:nvSpPr>
          <p:cNvPr id="6" name="Text 3"/>
          <p:cNvSpPr/>
          <p:nvPr/>
        </p:nvSpPr>
        <p:spPr>
          <a:xfrm>
            <a:off x="5410200" y="2818132"/>
            <a:ext cx="6148070"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B4467E"/>
                </a:solidFill>
                <a:latin typeface="Libre Baskerville" pitchFamily="18" charset="0"/>
                <a:ea typeface="Libre Baskerville" pitchFamily="18" charset="-122"/>
                <a:cs typeface="Libre Baskerville" pitchFamily="18" charset="-120"/>
              </a:rPr>
              <a:t>1.7×</a:t>
            </a:r>
            <a:endParaRPr lang="en-US" sz="3600" dirty="0"/>
          </a:p>
        </p:txBody>
      </p:sp>
      <p:sp>
        <p:nvSpPr>
          <p:cNvPr id="7" name="Text 4"/>
          <p:cNvSpPr/>
          <p:nvPr/>
        </p:nvSpPr>
        <p:spPr>
          <a:xfrm>
            <a:off x="5410200" y="3359150"/>
            <a:ext cx="6148070"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4A4A52"/>
                </a:solidFill>
                <a:latin typeface="Public Sans" pitchFamily="34" charset="0"/>
                <a:ea typeface="Public Sans" pitchFamily="34" charset="-122"/>
                <a:cs typeface="Public Sans" pitchFamily="34" charset="-120"/>
              </a:rPr>
              <a:t>the local incident rate in the lowest-income fifth (2.35 vs. 1.38 per 1,000 residents a year)</a:t>
            </a:r>
            <a:endParaRPr lang="en-US" sz="1500" dirty="0"/>
          </a:p>
        </p:txBody>
      </p:sp>
      <p:sp>
        <p:nvSpPr>
          <p:cNvPr id="8" name="Text 5"/>
          <p:cNvSpPr/>
          <p:nvPr/>
        </p:nvSpPr>
        <p:spPr>
          <a:xfrm>
            <a:off x="5410200" y="4102100"/>
            <a:ext cx="6148070"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4E6596"/>
                </a:solidFill>
                <a:latin typeface="Libre Baskerville" pitchFamily="18" charset="0"/>
                <a:ea typeface="Libre Baskerville" pitchFamily="18" charset="-122"/>
                <a:cs typeface="Libre Baskerville" pitchFamily="18" charset="-120"/>
              </a:rPr>
              <a:t>+0.68 vs. −0.22</a:t>
            </a:r>
            <a:endParaRPr lang="en-US" sz="3600" dirty="0"/>
          </a:p>
        </p:txBody>
      </p:sp>
      <p:sp>
        <p:nvSpPr>
          <p:cNvPr id="9" name="Text 6"/>
          <p:cNvSpPr/>
          <p:nvPr/>
        </p:nvSpPr>
        <p:spPr>
          <a:xfrm>
            <a:off x="5410200" y="4643121"/>
            <a:ext cx="6148070"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4A4A52"/>
                </a:solidFill>
                <a:latin typeface="Public Sans" pitchFamily="34" charset="0"/>
                <a:ea typeface="Public Sans" pitchFamily="34" charset="-122"/>
                <a:cs typeface="Public Sans" pitchFamily="34" charset="-120"/>
              </a:rPr>
              <a:t>renter share tracks incident rates far more closely than median income does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EDE8E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2B2B30"/>
                </a:solidFill>
                <a:latin typeface="Libre Baskerville" pitchFamily="18" charset="0"/>
                <a:ea typeface="Libre Baskerville" pitchFamily="18" charset="-122"/>
                <a:cs typeface="Libre Baskerville" pitchFamily="18" charset="-120"/>
              </a:rPr>
              <a:t>Findings: when</a:t>
            </a:r>
            <a:endParaRPr lang="en-US" sz="3200" dirty="0"/>
          </a:p>
        </p:txBody>
      </p:sp>
      <p:pic>
        <p:nvPicPr>
          <p:cNvPr id="3" name="Image 0" descr="Heatmap of incidents by day of week and hour, darkest on weekday afternoons from 3 to 6 PM"/>
          <p:cNvPicPr>
            <a:picLocks noChangeAspect="1"/>
          </p:cNvPicPr>
          <p:nvPr/>
        </p:nvPicPr>
        <p:blipFill>
          <a:blip r:embed="rId3"/>
          <a:srcRect l="-51" r="-51"/>
          <a:stretch/>
        </p:blipFill>
        <p:spPr>
          <a:xfrm>
            <a:off x="812800" y="1534161"/>
            <a:ext cx="5715000" cy="3041650"/>
          </a:xfrm>
          <a:prstGeom prst="roundRect">
            <a:avLst>
              <a:gd name="adj" fmla="val 2505"/>
            </a:avLst>
          </a:prstGeom>
        </p:spPr>
      </p:pic>
      <p:sp>
        <p:nvSpPr>
          <p:cNvPr id="4" name="Text 1"/>
          <p:cNvSpPr/>
          <p:nvPr/>
        </p:nvSpPr>
        <p:spPr>
          <a:xfrm>
            <a:off x="812800" y="4753614"/>
            <a:ext cx="5886450" cy="539750"/>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2B2B30"/>
                </a:solidFill>
                <a:latin typeface="Public Sans" pitchFamily="34" charset="0"/>
                <a:ea typeface="Public Sans" pitchFamily="34" charset="-122"/>
                <a:cs typeface="Public Sans" pitchFamily="34" charset="-120"/>
              </a:rPr>
              <a:t>26% of incidents</a:t>
            </a:r>
            <a:r>
              <a:rPr lang="en-US" sz="1500" dirty="0">
                <a:solidFill>
                  <a:srgbClr val="4A4A52"/>
                </a:solidFill>
                <a:latin typeface="Public Sans" pitchFamily="34" charset="0"/>
                <a:ea typeface="Public Sans" pitchFamily="34" charset="-122"/>
                <a:cs typeface="Public Sans" pitchFamily="34" charset="-120"/>
              </a:rPr>
              <a:t> happen between 3 and 6 PM, peaking 5–6 PM. Sundays see about half of Wednesday’s total.</a:t>
            </a:r>
            <a:endParaRPr lang="en-US" sz="1500" dirty="0"/>
          </a:p>
        </p:txBody>
      </p:sp>
      <p:pic>
        <p:nvPicPr>
          <p:cNvPr id="5" name="Image 1" descr="Column chart of incidents per 100,000 residents by month; September to February are above average, April is lowest"/>
          <p:cNvPicPr>
            <a:picLocks noChangeAspect="1"/>
          </p:cNvPicPr>
          <p:nvPr/>
        </p:nvPicPr>
        <p:blipFill>
          <a:blip r:embed="rId4"/>
          <a:srcRect l="-23" r="-23"/>
          <a:stretch/>
        </p:blipFill>
        <p:spPr>
          <a:xfrm>
            <a:off x="6832600" y="1534161"/>
            <a:ext cx="4546600" cy="2876550"/>
          </a:xfrm>
          <a:prstGeom prst="roundRect">
            <a:avLst>
              <a:gd name="adj" fmla="val 2649"/>
            </a:avLst>
          </a:prstGeom>
        </p:spPr>
      </p:pic>
      <p:sp>
        <p:nvSpPr>
          <p:cNvPr id="6" name="Text 2"/>
          <p:cNvSpPr/>
          <p:nvPr/>
        </p:nvSpPr>
        <p:spPr>
          <a:xfrm>
            <a:off x="6832600" y="4588514"/>
            <a:ext cx="4682998" cy="796925"/>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2B2B30"/>
                </a:solidFill>
                <a:latin typeface="Public Sans" pitchFamily="34" charset="0"/>
                <a:ea typeface="Public Sans" pitchFamily="34" charset="-122"/>
                <a:cs typeface="Public Sans" pitchFamily="34" charset="-120"/>
              </a:rPr>
              <a:t>December runs 1.6× April</a:t>
            </a:r>
            <a:r>
              <a:rPr lang="en-US" sz="1500" dirty="0">
                <a:solidFill>
                  <a:srgbClr val="4A4A52"/>
                </a:solidFill>
                <a:latin typeface="Public Sans" pitchFamily="34" charset="0"/>
                <a:ea typeface="Public Sans" pitchFamily="34" charset="-122"/>
                <a:cs typeface="Public Sans" pitchFamily="34" charset="-120"/>
              </a:rPr>
              <a:t> (55.5 vs. 35.0 per 100,000 residents a month). Fall and winter sit above average.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2B2B3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F6F4F0"/>
                </a:solidFill>
                <a:latin typeface="Libre Baskerville" pitchFamily="18" charset="0"/>
                <a:ea typeface="Libre Baskerville" pitchFamily="18" charset="-122"/>
                <a:cs typeface="Libre Baskerville" pitchFamily="18" charset="-120"/>
              </a:rPr>
              <a:t>Next steps</a:t>
            </a:r>
            <a:endParaRPr lang="en-US" sz="3200" dirty="0"/>
          </a:p>
        </p:txBody>
      </p:sp>
      <p:sp>
        <p:nvSpPr>
          <p:cNvPr id="3" name="Shape 1"/>
          <p:cNvSpPr/>
          <p:nvPr/>
        </p:nvSpPr>
        <p:spPr>
          <a:xfrm>
            <a:off x="812800" y="2024379"/>
            <a:ext cx="5181600" cy="1341120"/>
          </a:xfrm>
          <a:prstGeom prst="roundRect">
            <a:avLst>
              <a:gd name="adj" fmla="val 7576"/>
            </a:avLst>
          </a:prstGeom>
          <a:solidFill>
            <a:srgbClr val="36363C"/>
          </a:solidFill>
          <a:ln/>
        </p:spPr>
        <p:txBody>
          <a:bodyPr/>
          <a:lstStyle/>
          <a:p>
            <a:endParaRPr lang="en-CA"/>
          </a:p>
        </p:txBody>
      </p:sp>
      <p:sp>
        <p:nvSpPr>
          <p:cNvPr id="4" name="Text 2"/>
          <p:cNvSpPr/>
          <p:nvPr/>
        </p:nvSpPr>
        <p:spPr>
          <a:xfrm>
            <a:off x="1066800" y="2278379"/>
            <a:ext cx="4813808"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E39BBE"/>
                </a:solidFill>
                <a:latin typeface="Public Sans" pitchFamily="34" charset="0"/>
                <a:ea typeface="Public Sans" pitchFamily="34" charset="-122"/>
                <a:cs typeface="Public Sans" pitchFamily="34" charset="-120"/>
              </a:rPr>
              <a:t>Account for traffic, not just residents</a:t>
            </a:r>
            <a:endParaRPr lang="en-US" sz="1700" dirty="0"/>
          </a:p>
        </p:txBody>
      </p:sp>
      <p:sp>
        <p:nvSpPr>
          <p:cNvPr id="5" name="Text 3"/>
          <p:cNvSpPr/>
          <p:nvPr/>
        </p:nvSpPr>
        <p:spPr>
          <a:xfrm>
            <a:off x="1066800" y="2613664"/>
            <a:ext cx="481380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7CF"/>
                </a:solidFill>
                <a:latin typeface="Public Sans" pitchFamily="34" charset="0"/>
                <a:ea typeface="Public Sans" pitchFamily="34" charset="-122"/>
                <a:cs typeface="Public Sans" pitchFamily="34" charset="-120"/>
              </a:rPr>
              <a:t>Downtown and industrial areas draw commuters, so a resident-based rate overstates them.</a:t>
            </a:r>
            <a:endParaRPr lang="en-US" sz="1400" dirty="0"/>
          </a:p>
        </p:txBody>
      </p:sp>
      <p:sp>
        <p:nvSpPr>
          <p:cNvPr id="6" name="Shape 4"/>
          <p:cNvSpPr/>
          <p:nvPr/>
        </p:nvSpPr>
        <p:spPr>
          <a:xfrm>
            <a:off x="6197600" y="2024379"/>
            <a:ext cx="5181600" cy="1341120"/>
          </a:xfrm>
          <a:prstGeom prst="roundRect">
            <a:avLst>
              <a:gd name="adj" fmla="val 7576"/>
            </a:avLst>
          </a:prstGeom>
          <a:solidFill>
            <a:srgbClr val="36363C"/>
          </a:solidFill>
          <a:ln/>
        </p:spPr>
        <p:txBody>
          <a:bodyPr/>
          <a:lstStyle/>
          <a:p>
            <a:endParaRPr lang="en-CA"/>
          </a:p>
        </p:txBody>
      </p:sp>
      <p:sp>
        <p:nvSpPr>
          <p:cNvPr id="7" name="Text 5"/>
          <p:cNvSpPr/>
          <p:nvPr/>
        </p:nvSpPr>
        <p:spPr>
          <a:xfrm>
            <a:off x="6451600" y="2278379"/>
            <a:ext cx="4813808"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E39BBE"/>
                </a:solidFill>
                <a:latin typeface="Public Sans" pitchFamily="34" charset="0"/>
                <a:ea typeface="Public Sans" pitchFamily="34" charset="-122"/>
                <a:cs typeface="Public Sans" pitchFamily="34" charset="-120"/>
              </a:rPr>
              <a:t>Look at who gets hurt</a:t>
            </a:r>
            <a:endParaRPr lang="en-US" sz="1700" dirty="0"/>
          </a:p>
        </p:txBody>
      </p:sp>
      <p:sp>
        <p:nvSpPr>
          <p:cNvPr id="8" name="Text 6"/>
          <p:cNvSpPr/>
          <p:nvPr/>
        </p:nvSpPr>
        <p:spPr>
          <a:xfrm>
            <a:off x="6451600" y="2613664"/>
            <a:ext cx="481380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7CF"/>
                </a:solidFill>
                <a:latin typeface="Public Sans" pitchFamily="34" charset="0"/>
                <a:ea typeface="Public Sans" pitchFamily="34" charset="-122"/>
                <a:cs typeface="Public Sans" pitchFamily="34" charset="-120"/>
              </a:rPr>
              <a:t>Compare pedestrian and cyclist incidents across income groups.</a:t>
            </a:r>
            <a:endParaRPr lang="en-US" sz="1400" dirty="0"/>
          </a:p>
        </p:txBody>
      </p:sp>
      <p:sp>
        <p:nvSpPr>
          <p:cNvPr id="9" name="Shape 7"/>
          <p:cNvSpPr/>
          <p:nvPr/>
        </p:nvSpPr>
        <p:spPr>
          <a:xfrm>
            <a:off x="812800" y="3568700"/>
            <a:ext cx="5181600" cy="1341120"/>
          </a:xfrm>
          <a:prstGeom prst="roundRect">
            <a:avLst>
              <a:gd name="adj" fmla="val 7576"/>
            </a:avLst>
          </a:prstGeom>
          <a:solidFill>
            <a:srgbClr val="36363C"/>
          </a:solidFill>
          <a:ln/>
        </p:spPr>
        <p:txBody>
          <a:bodyPr/>
          <a:lstStyle/>
          <a:p>
            <a:endParaRPr lang="en-CA"/>
          </a:p>
        </p:txBody>
      </p:sp>
      <p:sp>
        <p:nvSpPr>
          <p:cNvPr id="10" name="Text 8"/>
          <p:cNvSpPr/>
          <p:nvPr/>
        </p:nvSpPr>
        <p:spPr>
          <a:xfrm>
            <a:off x="1066800" y="3822700"/>
            <a:ext cx="4813808"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9DB0DA"/>
                </a:solidFill>
                <a:latin typeface="Public Sans" pitchFamily="34" charset="0"/>
                <a:ea typeface="Public Sans" pitchFamily="34" charset="-122"/>
                <a:cs typeface="Public Sans" pitchFamily="34" charset="-120"/>
              </a:rPr>
              <a:t>Track the gap over time</a:t>
            </a:r>
            <a:endParaRPr lang="en-US" sz="1700" dirty="0"/>
          </a:p>
        </p:txBody>
      </p:sp>
      <p:sp>
        <p:nvSpPr>
          <p:cNvPr id="11" name="Text 9"/>
          <p:cNvSpPr/>
          <p:nvPr/>
        </p:nvSpPr>
        <p:spPr>
          <a:xfrm>
            <a:off x="1066800" y="4157979"/>
            <a:ext cx="481380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7CF"/>
                </a:solidFill>
                <a:latin typeface="Public Sans" pitchFamily="34" charset="0"/>
                <a:ea typeface="Public Sans" pitchFamily="34" charset="-122"/>
                <a:cs typeface="Public Sans" pitchFamily="34" charset="-120"/>
              </a:rPr>
              <a:t>Test whether the difference between income groups has grown since 2020.</a:t>
            </a:r>
            <a:endParaRPr lang="en-US" sz="1400" dirty="0"/>
          </a:p>
        </p:txBody>
      </p:sp>
      <p:sp>
        <p:nvSpPr>
          <p:cNvPr id="12" name="Shape 10"/>
          <p:cNvSpPr/>
          <p:nvPr/>
        </p:nvSpPr>
        <p:spPr>
          <a:xfrm>
            <a:off x="6197600" y="3568700"/>
            <a:ext cx="5181600" cy="1341120"/>
          </a:xfrm>
          <a:prstGeom prst="roundRect">
            <a:avLst>
              <a:gd name="adj" fmla="val 7576"/>
            </a:avLst>
          </a:prstGeom>
          <a:solidFill>
            <a:srgbClr val="36363C"/>
          </a:solidFill>
          <a:ln/>
        </p:spPr>
        <p:txBody>
          <a:bodyPr/>
          <a:lstStyle/>
          <a:p>
            <a:endParaRPr lang="en-CA"/>
          </a:p>
        </p:txBody>
      </p:sp>
      <p:sp>
        <p:nvSpPr>
          <p:cNvPr id="13" name="Text 11"/>
          <p:cNvSpPr/>
          <p:nvPr/>
        </p:nvSpPr>
        <p:spPr>
          <a:xfrm>
            <a:off x="6451600" y="3822700"/>
            <a:ext cx="4813808"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9DB0DA"/>
                </a:solidFill>
                <a:latin typeface="Public Sans" pitchFamily="34" charset="0"/>
                <a:ea typeface="Public Sans" pitchFamily="34" charset="-122"/>
                <a:cs typeface="Public Sans" pitchFamily="34" charset="-120"/>
              </a:rPr>
              <a:t>Write up the limits</a:t>
            </a:r>
            <a:endParaRPr lang="en-US" sz="1700" dirty="0"/>
          </a:p>
        </p:txBody>
      </p:sp>
      <p:sp>
        <p:nvSpPr>
          <p:cNvPr id="14" name="Text 12"/>
          <p:cNvSpPr/>
          <p:nvPr/>
        </p:nvSpPr>
        <p:spPr>
          <a:xfrm>
            <a:off x="6451600" y="4157979"/>
            <a:ext cx="481380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7CF"/>
                </a:solidFill>
                <a:latin typeface="Public Sans" pitchFamily="34" charset="0"/>
                <a:ea typeface="Public Sans" pitchFamily="34" charset="-122"/>
                <a:cs typeface="Public Sans" pitchFamily="34" charset="-120"/>
              </a:rPr>
              <a:t>These are area-level patterns, not individual risk, and correlation, not cause.</a:t>
            </a:r>
            <a:endParaRPr lang="en-US" sz="1400" dirty="0"/>
          </a:p>
        </p:txBody>
      </p:sp>
      <p:sp>
        <p:nvSpPr>
          <p:cNvPr id="15" name="Text 13"/>
          <p:cNvSpPr/>
          <p:nvPr/>
        </p:nvSpPr>
        <p:spPr>
          <a:xfrm>
            <a:off x="812800" y="5654042"/>
            <a:ext cx="10883392" cy="41656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F6F4F0"/>
                </a:solidFill>
                <a:latin typeface="Libre Baskerville" pitchFamily="18" charset="0"/>
                <a:ea typeface="Libre Baskerville" pitchFamily="18" charset="-122"/>
                <a:cs typeface="Libre Baskerville" pitchFamily="18" charset="-120"/>
              </a:rPr>
              <a:t>Questions?</a:t>
            </a:r>
            <a:endParaRPr lang="en-US" sz="2200" dirty="0"/>
          </a:p>
        </p:txBody>
      </p:sp>
    </p:spTree>
  </p:cSld>
  <p:clrMapOvr>
    <a:masterClrMapping/>
  </p:clrMapOvr>
</p:sld>
</file>

<file path=ppt/theme/theme1.xml><?xml version="1.0" encoding="utf-8"?>
<a:theme xmlns:a="http://schemas.openxmlformats.org/drawingml/2006/main" name="Calgary Traffic Incidents – Midpoint Report">
  <a:themeElements>
    <a:clrScheme name="Calgary Traffic Incidents – Midpoint Report">
      <a:dk1>
        <a:srgbClr val="2B2B30"/>
      </a:dk1>
      <a:lt1>
        <a:srgbClr val="F6F4F0"/>
      </a:lt1>
      <a:dk2>
        <a:srgbClr val="5E5D60"/>
      </a:dk2>
      <a:lt2>
        <a:srgbClr val="E2E0DD"/>
      </a:lt2>
      <a:accent1>
        <a:srgbClr val="4E6596"/>
      </a:accent1>
      <a:accent2>
        <a:srgbClr val="B4467E"/>
      </a:accent2>
      <a:accent3>
        <a:srgbClr val="E39BBE"/>
      </a:accent3>
      <a:accent4>
        <a:srgbClr val="9DB0DA"/>
      </a:accent4>
      <a:accent5>
        <a:srgbClr val="D47BA3"/>
      </a:accent5>
      <a:accent6>
        <a:srgbClr val="9E6B92"/>
      </a:accent6>
      <a:hlink>
        <a:srgbClr val="0563C1"/>
      </a:hlink>
      <a:folHlink>
        <a:srgbClr val="954F72"/>
      </a:folHlink>
    </a:clrScheme>
    <a:fontScheme name="Calgary Traffic Incidents – Midpoint Report">
      <a:majorFont>
        <a:latin typeface="Public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webextension1.xml><?xml version="1.0" encoding="utf-8"?>
<we:webextension xmlns:we="http://schemas.microsoft.com/office/webextensions/webextension/2010/11" id="{2DF16D8E-1260-40E4-9CCB-C52C3B18BBAA}">
  <we:reference id="wa200003233" version="2.0.0.3" store="en-US" storeType="OMEX"/>
  <we:alternateReferences>
    <we:reference id="WA200003233" version="2.0.0.3" store="WA200003233" storeType="OMEX"/>
  </we:alternateReferences>
  <we:properties>
    <we:property name="embedUrl" value="&quot;/reportEmbed?reportId=bede7dcd-4f5b-44c9-94b6-36f36234f2e8&amp;config=eyJjbHVzdGVyVXJsIjoiaHR0cHM6Ly9XQUJJLUNBTkFEQS1DRU5UUkFMLUItUFJJTUFSWS1yZWRpcmVjdC5hbmFseXNpcy53aW5kb3dzLm5ldCIsImVtYmVkRmVhdHVyZXMiOnsidXNhZ2VNZXRyaWNzVk5leHQiOnRydWV9fQ%3D%3D&amp;disableSensitivityBanner=true&amp;storytellingChangeViewModeShortcutKeys=true&quot;"/>
    <we:property name="bookmark" value="&quot;H4sIAAAAAAAAA9VZ227bOBD9FUMvfTEWpO7Km+Om2ABJEcRFi8WiCHgZJWxk0UvRTryB/32HotPc1NhxHSf7kkgzFHnmcGZ0KN8EUjWTis0/szEEe8G+1pdjZi57NOgHtbcleZGIIhUsCQsuaR6VnKBXT6zSdRPs3QSWmXOwX1UzZZWbCI1/f+8HEwMNmBl8hivvw7+Kq0rZebBnzRT6AauqE3buHihZ1aBhAqbRNavUv+CfafzQRT+A60mlDXOrjiyz4Fae4XC8R5T0jwhBMWHVDEYgrLdmuaQkziJCgaSQk4KDwGGNH9CC7xzipm6XH+raMlXjMs5GqIwIsLSM8zATIIRgkbOXqrLLIXx+cD0xSADSMp84/gZyxmoBMmhDQE484pvgGFgzNW0cBw8cIz01Ak6hbF21bQkLDv6ZuosFUnFiNBLVWoejQe+L1pVVk9Z1oa+GBpAeGeyRxXe0NKo+r5Zs3gX2xYOzjFdwcO32k/9AVlwM+Iw2Esz+vA3jozK3fNL+I6SvEAJiRneY5rIQvCxykieUxhFLn2F6mamFKEuaJhCVgsYiwm3K3G4v92GIpJxrowTS0F9O5Ob5eptDYT/4ZPS4nXFZDwpH/kR/WAsloUaO+oGnDwnuB98uwDGAD2GySGWXDHzW9ikth/VDW7N8rpqO6xUk+psW0yP+/gJm0IZQvrJq2lYfTnqkMD6/460ZB4aEpkduJFLcEv04I9cC0sFHN6AXJ2NTKYF7cj8XgzFgb3EXklnWsjXxCynwfi1bN7S50Bn2h32wVwD1h2AZ9uK2USDmH/dawU/6ts2E47sfRDHPKMuymPNEhqHIuGxz+nlOLhj+f1Cebq44jsM8A8YLTHLChcyScmUnelgBr7L1f+Lws8G1ajr2v79LIN8ALiWbPwtjW535lyBuHb2hntZ2k5KYqJm2X1yT3rRFb51P12g6y8evtNX6uZ9OuOypvtrq9HdB+QpNkjQGihpHMMojIniW0fdQVbeOszYr3lFn/YhPSH3lW2s/UM1hjZIMUY2g8plxvHoWp+9235ofc+ozIBVZSKUQqQSeFYzEnOQ7zIBPGLw2T7B680562bMIsI8ZA1WrwTdJQ1FNG6QR5D4zwwtm7JpNLfxN3fmSoH7d3vwuzzdIwlXb6nMvLxMRppmIBE2KNC2lYGylPrBwbbm+fqoQirRIeRQxEuE5JccLRsWTTPYyF68kx5XDKCmgpFkRUQqZsy+Fdaf7t4S1uC+sh3o8ntaqbTxvKq3Fk6PJ0WA0Wktb19Oq2p60vs/ILyA9Lr7Fu3gHvEoPX4MNX0G8DHmZRWEcY6ImeUnzONm8ggShESkzLCSZpSjdcyp2qbH31YwZhdOdHcE51LLjBabHXWrgNXT2GmDuvWZf+yW1Co37ovC/kdwvofYVtPfaaba5/n5JhL6QJSOowfIoIynWHomTlMgdll73d6rB6cHg7PDjjiquG8MdlcOKNV3Vtvos4L4oHLPJ04YHaQIiLjMSMp4zSXmYFCtZf/tD9A4P9Ke4Zg9vevTyHQCZNb0hjusNZudvi+YE2GXPndU3OhQwI5eu3ZwG1s80L2ZApEkakoIxSYhM8zxO38VXgWNd24uzVlC/6e63OKp57644COkqj/WPh56gzhPito9m67HrVf2iWzvrqW0mTMAJq6FDQyPprJYgV+jo9gewnxJ6sfgPnEburpsbAAA=&quot;"/>
    <we:property name="datasetId" value="&quot;1bf5595c-db77-40bf-b19d-c520d07b3748&quot;"/>
    <we:property name="pageName" value="&quot;78d1047301e06e809bec&quot;"/>
    <we:property name="reportUrl" value="&quot;/groups/me/reports/bede7dcd-4f5b-44c9-94b6-36f36234f2e8/78d1047301e06e809bec&quot;"/>
    <we:property name="reportName" value="&quot;Traffic Dashboard&quot;"/>
    <we:property name="reportState" value="&quot;CONNECTED&quot;"/>
    <we:property name="pageDisplayName" value="&quot;Traffic Dashboard&quot;"/>
    <we:property name="backgroundColor" value="&quot;#3A3A3A&quot;"/>
    <we:property name="initialStateBookmark" value="&quot;H4sIAAAAAAAAA9VZW0/jOBT+K1Ve5qVa2bmHt9JhtGiAQRQxWq1GyLFPioc07jpuoYv63/c4LsMt0NIphX2B5Pj2nc/nnHx2bzwh63HJZkdsBN6Ot6vU5Yjpyw71ul61sH379vWwd/L1/Kh3uIdmNTZSVbW3c+MZpodgzmQ9YaWdAY1//+h6Yw016CkcwZVrw78yl6U0M2/H6Al0PVaWx2xoBxSsrNEwBl2ripXyX3Bjatd13vXgelwqzeyqA8MM2JWn2B3fER79I0BQjBs5hQFw46xJKigJk4BQIDGkJMuBY7fadWjAt3axUzfL91VlmKxwGWsjVAQEWFyEqZ9w4JyzwNoLWZpFl3y2dz3WSADSMhtb4npiyioOwmtcQE4c4hvvEFg90Y0few8aBmqiOZxA0TRVpiHM2/tnYh/mSMWxVkhUY+0Pep1TpUojx03Thbrqa0B6hLdD5j/QUstqWC7YvHPs1IEzLC9h79ruZ/4TWbE+4BilBejdWePGZ6lv+aTdR0jfwAXEjM1+nIqM50WWkjSiNAxY/ALTixDNeFHQOIKg4DTkAW5TYnd7sQ99JGWotORIQ3cxkZ3n7DaG/K73RatRM+MiEST2/IV+v+JSQIUcdT1HHxLc9b5fgGUAB2GwCGkWDBwp85SW/eqhrV6MKyejagmJ7qXB9Ii/v4BptCGUM1ZOmuzDSQ8k+ud2vDFjR5/Q+MD2RIoboh9H5EpAWvhoB/TqYKxLyXFP7seiNwKsLfZBMMMatsZuIQmuXYmmGZpYaHX70y6YK4Dqk7dwe35bKBDzz3ul4Bd9m2bC8t31gjBPKEuSMM8j4fs8yUUT0y9zcsHw/4P0tHOFYeinCbA8wyAnORdJVCytRA8z4E22/k/sft67lnXL/ne3CeQ7wKVgsxdhbKoyPwvitqHTV5PKrJMSYzlV5tQW6XVL9Mb5tIWmNX3cShvNn/vhhMueqKuNTn/nlMvQKIpDoIKmnNE8IDxPEvoRsuq24byJig9UWT/jCKGuXGnterLer1CSIaoBlC4yDpfPYvXd9kvzY05dBMQ88angPBaQJxkjYU7SLUbAF3Re6SdYnXkrtexFBFjHtIay0eDrhCEvJzXSCGKX6f4F02bFoub/pu58jVPPlze3y7M1gnDZtrrYS4uI+3HCA06jLI4LwRlbqg8MXJtcXT9VCFmcxXkQMBLgOSXFB0b5k0h2MhefRI4r+0GUQUGTLKAUEmtfCOvW5t8S1vy+sO6r0WhSyabwvKu05k+OJge9wWAlbV1NynJz0vo+I89Aepx88w/xDXiTGr4CGy6D8sLPiyTwwxADNUoLmobR+hnECQ1IkWAiiSRG6Z5Svk2NvSunTEuc7vwAhlCJlg+YGrWpgbfQ2SuAufeZfeuP1DI09kbhfyO5X0PtG2jvlcNsff39Gg9dIgtGUIOlQUJizD0SRjERW0y99nuq3sle73z/85Yyrh3DHZX9ktVt2bb8LGBvFA7Z+GnBgzgCHhYJ8VmeMkFzP8qWsv7+h+gtHuhPcM0OvnTo5QcAMq07fezX6U2H74vmGNhlx57V1zoUMC0WTds5DaweaU7MAI+j2CcZY4IQEadpGH+IW4FDVZmL80ZQv+vuNzjKWecuOQhpS4/Vj4eOoNYT4qaPZqux61T9vF07q4mpx4zDMaugRUMj6awSIJbo6OYHMHeNMrW/k5WvujaZz/8DcM9t98QbAAA=&quot;"/>
    <we:property name="isFooterCollapsed" value="true"/>
    <we:property name="isFiltersActionButtonVisible" value="false"/>
    <we:property name="isVisualContainerHeaderHidden" value="false"/>
    <we:property name="reportEmbeddedTime" value="&quot;2026-10-19T03:53:13.523Z&quot;"/>
    <we:property name="creatorTenantId" value="&quot;c609a0ec-a5e3-4631-9686-192280bd9151&quot;"/>
    <we:property name="creatorUserId" value="&quot;10032001F9A50F1B&quot;"/>
    <we:property name="creatorSessionId" value="&quot;2aedb429-c63f-49e4-ac86-eab97b1fa2c8&quot;"/>
    <we:property name="artifactViewState" value="&quot;liv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7</TotalTime>
  <Words>1565</Words>
  <Application>Microsoft Office PowerPoint</Application>
  <PresentationFormat>Widescreen</PresentationFormat>
  <Paragraphs>114</Paragraphs>
  <Slides>10</Slides>
  <Notes>10</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Libre Baskerville</vt:lpstr>
      <vt:lpstr>Public Sans</vt:lpstr>
      <vt:lpstr>Calgary Traffic Incidents – Midpoint Report</vt:lpstr>
      <vt:lpstr>Traffic Incidents Across Calgary’s Neighbourhoods</vt:lpstr>
      <vt:lpstr>Project overview</vt:lpstr>
      <vt:lpstr>Analysis questions</vt:lpstr>
      <vt:lpstr>Datasets obtained</vt:lpstr>
      <vt:lpstr>Data wrangling and cleaning</vt:lpstr>
      <vt:lpstr>The dashboard so far</vt:lpstr>
      <vt:lpstr>The dashboard so far</vt:lpstr>
      <vt:lpstr>Findings: where and who</vt:lpstr>
      <vt:lpstr>Findings: when</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Calgary Traffic Incidents – Midpoint Report</dc:title>
  <dc:subject/>
  <dc:creator>Adrian Julve</dc:creator>
  <cp:lastModifiedBy>Adrian JULVE</cp:lastModifiedBy>
  <cp:revision>2</cp:revision>
  <dcterms:created xsi:type="dcterms:W3CDTF">2026-10-19T03:46:52Z</dcterms:created>
  <dcterms:modified xsi:type="dcterms:W3CDTF">2026-10-19T03:54:21Z</dcterms:modified>
</cp:coreProperties>
</file>